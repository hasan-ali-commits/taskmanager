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7" r:id="rId16"/>
    <p:sldId id="278" r:id="rId17"/>
    <p:sldId id="271" r:id="rId18"/>
    <p:sldId id="272" r:id="rId19"/>
    <p:sldId id="273" r:id="rId20"/>
    <p:sldId id="274" r:id="rId21"/>
    <p:sldId id="275" r:id="rId22"/>
    <p:sldId id="276" r:id="rId2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9" d="100"/>
          <a:sy n="69" d="100"/>
        </p:scale>
        <p:origin x="75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6/27/2026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6/27/2026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6/27/2026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7.xml"/><Relationship Id="rId1" Type="http://schemas.openxmlformats.org/officeDocument/2006/relationships/themeOverride" Target="../theme/themeOverride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457200" cy="68580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457200" y="0"/>
            <a:ext cx="73152" cy="68580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777240" y="1005840"/>
            <a:ext cx="6718069" cy="923330"/>
          </a:xfrm>
          <a:prstGeom prst="rect">
            <a:avLst/>
          </a:prstGeom>
          <a:noFill/>
        </p:spPr>
        <p:txBody>
          <a:bodyPr wrap="square">
            <a:spAutoFit/>
          </a:bodyPr>
          <a:lstStyle/>
          <a:p>
            <a:pPr algn="l"/>
            <a:r>
              <a:rPr sz="5400" b="1" i="0" dirty="0">
                <a:solidFill>
                  <a:srgbClr val="FFFFFF"/>
                </a:solidFill>
              </a:rPr>
              <a:t>Yoga-Do</a:t>
            </a:r>
          </a:p>
        </p:txBody>
      </p:sp>
      <p:sp>
        <p:nvSpPr>
          <p:cNvPr id="8" name="TextBox 7"/>
          <p:cNvSpPr txBox="1"/>
          <p:nvPr/>
        </p:nvSpPr>
        <p:spPr>
          <a:xfrm>
            <a:off x="777240" y="1956815"/>
            <a:ext cx="7315200" cy="461665"/>
          </a:xfrm>
          <a:prstGeom prst="rect">
            <a:avLst/>
          </a:prstGeom>
          <a:noFill/>
        </p:spPr>
        <p:txBody>
          <a:bodyPr wrap="square">
            <a:spAutoFit/>
          </a:bodyPr>
          <a:lstStyle/>
          <a:p>
            <a:pPr algn="l"/>
            <a:r>
              <a:rPr sz="2400" b="0" i="0" dirty="0">
                <a:solidFill>
                  <a:srgbClr val="60A5FA"/>
                </a:solidFill>
              </a:rPr>
              <a:t>A Full-Stack Task Management Web Application</a:t>
            </a:r>
          </a:p>
        </p:txBody>
      </p:sp>
      <p:sp>
        <p:nvSpPr>
          <p:cNvPr id="9" name="TextBox 8"/>
          <p:cNvSpPr txBox="1"/>
          <p:nvPr/>
        </p:nvSpPr>
        <p:spPr>
          <a:xfrm>
            <a:off x="3241964" y="2390378"/>
            <a:ext cx="4253346" cy="400110"/>
          </a:xfrm>
          <a:prstGeom prst="rect">
            <a:avLst/>
          </a:prstGeom>
          <a:noFill/>
        </p:spPr>
        <p:txBody>
          <a:bodyPr wrap="square">
            <a:spAutoFit/>
          </a:bodyPr>
          <a:lstStyle/>
          <a:p>
            <a:pPr algn="l"/>
            <a:r>
              <a:rPr sz="2000" b="0" i="0" dirty="0">
                <a:solidFill>
                  <a:srgbClr val="6366F1"/>
                </a:solidFill>
              </a:rPr>
              <a:t>with Integrated DevOps Practices</a:t>
            </a:r>
          </a:p>
        </p:txBody>
      </p:sp>
      <p:sp>
        <p:nvSpPr>
          <p:cNvPr id="10" name="Rectangle 9"/>
          <p:cNvSpPr/>
          <p:nvPr/>
        </p:nvSpPr>
        <p:spPr>
          <a:xfrm>
            <a:off x="1463040" y="3367547"/>
            <a:ext cx="96012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a:xfrm>
            <a:off x="777240" y="3675887"/>
            <a:ext cx="1691640" cy="384048"/>
          </a:xfrm>
          <a:prstGeom prst="rect">
            <a:avLst/>
          </a:prstGeom>
          <a:solidFill>
            <a:srgbClr val="1E293B"/>
          </a:solidFill>
          <a:ln w="9525">
            <a:solidFill>
              <a:srgbClr val="60A5F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60A5FA"/>
                </a:solidFill>
              </a:rPr>
              <a:t>React</a:t>
            </a:r>
          </a:p>
        </p:txBody>
      </p:sp>
      <p:sp>
        <p:nvSpPr>
          <p:cNvPr id="12" name="Rectangle 11"/>
          <p:cNvSpPr/>
          <p:nvPr/>
        </p:nvSpPr>
        <p:spPr>
          <a:xfrm>
            <a:off x="2606040" y="3675887"/>
            <a:ext cx="1691640" cy="384048"/>
          </a:xfrm>
          <a:prstGeom prst="rect">
            <a:avLst/>
          </a:prstGeom>
          <a:solidFill>
            <a:srgbClr val="1E293B"/>
          </a:solidFill>
          <a:ln w="9525">
            <a:solidFill>
              <a:srgbClr val="60A5F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60A5FA"/>
                </a:solidFill>
              </a:rPr>
              <a:t>TypeScript</a:t>
            </a:r>
          </a:p>
        </p:txBody>
      </p:sp>
      <p:sp>
        <p:nvSpPr>
          <p:cNvPr id="13" name="Rectangle 12"/>
          <p:cNvSpPr/>
          <p:nvPr/>
        </p:nvSpPr>
        <p:spPr>
          <a:xfrm>
            <a:off x="4434840" y="3675887"/>
            <a:ext cx="1691640" cy="384048"/>
          </a:xfrm>
          <a:prstGeom prst="rect">
            <a:avLst/>
          </a:prstGeom>
          <a:solidFill>
            <a:srgbClr val="1E293B"/>
          </a:solidFill>
          <a:ln w="9525">
            <a:solidFill>
              <a:srgbClr val="4ADE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4ADE80"/>
                </a:solidFill>
              </a:rPr>
              <a:t>Django</a:t>
            </a:r>
          </a:p>
        </p:txBody>
      </p:sp>
      <p:sp>
        <p:nvSpPr>
          <p:cNvPr id="14" name="Rectangle 13"/>
          <p:cNvSpPr/>
          <p:nvPr/>
        </p:nvSpPr>
        <p:spPr>
          <a:xfrm>
            <a:off x="6263640" y="3675887"/>
            <a:ext cx="1691640" cy="384048"/>
          </a:xfrm>
          <a:prstGeom prst="rect">
            <a:avLst/>
          </a:prstGeom>
          <a:solidFill>
            <a:srgbClr val="1E293B"/>
          </a:solidFill>
          <a:ln w="9525">
            <a:solidFill>
              <a:srgbClr val="FB923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FB923B"/>
                </a:solidFill>
              </a:rPr>
              <a:t>SQLite</a:t>
            </a:r>
          </a:p>
        </p:txBody>
      </p:sp>
      <p:sp>
        <p:nvSpPr>
          <p:cNvPr id="15" name="Rectangle 14"/>
          <p:cNvSpPr/>
          <p:nvPr/>
        </p:nvSpPr>
        <p:spPr>
          <a:xfrm>
            <a:off x="8092440" y="3675887"/>
            <a:ext cx="1691640" cy="384048"/>
          </a:xfrm>
          <a:prstGeom prst="rect">
            <a:avLst/>
          </a:prstGeom>
          <a:solidFill>
            <a:srgbClr val="1E293B"/>
          </a:solidFill>
          <a:ln w="9525">
            <a:solidFill>
              <a:srgbClr val="60A5F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60A5FA"/>
                </a:solidFill>
              </a:rPr>
              <a:t>Docker</a:t>
            </a:r>
          </a:p>
        </p:txBody>
      </p:sp>
      <p:sp>
        <p:nvSpPr>
          <p:cNvPr id="16" name="Rectangle 15"/>
          <p:cNvSpPr/>
          <p:nvPr/>
        </p:nvSpPr>
        <p:spPr>
          <a:xfrm>
            <a:off x="9921240" y="3675887"/>
            <a:ext cx="1691640" cy="384048"/>
          </a:xfrm>
          <a:prstGeom prst="rect">
            <a:avLst/>
          </a:prstGeom>
          <a:solidFill>
            <a:srgbClr val="1E293B"/>
          </a:solidFill>
          <a:ln w="9525">
            <a:solidFill>
              <a:srgbClr val="8B5CF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8B5CF6"/>
                </a:solidFill>
              </a:rPr>
              <a:t>GitHub Actions</a:t>
            </a:r>
          </a:p>
        </p:txBody>
      </p:sp>
      <p:sp>
        <p:nvSpPr>
          <p:cNvPr id="17" name="TextBox 16"/>
          <p:cNvSpPr txBox="1"/>
          <p:nvPr/>
        </p:nvSpPr>
        <p:spPr>
          <a:xfrm>
            <a:off x="777240" y="4322555"/>
            <a:ext cx="10058400" cy="369332"/>
          </a:xfrm>
          <a:prstGeom prst="rect">
            <a:avLst/>
          </a:prstGeom>
          <a:noFill/>
        </p:spPr>
        <p:txBody>
          <a:bodyPr wrap="square">
            <a:spAutoFit/>
          </a:bodyPr>
          <a:lstStyle/>
          <a:p>
            <a:pPr algn="l"/>
            <a:r>
              <a:rPr lang="en-US" b="1" dirty="0" smtClean="0">
                <a:solidFill>
                  <a:srgbClr val="FFFFFF"/>
                </a:solidFill>
              </a:rPr>
              <a:t>Mohammed Aqueel (1604-23-733-135) &amp; Hasan Ali (1604-23-733-174)</a:t>
            </a:r>
            <a:endParaRPr b="1" i="0" dirty="0">
              <a:solidFill>
                <a:srgbClr val="FFFFFF"/>
              </a:solidFill>
            </a:endParaRPr>
          </a:p>
        </p:txBody>
      </p:sp>
      <p:sp>
        <p:nvSpPr>
          <p:cNvPr id="18" name="TextBox 17"/>
          <p:cNvSpPr txBox="1"/>
          <p:nvPr/>
        </p:nvSpPr>
        <p:spPr>
          <a:xfrm>
            <a:off x="777240" y="4865623"/>
            <a:ext cx="10058400" cy="369332"/>
          </a:xfrm>
          <a:prstGeom prst="rect">
            <a:avLst/>
          </a:prstGeom>
          <a:noFill/>
        </p:spPr>
        <p:txBody>
          <a:bodyPr wrap="square">
            <a:spAutoFit/>
          </a:bodyPr>
          <a:lstStyle/>
          <a:p>
            <a:pPr algn="l"/>
            <a:r>
              <a:rPr b="0" i="0" dirty="0">
                <a:solidFill>
                  <a:srgbClr val="94A3B8"/>
                </a:solidFill>
              </a:rPr>
              <a:t>Guide: </a:t>
            </a:r>
            <a:r>
              <a:rPr b="0" i="0" dirty="0" smtClean="0">
                <a:solidFill>
                  <a:srgbClr val="94A3B8"/>
                </a:solidFill>
              </a:rPr>
              <a:t>Prof.</a:t>
            </a:r>
            <a:r>
              <a:rPr lang="en-US" b="0" i="0" dirty="0" smtClean="0">
                <a:solidFill>
                  <a:srgbClr val="94A3B8"/>
                </a:solidFill>
              </a:rPr>
              <a:t> Himayatullah Shareef</a:t>
            </a:r>
            <a:endParaRPr b="0" i="0" dirty="0">
              <a:solidFill>
                <a:srgbClr val="94A3B8"/>
              </a:solidFill>
            </a:endParaRPr>
          </a:p>
        </p:txBody>
      </p:sp>
      <p:sp>
        <p:nvSpPr>
          <p:cNvPr id="19" name="TextBox 18"/>
          <p:cNvSpPr txBox="1"/>
          <p:nvPr/>
        </p:nvSpPr>
        <p:spPr>
          <a:xfrm>
            <a:off x="777240" y="5365425"/>
            <a:ext cx="10058400" cy="369332"/>
          </a:xfrm>
          <a:prstGeom prst="rect">
            <a:avLst/>
          </a:prstGeom>
          <a:noFill/>
        </p:spPr>
        <p:txBody>
          <a:bodyPr wrap="square">
            <a:spAutoFit/>
          </a:bodyPr>
          <a:lstStyle/>
          <a:p>
            <a:pPr algn="l"/>
            <a:r>
              <a:rPr b="0" i="0" dirty="0">
                <a:solidFill>
                  <a:srgbClr val="94A3B8"/>
                </a:solidFill>
              </a:rPr>
              <a:t>B.E. Computer Science &amp; Engineering  ·  Academic Year </a:t>
            </a:r>
            <a:r>
              <a:rPr b="0" i="0" dirty="0" smtClean="0">
                <a:solidFill>
                  <a:srgbClr val="94A3B8"/>
                </a:solidFill>
              </a:rPr>
              <a:t>202</a:t>
            </a:r>
            <a:r>
              <a:rPr lang="en-US" b="0" i="0" dirty="0" smtClean="0">
                <a:solidFill>
                  <a:srgbClr val="94A3B8"/>
                </a:solidFill>
              </a:rPr>
              <a:t>5</a:t>
            </a:r>
            <a:r>
              <a:rPr b="0" i="0" dirty="0" smtClean="0">
                <a:solidFill>
                  <a:srgbClr val="94A3B8"/>
                </a:solidFill>
              </a:rPr>
              <a:t>–2</a:t>
            </a:r>
            <a:r>
              <a:rPr lang="en-US" b="0" i="0" dirty="0" smtClean="0">
                <a:solidFill>
                  <a:srgbClr val="94A3B8"/>
                </a:solidFill>
              </a:rPr>
              <a:t>6</a:t>
            </a:r>
            <a:endParaRPr b="0" i="0" dirty="0">
              <a:solidFill>
                <a:srgbClr val="94A3B8"/>
              </a:solidFill>
            </a:endParaRPr>
          </a:p>
        </p:txBody>
      </p:sp>
      <p:sp>
        <p:nvSpPr>
          <p:cNvPr id="20" name="Rectangle 19"/>
          <p:cNvSpPr/>
          <p:nvPr/>
        </p:nvSpPr>
        <p:spPr>
          <a:xfrm>
            <a:off x="8686800" y="2634812"/>
            <a:ext cx="2926080" cy="457200"/>
          </a:xfrm>
          <a:prstGeom prst="rect">
            <a:avLst/>
          </a:prstGeom>
          <a:solidFill>
            <a:srgbClr val="1E1B4B"/>
          </a:solidFill>
          <a:ln w="9525">
            <a:solidFill>
              <a:srgbClr val="8B5CF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8B5CF6"/>
                </a:solidFill>
              </a:rPr>
              <a:t>Full Stack + DevOps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91440" cy="1051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82880" y="987552"/>
            <a:ext cx="1197864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379476" y="132588"/>
            <a:ext cx="11430000" cy="646331"/>
          </a:xfrm>
          <a:prstGeom prst="rect">
            <a:avLst/>
          </a:prstGeom>
          <a:noFill/>
        </p:spPr>
        <p:txBody>
          <a:bodyPr wrap="square">
            <a:spAutoFit/>
          </a:bodyPr>
          <a:lstStyle/>
          <a:p>
            <a:pPr algn="ctr"/>
            <a:r>
              <a:rPr sz="3600" b="1" i="0" dirty="0">
                <a:solidFill>
                  <a:srgbClr val="FFFFFF"/>
                </a:solidFill>
              </a:rPr>
              <a:t>Introduction</a:t>
            </a:r>
          </a:p>
        </p:txBody>
      </p:sp>
      <p:sp>
        <p:nvSpPr>
          <p:cNvPr id="6" name="TextBox 5"/>
          <p:cNvSpPr txBox="1"/>
          <p:nvPr/>
        </p:nvSpPr>
        <p:spPr>
          <a:xfrm>
            <a:off x="1346386" y="1354711"/>
            <a:ext cx="4472524" cy="400110"/>
          </a:xfrm>
          <a:prstGeom prst="rect">
            <a:avLst/>
          </a:prstGeom>
          <a:noFill/>
        </p:spPr>
        <p:txBody>
          <a:bodyPr wrap="square">
            <a:spAutoFit/>
          </a:bodyPr>
          <a:lstStyle/>
          <a:p>
            <a:pPr algn="l"/>
            <a:r>
              <a:rPr sz="2000" b="0" i="0" dirty="0">
                <a:solidFill>
                  <a:srgbClr val="94A3B8"/>
                </a:solidFill>
              </a:rPr>
              <a:t>What is Yoga-Do and why does it matter?</a:t>
            </a:r>
          </a:p>
        </p:txBody>
      </p:sp>
      <p:sp>
        <p:nvSpPr>
          <p:cNvPr id="7" name="Rectangle 6"/>
          <p:cNvSpPr/>
          <p:nvPr/>
        </p:nvSpPr>
        <p:spPr>
          <a:xfrm>
            <a:off x="146304" y="2036824"/>
            <a:ext cx="7488936" cy="4754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146304" y="2130830"/>
            <a:ext cx="7589520" cy="307777"/>
          </a:xfrm>
          <a:prstGeom prst="rect">
            <a:avLst/>
          </a:prstGeom>
          <a:noFill/>
        </p:spPr>
        <p:txBody>
          <a:bodyPr wrap="square">
            <a:spAutoFit/>
          </a:bodyPr>
          <a:lstStyle/>
          <a:p>
            <a:pPr algn="l"/>
            <a:r>
              <a:rPr sz="1400" b="0" i="0" dirty="0">
                <a:solidFill>
                  <a:srgbClr val="FFFFFF"/>
                </a:solidFill>
              </a:rPr>
              <a:t>•  A cloud-deployed, calendar-first task management web application for students and professionals.</a:t>
            </a:r>
          </a:p>
        </p:txBody>
      </p:sp>
      <p:sp>
        <p:nvSpPr>
          <p:cNvPr id="9" name="Rectangle 8"/>
          <p:cNvSpPr/>
          <p:nvPr/>
        </p:nvSpPr>
        <p:spPr>
          <a:xfrm>
            <a:off x="146304" y="2585464"/>
            <a:ext cx="7488936" cy="4754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164592" y="2589722"/>
            <a:ext cx="7342632" cy="523220"/>
          </a:xfrm>
          <a:prstGeom prst="rect">
            <a:avLst/>
          </a:prstGeom>
          <a:noFill/>
        </p:spPr>
        <p:txBody>
          <a:bodyPr wrap="square">
            <a:spAutoFit/>
          </a:bodyPr>
          <a:lstStyle/>
          <a:p>
            <a:pPr algn="l"/>
            <a:r>
              <a:rPr sz="1400" b="0" i="0" dirty="0">
                <a:solidFill>
                  <a:srgbClr val="FFFFFF"/>
                </a:solidFill>
              </a:rPr>
              <a:t>•  Provides Month, Week, and Day calendar views with color-coded task priorities (Critical / Important / Routine).</a:t>
            </a:r>
          </a:p>
        </p:txBody>
      </p:sp>
      <p:sp>
        <p:nvSpPr>
          <p:cNvPr id="11" name="Rectangle 10"/>
          <p:cNvSpPr/>
          <p:nvPr/>
        </p:nvSpPr>
        <p:spPr>
          <a:xfrm>
            <a:off x="146304" y="3134104"/>
            <a:ext cx="7488936" cy="4754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p:cNvSpPr txBox="1"/>
          <p:nvPr/>
        </p:nvSpPr>
        <p:spPr>
          <a:xfrm>
            <a:off x="164592" y="3247679"/>
            <a:ext cx="7196328" cy="307777"/>
          </a:xfrm>
          <a:prstGeom prst="rect">
            <a:avLst/>
          </a:prstGeom>
          <a:noFill/>
        </p:spPr>
        <p:txBody>
          <a:bodyPr wrap="square">
            <a:spAutoFit/>
          </a:bodyPr>
          <a:lstStyle/>
          <a:p>
            <a:pPr algn="l"/>
            <a:r>
              <a:rPr sz="1400" b="0" i="0" dirty="0">
                <a:solidFill>
                  <a:srgbClr val="FFFFFF"/>
                </a:solidFill>
              </a:rPr>
              <a:t>•  RRULE-based Recurring Task </a:t>
            </a:r>
            <a:r>
              <a:rPr sz="1400" b="0" i="0" dirty="0" smtClean="0">
                <a:solidFill>
                  <a:srgbClr val="FFFFFF"/>
                </a:solidFill>
              </a:rPr>
              <a:t>Engine</a:t>
            </a:r>
            <a:r>
              <a:rPr lang="en-US" sz="1400" b="0" i="0" dirty="0" smtClean="0">
                <a:solidFill>
                  <a:srgbClr val="FFFFFF"/>
                </a:solidFill>
              </a:rPr>
              <a:t>, </a:t>
            </a:r>
            <a:r>
              <a:rPr sz="1400" b="0" i="0" dirty="0" smtClean="0">
                <a:solidFill>
                  <a:srgbClr val="FFFFFF"/>
                </a:solidFill>
              </a:rPr>
              <a:t>create </a:t>
            </a:r>
            <a:r>
              <a:rPr lang="en-US" sz="1400" b="0" i="0" dirty="0" smtClean="0">
                <a:solidFill>
                  <a:srgbClr val="FFFFFF"/>
                </a:solidFill>
              </a:rPr>
              <a:t>and </a:t>
            </a:r>
            <a:r>
              <a:rPr sz="1400" b="0" i="0" dirty="0" smtClean="0">
                <a:solidFill>
                  <a:srgbClr val="FFFFFF"/>
                </a:solidFill>
              </a:rPr>
              <a:t>edit </a:t>
            </a:r>
            <a:r>
              <a:rPr sz="1400" b="0" i="0" dirty="0">
                <a:solidFill>
                  <a:srgbClr val="FFFFFF"/>
                </a:solidFill>
              </a:rPr>
              <a:t>a single occurrence or the full series.</a:t>
            </a:r>
          </a:p>
        </p:txBody>
      </p:sp>
      <p:sp>
        <p:nvSpPr>
          <p:cNvPr id="13" name="Rectangle 12"/>
          <p:cNvSpPr/>
          <p:nvPr/>
        </p:nvSpPr>
        <p:spPr>
          <a:xfrm>
            <a:off x="146304" y="3682743"/>
            <a:ext cx="7488936" cy="4754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 name="TextBox 13"/>
          <p:cNvSpPr txBox="1"/>
          <p:nvPr/>
        </p:nvSpPr>
        <p:spPr>
          <a:xfrm>
            <a:off x="182880" y="3766598"/>
            <a:ext cx="6876288" cy="307777"/>
          </a:xfrm>
          <a:prstGeom prst="rect">
            <a:avLst/>
          </a:prstGeom>
          <a:noFill/>
        </p:spPr>
        <p:txBody>
          <a:bodyPr wrap="square">
            <a:spAutoFit/>
          </a:bodyPr>
          <a:lstStyle/>
          <a:p>
            <a:pPr algn="l"/>
            <a:r>
              <a:rPr sz="1400" b="0" i="0" dirty="0">
                <a:solidFill>
                  <a:srgbClr val="FFFFFF"/>
                </a:solidFill>
              </a:rPr>
              <a:t>•  Real-time Analytics Dashboard: </a:t>
            </a:r>
            <a:r>
              <a:rPr sz="1400" b="0" i="0" dirty="0" smtClean="0">
                <a:solidFill>
                  <a:srgbClr val="FFFFFF"/>
                </a:solidFill>
              </a:rPr>
              <a:t>productivity </a:t>
            </a:r>
            <a:r>
              <a:rPr sz="1400" b="0" i="0" dirty="0">
                <a:solidFill>
                  <a:srgbClr val="FFFFFF"/>
                </a:solidFill>
              </a:rPr>
              <a:t>streaks, and per-priority task breakdown.</a:t>
            </a:r>
          </a:p>
        </p:txBody>
      </p:sp>
      <p:sp>
        <p:nvSpPr>
          <p:cNvPr id="15" name="Rectangle 14"/>
          <p:cNvSpPr/>
          <p:nvPr/>
        </p:nvSpPr>
        <p:spPr>
          <a:xfrm>
            <a:off x="146304" y="4231384"/>
            <a:ext cx="7287768" cy="4754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6" name="TextBox 15"/>
          <p:cNvSpPr txBox="1"/>
          <p:nvPr/>
        </p:nvSpPr>
        <p:spPr>
          <a:xfrm>
            <a:off x="182880" y="4315239"/>
            <a:ext cx="6876288" cy="307777"/>
          </a:xfrm>
          <a:prstGeom prst="rect">
            <a:avLst/>
          </a:prstGeom>
          <a:noFill/>
        </p:spPr>
        <p:txBody>
          <a:bodyPr wrap="square">
            <a:spAutoFit/>
          </a:bodyPr>
          <a:lstStyle/>
          <a:p>
            <a:pPr algn="l"/>
            <a:r>
              <a:rPr sz="1400" b="0" i="0" dirty="0">
                <a:solidFill>
                  <a:srgbClr val="FFFFFF"/>
                </a:solidFill>
              </a:rPr>
              <a:t>•  Integrated Pomodoro Focus Timer, Personal Notes, </a:t>
            </a:r>
            <a:r>
              <a:rPr sz="1400" b="0" i="0" dirty="0" smtClean="0">
                <a:solidFill>
                  <a:srgbClr val="FFFFFF"/>
                </a:solidFill>
              </a:rPr>
              <a:t>all </a:t>
            </a:r>
            <a:r>
              <a:rPr sz="1400" b="0" i="0" dirty="0">
                <a:solidFill>
                  <a:srgbClr val="FFFFFF"/>
                </a:solidFill>
              </a:rPr>
              <a:t>in one app.</a:t>
            </a:r>
          </a:p>
        </p:txBody>
      </p:sp>
      <p:sp>
        <p:nvSpPr>
          <p:cNvPr id="17" name="Rectangle 16"/>
          <p:cNvSpPr/>
          <p:nvPr/>
        </p:nvSpPr>
        <p:spPr>
          <a:xfrm>
            <a:off x="146304" y="4780024"/>
            <a:ext cx="7132320" cy="4754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 name="TextBox 17"/>
          <p:cNvSpPr txBox="1"/>
          <p:nvPr/>
        </p:nvSpPr>
        <p:spPr>
          <a:xfrm>
            <a:off x="182880" y="4834887"/>
            <a:ext cx="7141464" cy="307777"/>
          </a:xfrm>
          <a:prstGeom prst="rect">
            <a:avLst/>
          </a:prstGeom>
          <a:noFill/>
        </p:spPr>
        <p:txBody>
          <a:bodyPr wrap="square">
            <a:spAutoFit/>
          </a:bodyPr>
          <a:lstStyle/>
          <a:p>
            <a:pPr algn="l"/>
            <a:r>
              <a:rPr sz="1400" b="0" i="0" dirty="0">
                <a:solidFill>
                  <a:srgbClr val="FFFFFF"/>
                </a:solidFill>
              </a:rPr>
              <a:t>•  Secured with Django Session Authentication + CSRF Token on every protected API endpoint.</a:t>
            </a:r>
          </a:p>
        </p:txBody>
      </p:sp>
      <p:sp>
        <p:nvSpPr>
          <p:cNvPr id="19" name="Rectangle 18"/>
          <p:cNvSpPr/>
          <p:nvPr/>
        </p:nvSpPr>
        <p:spPr>
          <a:xfrm>
            <a:off x="164592" y="5251632"/>
            <a:ext cx="7132320" cy="4754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0" name="TextBox 19"/>
          <p:cNvSpPr txBox="1"/>
          <p:nvPr/>
        </p:nvSpPr>
        <p:spPr>
          <a:xfrm>
            <a:off x="182880" y="5340096"/>
            <a:ext cx="6876288" cy="307777"/>
          </a:xfrm>
          <a:prstGeom prst="rect">
            <a:avLst/>
          </a:prstGeom>
          <a:noFill/>
        </p:spPr>
        <p:txBody>
          <a:bodyPr wrap="square">
            <a:spAutoFit/>
          </a:bodyPr>
          <a:lstStyle/>
          <a:p>
            <a:pPr algn="l"/>
            <a:r>
              <a:rPr sz="1400" b="0" i="0" dirty="0">
                <a:solidFill>
                  <a:srgbClr val="FFFFFF"/>
                </a:solidFill>
              </a:rPr>
              <a:t>•  Full DevOps pipeline: Git → GitHub → GitHub Actions CI → Docker → Render + Vercel.</a:t>
            </a:r>
          </a:p>
        </p:txBody>
      </p:sp>
      <p:sp>
        <p:nvSpPr>
          <p:cNvPr id="21" name="Rectangle 20"/>
          <p:cNvSpPr/>
          <p:nvPr/>
        </p:nvSpPr>
        <p:spPr>
          <a:xfrm>
            <a:off x="7772400" y="1188720"/>
            <a:ext cx="4114800" cy="987552"/>
          </a:xfrm>
          <a:prstGeom prst="rect">
            <a:avLst/>
          </a:prstGeom>
          <a:solidFill>
            <a:srgbClr val="1E293B"/>
          </a:solidFill>
          <a:ln w="952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2" name="TextBox 21"/>
          <p:cNvSpPr txBox="1"/>
          <p:nvPr/>
        </p:nvSpPr>
        <p:spPr>
          <a:xfrm>
            <a:off x="7909560" y="1243584"/>
            <a:ext cx="3840480" cy="475488"/>
          </a:xfrm>
          <a:prstGeom prst="rect">
            <a:avLst/>
          </a:prstGeom>
          <a:noFill/>
        </p:spPr>
        <p:txBody>
          <a:bodyPr wrap="square">
            <a:spAutoFit/>
          </a:bodyPr>
          <a:lstStyle/>
          <a:p>
            <a:pPr algn="l"/>
            <a:r>
              <a:rPr sz="2400" b="1" i="0" dirty="0">
                <a:solidFill>
                  <a:srgbClr val="8B5CF6"/>
                </a:solidFill>
              </a:rPr>
              <a:t>21+</a:t>
            </a:r>
          </a:p>
        </p:txBody>
      </p:sp>
      <p:sp>
        <p:nvSpPr>
          <p:cNvPr id="23" name="TextBox 22"/>
          <p:cNvSpPr txBox="1"/>
          <p:nvPr/>
        </p:nvSpPr>
        <p:spPr>
          <a:xfrm>
            <a:off x="7909560" y="1755648"/>
            <a:ext cx="3840480" cy="347472"/>
          </a:xfrm>
          <a:prstGeom prst="rect">
            <a:avLst/>
          </a:prstGeom>
          <a:noFill/>
        </p:spPr>
        <p:txBody>
          <a:bodyPr wrap="square">
            <a:spAutoFit/>
          </a:bodyPr>
          <a:lstStyle/>
          <a:p>
            <a:pPr algn="l"/>
            <a:r>
              <a:rPr sz="1050" b="0" i="0" dirty="0">
                <a:solidFill>
                  <a:srgbClr val="94A3B8"/>
                </a:solidFill>
              </a:rPr>
              <a:t>Features Implemented</a:t>
            </a:r>
          </a:p>
        </p:txBody>
      </p:sp>
      <p:sp>
        <p:nvSpPr>
          <p:cNvPr id="24" name="Rectangle 23"/>
          <p:cNvSpPr/>
          <p:nvPr/>
        </p:nvSpPr>
        <p:spPr>
          <a:xfrm>
            <a:off x="7772400" y="2267712"/>
            <a:ext cx="4114800" cy="987552"/>
          </a:xfrm>
          <a:prstGeom prst="rect">
            <a:avLst/>
          </a:prstGeom>
          <a:solidFill>
            <a:srgbClr val="1E293B"/>
          </a:solidFill>
          <a:ln w="9525">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5" name="TextBox 24"/>
          <p:cNvSpPr txBox="1"/>
          <p:nvPr/>
        </p:nvSpPr>
        <p:spPr>
          <a:xfrm>
            <a:off x="7909560" y="2322576"/>
            <a:ext cx="3840480" cy="475488"/>
          </a:xfrm>
          <a:prstGeom prst="rect">
            <a:avLst/>
          </a:prstGeom>
          <a:noFill/>
        </p:spPr>
        <p:txBody>
          <a:bodyPr wrap="square">
            <a:spAutoFit/>
          </a:bodyPr>
          <a:lstStyle/>
          <a:p>
            <a:pPr algn="l"/>
            <a:r>
              <a:rPr sz="2400" b="1" i="0" dirty="0">
                <a:solidFill>
                  <a:srgbClr val="60A5FA"/>
                </a:solidFill>
              </a:rPr>
              <a:t>3</a:t>
            </a:r>
          </a:p>
        </p:txBody>
      </p:sp>
      <p:sp>
        <p:nvSpPr>
          <p:cNvPr id="26" name="TextBox 25"/>
          <p:cNvSpPr txBox="1"/>
          <p:nvPr/>
        </p:nvSpPr>
        <p:spPr>
          <a:xfrm>
            <a:off x="7909560" y="2834640"/>
            <a:ext cx="3840480" cy="347472"/>
          </a:xfrm>
          <a:prstGeom prst="rect">
            <a:avLst/>
          </a:prstGeom>
          <a:noFill/>
        </p:spPr>
        <p:txBody>
          <a:bodyPr wrap="square">
            <a:spAutoFit/>
          </a:bodyPr>
          <a:lstStyle/>
          <a:p>
            <a:pPr algn="l"/>
            <a:r>
              <a:rPr sz="1050" b="0" i="0" dirty="0">
                <a:solidFill>
                  <a:srgbClr val="94A3B8"/>
                </a:solidFill>
              </a:rPr>
              <a:t>Calendar Views (Month/Week/Day)</a:t>
            </a:r>
          </a:p>
        </p:txBody>
      </p:sp>
      <p:sp>
        <p:nvSpPr>
          <p:cNvPr id="27" name="Rectangle 26"/>
          <p:cNvSpPr/>
          <p:nvPr/>
        </p:nvSpPr>
        <p:spPr>
          <a:xfrm>
            <a:off x="7772400" y="3346704"/>
            <a:ext cx="4114800" cy="987552"/>
          </a:xfrm>
          <a:prstGeom prst="rect">
            <a:avLst/>
          </a:prstGeom>
          <a:solidFill>
            <a:srgbClr val="1E293B"/>
          </a:solidFill>
          <a:ln w="9525">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8" name="TextBox 27"/>
          <p:cNvSpPr txBox="1"/>
          <p:nvPr/>
        </p:nvSpPr>
        <p:spPr>
          <a:xfrm>
            <a:off x="7909560" y="3401568"/>
            <a:ext cx="3840480" cy="475488"/>
          </a:xfrm>
          <a:prstGeom prst="rect">
            <a:avLst/>
          </a:prstGeom>
          <a:noFill/>
        </p:spPr>
        <p:txBody>
          <a:bodyPr wrap="square">
            <a:spAutoFit/>
          </a:bodyPr>
          <a:lstStyle/>
          <a:p>
            <a:pPr algn="l"/>
            <a:r>
              <a:rPr sz="2400" b="1" i="0" dirty="0">
                <a:solidFill>
                  <a:srgbClr val="4ADE80"/>
                </a:solidFill>
              </a:rPr>
              <a:t>3</a:t>
            </a:r>
          </a:p>
        </p:txBody>
      </p:sp>
      <p:sp>
        <p:nvSpPr>
          <p:cNvPr id="29" name="TextBox 28"/>
          <p:cNvSpPr txBox="1"/>
          <p:nvPr/>
        </p:nvSpPr>
        <p:spPr>
          <a:xfrm>
            <a:off x="7909560" y="3913632"/>
            <a:ext cx="3840480" cy="347472"/>
          </a:xfrm>
          <a:prstGeom prst="rect">
            <a:avLst/>
          </a:prstGeom>
          <a:noFill/>
        </p:spPr>
        <p:txBody>
          <a:bodyPr wrap="square">
            <a:spAutoFit/>
          </a:bodyPr>
          <a:lstStyle/>
          <a:p>
            <a:pPr algn="l"/>
            <a:r>
              <a:rPr sz="1050" b="0" i="0" dirty="0">
                <a:solidFill>
                  <a:srgbClr val="94A3B8"/>
                </a:solidFill>
              </a:rPr>
              <a:t>Priority Levels (Critical/Important/Routine)</a:t>
            </a:r>
          </a:p>
        </p:txBody>
      </p:sp>
      <p:sp>
        <p:nvSpPr>
          <p:cNvPr id="30" name="Rectangle 29"/>
          <p:cNvSpPr/>
          <p:nvPr/>
        </p:nvSpPr>
        <p:spPr>
          <a:xfrm>
            <a:off x="7772400" y="4425696"/>
            <a:ext cx="4114800" cy="987552"/>
          </a:xfrm>
          <a:prstGeom prst="rect">
            <a:avLst/>
          </a:prstGeom>
          <a:solidFill>
            <a:srgbClr val="1E293B"/>
          </a:solidFill>
          <a:ln w="9525">
            <a:solidFill>
              <a:srgbClr val="FB92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1" name="TextBox 30"/>
          <p:cNvSpPr txBox="1"/>
          <p:nvPr/>
        </p:nvSpPr>
        <p:spPr>
          <a:xfrm>
            <a:off x="7909560" y="4480559"/>
            <a:ext cx="3840480" cy="475488"/>
          </a:xfrm>
          <a:prstGeom prst="rect">
            <a:avLst/>
          </a:prstGeom>
          <a:noFill/>
        </p:spPr>
        <p:txBody>
          <a:bodyPr wrap="square">
            <a:spAutoFit/>
          </a:bodyPr>
          <a:lstStyle/>
          <a:p>
            <a:pPr algn="l"/>
            <a:r>
              <a:rPr sz="2400" b="1" i="0" dirty="0">
                <a:solidFill>
                  <a:srgbClr val="FB923B"/>
                </a:solidFill>
              </a:rPr>
              <a:t>100%</a:t>
            </a:r>
          </a:p>
        </p:txBody>
      </p:sp>
      <p:sp>
        <p:nvSpPr>
          <p:cNvPr id="32" name="TextBox 31"/>
          <p:cNvSpPr txBox="1"/>
          <p:nvPr/>
        </p:nvSpPr>
        <p:spPr>
          <a:xfrm>
            <a:off x="7909560" y="4992624"/>
            <a:ext cx="3840480" cy="347472"/>
          </a:xfrm>
          <a:prstGeom prst="rect">
            <a:avLst/>
          </a:prstGeom>
          <a:noFill/>
        </p:spPr>
        <p:txBody>
          <a:bodyPr wrap="square">
            <a:spAutoFit/>
          </a:bodyPr>
          <a:lstStyle/>
          <a:p>
            <a:pPr algn="l"/>
            <a:r>
              <a:rPr sz="1050" b="0" i="0" dirty="0">
                <a:solidFill>
                  <a:srgbClr val="94A3B8"/>
                </a:solidFill>
              </a:rPr>
              <a:t>CI/CD Fully Automated</a:t>
            </a:r>
          </a:p>
        </p:txBody>
      </p:sp>
      <p:sp>
        <p:nvSpPr>
          <p:cNvPr id="33" name="Rectangle 32"/>
          <p:cNvSpPr/>
          <p:nvPr/>
        </p:nvSpPr>
        <p:spPr>
          <a:xfrm>
            <a:off x="7772400" y="5504688"/>
            <a:ext cx="4114800" cy="987552"/>
          </a:xfrm>
          <a:prstGeom prst="rect">
            <a:avLst/>
          </a:prstGeom>
          <a:solidFill>
            <a:srgbClr val="1E293B"/>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4" name="TextBox 33"/>
          <p:cNvSpPr txBox="1"/>
          <p:nvPr/>
        </p:nvSpPr>
        <p:spPr>
          <a:xfrm>
            <a:off x="7909560" y="5559551"/>
            <a:ext cx="3840480" cy="475488"/>
          </a:xfrm>
          <a:prstGeom prst="rect">
            <a:avLst/>
          </a:prstGeom>
          <a:noFill/>
        </p:spPr>
        <p:txBody>
          <a:bodyPr wrap="square">
            <a:spAutoFit/>
          </a:bodyPr>
          <a:lstStyle/>
          <a:p>
            <a:pPr algn="l"/>
            <a:r>
              <a:rPr sz="2400" b="1" i="0" dirty="0">
                <a:solidFill>
                  <a:srgbClr val="2DD4BF"/>
                </a:solidFill>
              </a:rPr>
              <a:t>2</a:t>
            </a:r>
          </a:p>
        </p:txBody>
      </p:sp>
      <p:sp>
        <p:nvSpPr>
          <p:cNvPr id="35" name="TextBox 34"/>
          <p:cNvSpPr txBox="1"/>
          <p:nvPr/>
        </p:nvSpPr>
        <p:spPr>
          <a:xfrm>
            <a:off x="7909560" y="6071616"/>
            <a:ext cx="3840480" cy="347472"/>
          </a:xfrm>
          <a:prstGeom prst="rect">
            <a:avLst/>
          </a:prstGeom>
          <a:noFill/>
        </p:spPr>
        <p:txBody>
          <a:bodyPr wrap="square">
            <a:spAutoFit/>
          </a:bodyPr>
          <a:lstStyle/>
          <a:p>
            <a:pPr algn="l"/>
            <a:r>
              <a:rPr sz="1050" b="0" i="0" dirty="0">
                <a:solidFill>
                  <a:srgbClr val="94A3B8"/>
                </a:solidFill>
              </a:rPr>
              <a:t>Cloud Deployment Targets (Render + Vercel)</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91440" cy="1051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82880" y="987552"/>
            <a:ext cx="1197864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256032" y="91440"/>
            <a:ext cx="11430000" cy="707886"/>
          </a:xfrm>
          <a:prstGeom prst="rect">
            <a:avLst/>
          </a:prstGeom>
          <a:noFill/>
        </p:spPr>
        <p:txBody>
          <a:bodyPr wrap="square">
            <a:spAutoFit/>
          </a:bodyPr>
          <a:lstStyle/>
          <a:p>
            <a:pPr algn="ctr"/>
            <a:r>
              <a:rPr sz="4000" b="1" i="0" dirty="0">
                <a:solidFill>
                  <a:srgbClr val="FFFFFF"/>
                </a:solidFill>
              </a:rPr>
              <a:t>Abstract</a:t>
            </a:r>
          </a:p>
        </p:txBody>
      </p:sp>
      <p:sp>
        <p:nvSpPr>
          <p:cNvPr id="6" name="Rectangle 5"/>
          <p:cNvSpPr/>
          <p:nvPr/>
        </p:nvSpPr>
        <p:spPr>
          <a:xfrm>
            <a:off x="274320" y="1188720"/>
            <a:ext cx="11658600" cy="5349240"/>
          </a:xfrm>
          <a:prstGeom prst="rect">
            <a:avLst/>
          </a:prstGeom>
          <a:solidFill>
            <a:srgbClr val="1E293B"/>
          </a:solidFill>
          <a:ln w="952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475488" y="1353312"/>
            <a:ext cx="7726679" cy="5029200"/>
          </a:xfrm>
          <a:prstGeom prst="rect">
            <a:avLst/>
          </a:prstGeom>
          <a:noFill/>
        </p:spPr>
        <p:txBody>
          <a:bodyPr wrap="square">
            <a:spAutoFit/>
          </a:bodyPr>
          <a:lstStyle/>
          <a:p>
            <a:pPr algn="l"/>
            <a:r>
              <a:rPr sz="1600" b="0" i="0" dirty="0">
                <a:solidFill>
                  <a:srgbClr val="FFFFFF"/>
                </a:solidFill>
              </a:rPr>
              <a:t>Yoga-Do is a full-stack, calendar-first task management web application designed to help users plan, organise, and track their daily activities with clarity and efficiency.
Built with React (TypeScript) on the frontend and Django REST Framework on the backend, it delivers a rich, responsive UI featuring Month, Week, and Day calendar views, priority-based task categorisation (Critical / Important / Routine), and a powerful RRULE-based recurring task engine that supports editing a single occurrence or an entire series independently.
The application includes an Analytics Dashboard showing real-time completion statistics and streak tracking, a Pomodoro-style Focus Timer, a Personal Notes section, and Motivational Quotes. All API endpoints are secured with Django session authentication and CSRF token validation.
Beyond the application itself, Yoga-Do integrates a complete DevOps pipeline: version control through Git and GitHub, automated Django backend tests and Playwright end-to-end tests executed via GitHub Actions CI, Docker containerisation for consistent cross-environment deployment, and cloud hosting on Render (backend) and Vercel (frontend). This project demonstrates the successful convergence of modern full-stack web development with professional-grade DevOps engineering practices.</a:t>
            </a:r>
          </a:p>
        </p:txBody>
      </p:sp>
      <p:sp>
        <p:nvSpPr>
          <p:cNvPr id="8" name="Rectangle 7"/>
          <p:cNvSpPr/>
          <p:nvPr/>
        </p:nvSpPr>
        <p:spPr>
          <a:xfrm>
            <a:off x="8366760" y="1298448"/>
            <a:ext cx="3429000" cy="731520"/>
          </a:xfrm>
          <a:prstGeom prst="rect">
            <a:avLst/>
          </a:prstGeom>
          <a:solidFill>
            <a:srgbClr val="0A0E1A"/>
          </a:solidFill>
          <a:ln w="9525">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8503920" y="1344168"/>
            <a:ext cx="3154680" cy="292608"/>
          </a:xfrm>
          <a:prstGeom prst="rect">
            <a:avLst/>
          </a:prstGeom>
          <a:noFill/>
        </p:spPr>
        <p:txBody>
          <a:bodyPr wrap="square">
            <a:spAutoFit/>
          </a:bodyPr>
          <a:lstStyle/>
          <a:p>
            <a:pPr algn="l"/>
            <a:r>
              <a:rPr sz="1100" b="1" i="0" dirty="0">
                <a:solidFill>
                  <a:srgbClr val="60A5FA"/>
                </a:solidFill>
              </a:rPr>
              <a:t>Frontend</a:t>
            </a:r>
          </a:p>
        </p:txBody>
      </p:sp>
      <p:sp>
        <p:nvSpPr>
          <p:cNvPr id="10" name="TextBox 9"/>
          <p:cNvSpPr txBox="1"/>
          <p:nvPr/>
        </p:nvSpPr>
        <p:spPr>
          <a:xfrm>
            <a:off x="8503920" y="1682495"/>
            <a:ext cx="3154680" cy="274320"/>
          </a:xfrm>
          <a:prstGeom prst="rect">
            <a:avLst/>
          </a:prstGeom>
          <a:noFill/>
        </p:spPr>
        <p:txBody>
          <a:bodyPr wrap="square">
            <a:spAutoFit/>
          </a:bodyPr>
          <a:lstStyle/>
          <a:p>
            <a:pPr algn="l"/>
            <a:r>
              <a:rPr sz="1050" b="0" i="0" dirty="0">
                <a:solidFill>
                  <a:srgbClr val="94A3B8"/>
                </a:solidFill>
              </a:rPr>
              <a:t>React + TypeScript + Vite</a:t>
            </a:r>
          </a:p>
        </p:txBody>
      </p:sp>
      <p:sp>
        <p:nvSpPr>
          <p:cNvPr id="11" name="Rectangle 10"/>
          <p:cNvSpPr/>
          <p:nvPr/>
        </p:nvSpPr>
        <p:spPr>
          <a:xfrm>
            <a:off x="8366760" y="2121408"/>
            <a:ext cx="3429000" cy="731520"/>
          </a:xfrm>
          <a:prstGeom prst="rect">
            <a:avLst/>
          </a:prstGeom>
          <a:solidFill>
            <a:srgbClr val="0A0E1A"/>
          </a:solidFill>
          <a:ln w="9525">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p:cNvSpPr txBox="1"/>
          <p:nvPr/>
        </p:nvSpPr>
        <p:spPr>
          <a:xfrm>
            <a:off x="8503920" y="2167127"/>
            <a:ext cx="3154680" cy="292608"/>
          </a:xfrm>
          <a:prstGeom prst="rect">
            <a:avLst/>
          </a:prstGeom>
          <a:noFill/>
        </p:spPr>
        <p:txBody>
          <a:bodyPr wrap="square">
            <a:spAutoFit/>
          </a:bodyPr>
          <a:lstStyle/>
          <a:p>
            <a:pPr algn="l"/>
            <a:r>
              <a:rPr sz="1100" b="1" i="0" dirty="0">
                <a:solidFill>
                  <a:srgbClr val="4ADE80"/>
                </a:solidFill>
              </a:rPr>
              <a:t>Backend</a:t>
            </a:r>
          </a:p>
        </p:txBody>
      </p:sp>
      <p:sp>
        <p:nvSpPr>
          <p:cNvPr id="13" name="TextBox 12"/>
          <p:cNvSpPr txBox="1"/>
          <p:nvPr/>
        </p:nvSpPr>
        <p:spPr>
          <a:xfrm>
            <a:off x="8503920" y="2505456"/>
            <a:ext cx="3154680" cy="274320"/>
          </a:xfrm>
          <a:prstGeom prst="rect">
            <a:avLst/>
          </a:prstGeom>
          <a:noFill/>
        </p:spPr>
        <p:txBody>
          <a:bodyPr wrap="square">
            <a:spAutoFit/>
          </a:bodyPr>
          <a:lstStyle/>
          <a:p>
            <a:pPr algn="l"/>
            <a:r>
              <a:rPr sz="1050" b="0" i="0" dirty="0">
                <a:solidFill>
                  <a:srgbClr val="94A3B8"/>
                </a:solidFill>
              </a:rPr>
              <a:t>Django + REST Framework</a:t>
            </a:r>
          </a:p>
        </p:txBody>
      </p:sp>
      <p:sp>
        <p:nvSpPr>
          <p:cNvPr id="14" name="Rectangle 13"/>
          <p:cNvSpPr/>
          <p:nvPr/>
        </p:nvSpPr>
        <p:spPr>
          <a:xfrm>
            <a:off x="8366760" y="2944368"/>
            <a:ext cx="3429000" cy="731520"/>
          </a:xfrm>
          <a:prstGeom prst="rect">
            <a:avLst/>
          </a:prstGeom>
          <a:solidFill>
            <a:srgbClr val="0A0E1A"/>
          </a:solidFill>
          <a:ln w="952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TextBox 14"/>
          <p:cNvSpPr txBox="1"/>
          <p:nvPr/>
        </p:nvSpPr>
        <p:spPr>
          <a:xfrm>
            <a:off x="8503920" y="2990087"/>
            <a:ext cx="3154680" cy="292608"/>
          </a:xfrm>
          <a:prstGeom prst="rect">
            <a:avLst/>
          </a:prstGeom>
          <a:noFill/>
        </p:spPr>
        <p:txBody>
          <a:bodyPr wrap="square">
            <a:spAutoFit/>
          </a:bodyPr>
          <a:lstStyle/>
          <a:p>
            <a:pPr algn="l"/>
            <a:r>
              <a:rPr sz="1100" b="1" i="0" dirty="0">
                <a:solidFill>
                  <a:srgbClr val="8B5CF6"/>
                </a:solidFill>
              </a:rPr>
              <a:t>Auth</a:t>
            </a:r>
          </a:p>
        </p:txBody>
      </p:sp>
      <p:sp>
        <p:nvSpPr>
          <p:cNvPr id="16" name="TextBox 15"/>
          <p:cNvSpPr txBox="1"/>
          <p:nvPr/>
        </p:nvSpPr>
        <p:spPr>
          <a:xfrm>
            <a:off x="8503920" y="3328415"/>
            <a:ext cx="3154680" cy="274320"/>
          </a:xfrm>
          <a:prstGeom prst="rect">
            <a:avLst/>
          </a:prstGeom>
          <a:noFill/>
        </p:spPr>
        <p:txBody>
          <a:bodyPr wrap="square">
            <a:spAutoFit/>
          </a:bodyPr>
          <a:lstStyle/>
          <a:p>
            <a:pPr algn="l"/>
            <a:r>
              <a:rPr sz="1050" b="0" i="0" dirty="0">
                <a:solidFill>
                  <a:srgbClr val="94A3B8"/>
                </a:solidFill>
              </a:rPr>
              <a:t>Session + CSRF Token</a:t>
            </a:r>
          </a:p>
        </p:txBody>
      </p:sp>
      <p:sp>
        <p:nvSpPr>
          <p:cNvPr id="17" name="Rectangle 16"/>
          <p:cNvSpPr/>
          <p:nvPr/>
        </p:nvSpPr>
        <p:spPr>
          <a:xfrm>
            <a:off x="8366760" y="3767328"/>
            <a:ext cx="3429000" cy="731520"/>
          </a:xfrm>
          <a:prstGeom prst="rect">
            <a:avLst/>
          </a:prstGeom>
          <a:solidFill>
            <a:srgbClr val="0A0E1A"/>
          </a:solidFill>
          <a:ln w="9525">
            <a:solidFill>
              <a:srgbClr val="FB92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 name="TextBox 17"/>
          <p:cNvSpPr txBox="1"/>
          <p:nvPr/>
        </p:nvSpPr>
        <p:spPr>
          <a:xfrm>
            <a:off x="8503920" y="3813048"/>
            <a:ext cx="3154680" cy="292608"/>
          </a:xfrm>
          <a:prstGeom prst="rect">
            <a:avLst/>
          </a:prstGeom>
          <a:noFill/>
        </p:spPr>
        <p:txBody>
          <a:bodyPr wrap="square">
            <a:spAutoFit/>
          </a:bodyPr>
          <a:lstStyle/>
          <a:p>
            <a:pPr algn="l"/>
            <a:r>
              <a:rPr sz="1100" b="1" i="0" dirty="0">
                <a:solidFill>
                  <a:srgbClr val="FB923B"/>
                </a:solidFill>
              </a:rPr>
              <a:t>Recurrence</a:t>
            </a:r>
          </a:p>
        </p:txBody>
      </p:sp>
      <p:sp>
        <p:nvSpPr>
          <p:cNvPr id="19" name="TextBox 18"/>
          <p:cNvSpPr txBox="1"/>
          <p:nvPr/>
        </p:nvSpPr>
        <p:spPr>
          <a:xfrm>
            <a:off x="8503920" y="4151376"/>
            <a:ext cx="3154680" cy="274320"/>
          </a:xfrm>
          <a:prstGeom prst="rect">
            <a:avLst/>
          </a:prstGeom>
          <a:noFill/>
        </p:spPr>
        <p:txBody>
          <a:bodyPr wrap="square">
            <a:spAutoFit/>
          </a:bodyPr>
          <a:lstStyle/>
          <a:p>
            <a:pPr algn="l"/>
            <a:r>
              <a:rPr sz="1050" b="0" i="0" dirty="0">
                <a:solidFill>
                  <a:srgbClr val="94A3B8"/>
                </a:solidFill>
              </a:rPr>
              <a:t>RRULE (iCal standard)</a:t>
            </a:r>
          </a:p>
        </p:txBody>
      </p:sp>
      <p:sp>
        <p:nvSpPr>
          <p:cNvPr id="20" name="Rectangle 19"/>
          <p:cNvSpPr/>
          <p:nvPr/>
        </p:nvSpPr>
        <p:spPr>
          <a:xfrm>
            <a:off x="8366760" y="4590288"/>
            <a:ext cx="3429000" cy="731520"/>
          </a:xfrm>
          <a:prstGeom prst="rect">
            <a:avLst/>
          </a:prstGeom>
          <a:solidFill>
            <a:srgbClr val="0A0E1A"/>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1" name="TextBox 20"/>
          <p:cNvSpPr txBox="1"/>
          <p:nvPr/>
        </p:nvSpPr>
        <p:spPr>
          <a:xfrm>
            <a:off x="8503920" y="4636007"/>
            <a:ext cx="3154680" cy="292608"/>
          </a:xfrm>
          <a:prstGeom prst="rect">
            <a:avLst/>
          </a:prstGeom>
          <a:noFill/>
        </p:spPr>
        <p:txBody>
          <a:bodyPr wrap="square">
            <a:spAutoFit/>
          </a:bodyPr>
          <a:lstStyle/>
          <a:p>
            <a:pPr algn="l"/>
            <a:r>
              <a:rPr sz="1100" b="1" i="0" dirty="0">
                <a:solidFill>
                  <a:srgbClr val="2DD4BF"/>
                </a:solidFill>
              </a:rPr>
              <a:t>DevOps</a:t>
            </a:r>
          </a:p>
        </p:txBody>
      </p:sp>
      <p:sp>
        <p:nvSpPr>
          <p:cNvPr id="22" name="TextBox 21"/>
          <p:cNvSpPr txBox="1"/>
          <p:nvPr/>
        </p:nvSpPr>
        <p:spPr>
          <a:xfrm>
            <a:off x="8503920" y="4974336"/>
            <a:ext cx="3154680" cy="274320"/>
          </a:xfrm>
          <a:prstGeom prst="rect">
            <a:avLst/>
          </a:prstGeom>
          <a:noFill/>
        </p:spPr>
        <p:txBody>
          <a:bodyPr wrap="square">
            <a:spAutoFit/>
          </a:bodyPr>
          <a:lstStyle/>
          <a:p>
            <a:pPr algn="l"/>
            <a:r>
              <a:rPr sz="1050" b="0" i="0" dirty="0">
                <a:solidFill>
                  <a:srgbClr val="94A3B8"/>
                </a:solidFill>
              </a:rPr>
              <a:t>Docker + GitHub Actions</a:t>
            </a:r>
          </a:p>
        </p:txBody>
      </p:sp>
      <p:sp>
        <p:nvSpPr>
          <p:cNvPr id="23" name="Rectangle 22"/>
          <p:cNvSpPr/>
          <p:nvPr/>
        </p:nvSpPr>
        <p:spPr>
          <a:xfrm>
            <a:off x="8366760" y="5413248"/>
            <a:ext cx="3429000" cy="731520"/>
          </a:xfrm>
          <a:prstGeom prst="rect">
            <a:avLst/>
          </a:prstGeom>
          <a:solidFill>
            <a:srgbClr val="0A0E1A"/>
          </a:solidFill>
          <a:ln w="9525">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4" name="TextBox 23"/>
          <p:cNvSpPr txBox="1"/>
          <p:nvPr/>
        </p:nvSpPr>
        <p:spPr>
          <a:xfrm>
            <a:off x="8503920" y="5458968"/>
            <a:ext cx="3154680" cy="292608"/>
          </a:xfrm>
          <a:prstGeom prst="rect">
            <a:avLst/>
          </a:prstGeom>
          <a:noFill/>
        </p:spPr>
        <p:txBody>
          <a:bodyPr wrap="square">
            <a:spAutoFit/>
          </a:bodyPr>
          <a:lstStyle/>
          <a:p>
            <a:pPr algn="l"/>
            <a:r>
              <a:rPr sz="1100" b="1" i="0" dirty="0">
                <a:solidFill>
                  <a:srgbClr val="6366F1"/>
                </a:solidFill>
              </a:rPr>
              <a:t>Deploy</a:t>
            </a:r>
          </a:p>
        </p:txBody>
      </p:sp>
      <p:sp>
        <p:nvSpPr>
          <p:cNvPr id="25" name="TextBox 24"/>
          <p:cNvSpPr txBox="1"/>
          <p:nvPr/>
        </p:nvSpPr>
        <p:spPr>
          <a:xfrm>
            <a:off x="8503920" y="5797296"/>
            <a:ext cx="3154680" cy="274320"/>
          </a:xfrm>
          <a:prstGeom prst="rect">
            <a:avLst/>
          </a:prstGeom>
          <a:noFill/>
        </p:spPr>
        <p:txBody>
          <a:bodyPr wrap="square">
            <a:spAutoFit/>
          </a:bodyPr>
          <a:lstStyle/>
          <a:p>
            <a:pPr algn="l"/>
            <a:r>
              <a:rPr sz="1050" b="0" i="0" dirty="0">
                <a:solidFill>
                  <a:srgbClr val="94A3B8"/>
                </a:solidFill>
              </a:rPr>
              <a:t>Render + Vercel (Cloud)</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91440" cy="1051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82880" y="987552"/>
            <a:ext cx="1197864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256032" y="91440"/>
            <a:ext cx="11430000" cy="584775"/>
          </a:xfrm>
          <a:prstGeom prst="rect">
            <a:avLst/>
          </a:prstGeom>
          <a:noFill/>
        </p:spPr>
        <p:txBody>
          <a:bodyPr wrap="square">
            <a:spAutoFit/>
          </a:bodyPr>
          <a:lstStyle/>
          <a:p>
            <a:pPr algn="ctr"/>
            <a:r>
              <a:rPr sz="3200" b="1" i="0" dirty="0">
                <a:solidFill>
                  <a:srgbClr val="FFFFFF"/>
                </a:solidFill>
              </a:rPr>
              <a:t>Existing System &amp; Problems</a:t>
            </a:r>
          </a:p>
        </p:txBody>
      </p:sp>
      <p:sp>
        <p:nvSpPr>
          <p:cNvPr id="6" name="TextBox 5"/>
          <p:cNvSpPr txBox="1"/>
          <p:nvPr/>
        </p:nvSpPr>
        <p:spPr>
          <a:xfrm>
            <a:off x="256032" y="662154"/>
            <a:ext cx="11430000" cy="369332"/>
          </a:xfrm>
          <a:prstGeom prst="rect">
            <a:avLst/>
          </a:prstGeom>
          <a:noFill/>
        </p:spPr>
        <p:txBody>
          <a:bodyPr wrap="square">
            <a:spAutoFit/>
          </a:bodyPr>
          <a:lstStyle/>
          <a:p>
            <a:pPr algn="ctr"/>
            <a:r>
              <a:rPr b="0" i="0" dirty="0">
                <a:solidFill>
                  <a:srgbClr val="94A3B8"/>
                </a:solidFill>
              </a:rPr>
              <a:t>Limitations of current task management tools</a:t>
            </a:r>
          </a:p>
        </p:txBody>
      </p:sp>
      <p:sp>
        <p:nvSpPr>
          <p:cNvPr id="7" name="Rectangle 6"/>
          <p:cNvSpPr/>
          <p:nvPr/>
        </p:nvSpPr>
        <p:spPr>
          <a:xfrm>
            <a:off x="256032" y="1261872"/>
            <a:ext cx="3767328" cy="2286000"/>
          </a:xfrm>
          <a:prstGeom prst="rect">
            <a:avLst/>
          </a:prstGeom>
          <a:solidFill>
            <a:srgbClr val="1E293B"/>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393192" y="1353312"/>
            <a:ext cx="3493008" cy="365760"/>
          </a:xfrm>
          <a:prstGeom prst="rect">
            <a:avLst/>
          </a:prstGeom>
          <a:noFill/>
        </p:spPr>
        <p:txBody>
          <a:bodyPr wrap="square">
            <a:spAutoFit/>
          </a:bodyPr>
          <a:lstStyle/>
          <a:p>
            <a:pPr algn="l"/>
            <a:r>
              <a:rPr sz="1200" b="1" i="0" dirty="0">
                <a:solidFill>
                  <a:srgbClr val="F87171"/>
                </a:solidFill>
              </a:rPr>
              <a:t>⚠  No Calendar Integration</a:t>
            </a:r>
          </a:p>
        </p:txBody>
      </p:sp>
      <p:sp>
        <p:nvSpPr>
          <p:cNvPr id="9" name="Rectangle 8"/>
          <p:cNvSpPr/>
          <p:nvPr/>
        </p:nvSpPr>
        <p:spPr>
          <a:xfrm>
            <a:off x="393192" y="1773936"/>
            <a:ext cx="3493008" cy="27432"/>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393192" y="1856231"/>
            <a:ext cx="3493008" cy="430887"/>
          </a:xfrm>
          <a:prstGeom prst="rect">
            <a:avLst/>
          </a:prstGeom>
          <a:noFill/>
        </p:spPr>
        <p:txBody>
          <a:bodyPr wrap="square">
            <a:spAutoFit/>
          </a:bodyPr>
          <a:lstStyle/>
          <a:p>
            <a:pPr algn="l"/>
            <a:r>
              <a:rPr sz="1100" b="0" i="0" dirty="0">
                <a:solidFill>
                  <a:srgbClr val="94A3B8"/>
                </a:solidFill>
              </a:rPr>
              <a:t>Most to-do apps show tasks as plain lists — no Month, Week, or Day calendar </a:t>
            </a:r>
            <a:r>
              <a:rPr sz="1100" b="0" i="0" dirty="0" smtClean="0">
                <a:solidFill>
                  <a:srgbClr val="94A3B8"/>
                </a:solidFill>
              </a:rPr>
              <a:t>visuali</a:t>
            </a:r>
            <a:r>
              <a:rPr lang="en-US" sz="1100" b="0" i="0" dirty="0" smtClean="0">
                <a:solidFill>
                  <a:srgbClr val="94A3B8"/>
                </a:solidFill>
              </a:rPr>
              <a:t>z</a:t>
            </a:r>
            <a:r>
              <a:rPr sz="1100" b="0" i="0" dirty="0" smtClean="0">
                <a:solidFill>
                  <a:srgbClr val="94A3B8"/>
                </a:solidFill>
              </a:rPr>
              <a:t>ation</a:t>
            </a:r>
            <a:r>
              <a:rPr sz="1100" b="0" i="0" dirty="0">
                <a:solidFill>
                  <a:srgbClr val="94A3B8"/>
                </a:solidFill>
              </a:rPr>
              <a:t>.</a:t>
            </a:r>
          </a:p>
        </p:txBody>
      </p:sp>
      <p:sp>
        <p:nvSpPr>
          <p:cNvPr id="11" name="Rectangle 10"/>
          <p:cNvSpPr/>
          <p:nvPr/>
        </p:nvSpPr>
        <p:spPr>
          <a:xfrm>
            <a:off x="4261104" y="1261872"/>
            <a:ext cx="3767328" cy="2286000"/>
          </a:xfrm>
          <a:prstGeom prst="rect">
            <a:avLst/>
          </a:prstGeom>
          <a:solidFill>
            <a:srgbClr val="1E293B"/>
          </a:solidFill>
          <a:ln w="12700">
            <a:solidFill>
              <a:srgbClr val="FB92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p:cNvSpPr txBox="1"/>
          <p:nvPr/>
        </p:nvSpPr>
        <p:spPr>
          <a:xfrm>
            <a:off x="4398264" y="1353312"/>
            <a:ext cx="3493008" cy="365760"/>
          </a:xfrm>
          <a:prstGeom prst="rect">
            <a:avLst/>
          </a:prstGeom>
          <a:noFill/>
        </p:spPr>
        <p:txBody>
          <a:bodyPr wrap="square">
            <a:spAutoFit/>
          </a:bodyPr>
          <a:lstStyle/>
          <a:p>
            <a:pPr algn="l"/>
            <a:r>
              <a:rPr sz="1200" b="1" i="0" dirty="0">
                <a:solidFill>
                  <a:srgbClr val="FB923B"/>
                </a:solidFill>
              </a:rPr>
              <a:t>⚠  Manual Recurring Tasks</a:t>
            </a:r>
          </a:p>
        </p:txBody>
      </p:sp>
      <p:sp>
        <p:nvSpPr>
          <p:cNvPr id="13" name="Rectangle 12"/>
          <p:cNvSpPr/>
          <p:nvPr/>
        </p:nvSpPr>
        <p:spPr>
          <a:xfrm>
            <a:off x="4398264" y="1773936"/>
            <a:ext cx="3493008" cy="27432"/>
          </a:xfrm>
          <a:prstGeom prst="rect">
            <a:avLst/>
          </a:prstGeom>
          <a:solidFill>
            <a:srgbClr val="FB9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 name="TextBox 13"/>
          <p:cNvSpPr txBox="1"/>
          <p:nvPr/>
        </p:nvSpPr>
        <p:spPr>
          <a:xfrm>
            <a:off x="4398264" y="1856231"/>
            <a:ext cx="3493008" cy="1572768"/>
          </a:xfrm>
          <a:prstGeom prst="rect">
            <a:avLst/>
          </a:prstGeom>
          <a:noFill/>
        </p:spPr>
        <p:txBody>
          <a:bodyPr wrap="square">
            <a:spAutoFit/>
          </a:bodyPr>
          <a:lstStyle/>
          <a:p>
            <a:pPr algn="l"/>
            <a:r>
              <a:rPr sz="1100" b="0" i="0" dirty="0">
                <a:solidFill>
                  <a:srgbClr val="94A3B8"/>
                </a:solidFill>
              </a:rPr>
              <a:t>Users must re-enter repetitive tasks manually. No RRULE engine or exception handling.</a:t>
            </a:r>
          </a:p>
        </p:txBody>
      </p:sp>
      <p:sp>
        <p:nvSpPr>
          <p:cNvPr id="15" name="Rectangle 14"/>
          <p:cNvSpPr/>
          <p:nvPr/>
        </p:nvSpPr>
        <p:spPr>
          <a:xfrm>
            <a:off x="8266175" y="1261872"/>
            <a:ext cx="3767328" cy="2286000"/>
          </a:xfrm>
          <a:prstGeom prst="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6" name="TextBox 15"/>
          <p:cNvSpPr txBox="1"/>
          <p:nvPr/>
        </p:nvSpPr>
        <p:spPr>
          <a:xfrm>
            <a:off x="8403336" y="1353312"/>
            <a:ext cx="3493008" cy="365760"/>
          </a:xfrm>
          <a:prstGeom prst="rect">
            <a:avLst/>
          </a:prstGeom>
          <a:noFill/>
        </p:spPr>
        <p:txBody>
          <a:bodyPr wrap="square">
            <a:spAutoFit/>
          </a:bodyPr>
          <a:lstStyle/>
          <a:p>
            <a:pPr algn="l"/>
            <a:r>
              <a:rPr sz="1200" b="1" i="0" dirty="0">
                <a:solidFill>
                  <a:srgbClr val="FBBF24"/>
                </a:solidFill>
              </a:rPr>
              <a:t>⚠  No DevOps in Academics</a:t>
            </a:r>
          </a:p>
        </p:txBody>
      </p:sp>
      <p:sp>
        <p:nvSpPr>
          <p:cNvPr id="17" name="Rectangle 16"/>
          <p:cNvSpPr/>
          <p:nvPr/>
        </p:nvSpPr>
        <p:spPr>
          <a:xfrm>
            <a:off x="8403336" y="1773936"/>
            <a:ext cx="3493008" cy="2743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 name="TextBox 17"/>
          <p:cNvSpPr txBox="1"/>
          <p:nvPr/>
        </p:nvSpPr>
        <p:spPr>
          <a:xfrm>
            <a:off x="8403336" y="1856231"/>
            <a:ext cx="3493008" cy="1572768"/>
          </a:xfrm>
          <a:prstGeom prst="rect">
            <a:avLst/>
          </a:prstGeom>
          <a:noFill/>
        </p:spPr>
        <p:txBody>
          <a:bodyPr wrap="square">
            <a:spAutoFit/>
          </a:bodyPr>
          <a:lstStyle/>
          <a:p>
            <a:pPr algn="l"/>
            <a:r>
              <a:rPr sz="1100" b="0" i="0" dirty="0">
                <a:solidFill>
                  <a:srgbClr val="94A3B8"/>
                </a:solidFill>
              </a:rPr>
              <a:t>Most student projects lack CI/CD pipelines, Docker, or automated test suites.</a:t>
            </a:r>
          </a:p>
        </p:txBody>
      </p:sp>
      <p:sp>
        <p:nvSpPr>
          <p:cNvPr id="19" name="Rectangle 18"/>
          <p:cNvSpPr/>
          <p:nvPr/>
        </p:nvSpPr>
        <p:spPr>
          <a:xfrm>
            <a:off x="256032" y="3712464"/>
            <a:ext cx="3767328" cy="2286000"/>
          </a:xfrm>
          <a:prstGeom prst="rect">
            <a:avLst/>
          </a:prstGeom>
          <a:solidFill>
            <a:srgbClr val="1E293B"/>
          </a:solidFill>
          <a:ln w="12700">
            <a:solidFill>
              <a:srgbClr val="FB92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0" name="TextBox 19"/>
          <p:cNvSpPr txBox="1"/>
          <p:nvPr/>
        </p:nvSpPr>
        <p:spPr>
          <a:xfrm>
            <a:off x="393192" y="3803904"/>
            <a:ext cx="3493008" cy="365760"/>
          </a:xfrm>
          <a:prstGeom prst="rect">
            <a:avLst/>
          </a:prstGeom>
          <a:noFill/>
        </p:spPr>
        <p:txBody>
          <a:bodyPr wrap="square">
            <a:spAutoFit/>
          </a:bodyPr>
          <a:lstStyle/>
          <a:p>
            <a:pPr algn="l"/>
            <a:r>
              <a:rPr sz="1200" b="1" i="0" dirty="0">
                <a:solidFill>
                  <a:srgbClr val="FB923B"/>
                </a:solidFill>
              </a:rPr>
              <a:t>⚠  Limited Analytics</a:t>
            </a:r>
          </a:p>
        </p:txBody>
      </p:sp>
      <p:sp>
        <p:nvSpPr>
          <p:cNvPr id="21" name="Rectangle 20"/>
          <p:cNvSpPr/>
          <p:nvPr/>
        </p:nvSpPr>
        <p:spPr>
          <a:xfrm>
            <a:off x="393192" y="4224528"/>
            <a:ext cx="3493008" cy="27432"/>
          </a:xfrm>
          <a:prstGeom prst="rect">
            <a:avLst/>
          </a:prstGeom>
          <a:solidFill>
            <a:srgbClr val="FB9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2" name="TextBox 21"/>
          <p:cNvSpPr txBox="1"/>
          <p:nvPr/>
        </p:nvSpPr>
        <p:spPr>
          <a:xfrm>
            <a:off x="393192" y="4306824"/>
            <a:ext cx="3493008" cy="1572768"/>
          </a:xfrm>
          <a:prstGeom prst="rect">
            <a:avLst/>
          </a:prstGeom>
          <a:noFill/>
        </p:spPr>
        <p:txBody>
          <a:bodyPr wrap="square">
            <a:spAutoFit/>
          </a:bodyPr>
          <a:lstStyle/>
          <a:p>
            <a:pPr algn="l"/>
            <a:r>
              <a:rPr sz="1100" b="0" i="0" dirty="0">
                <a:solidFill>
                  <a:srgbClr val="94A3B8"/>
                </a:solidFill>
              </a:rPr>
              <a:t>Basic apps provide no completion tracking, productivity streaks, or priority dashboards.</a:t>
            </a:r>
          </a:p>
        </p:txBody>
      </p:sp>
      <p:sp>
        <p:nvSpPr>
          <p:cNvPr id="23" name="Rectangle 22"/>
          <p:cNvSpPr/>
          <p:nvPr/>
        </p:nvSpPr>
        <p:spPr>
          <a:xfrm>
            <a:off x="4261104" y="3712464"/>
            <a:ext cx="3767328" cy="2286000"/>
          </a:xfrm>
          <a:prstGeom prst="rect">
            <a:avLst/>
          </a:prstGeom>
          <a:solidFill>
            <a:srgbClr val="1E293B"/>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4" name="TextBox 23"/>
          <p:cNvSpPr txBox="1"/>
          <p:nvPr/>
        </p:nvSpPr>
        <p:spPr>
          <a:xfrm>
            <a:off x="4398264" y="3803904"/>
            <a:ext cx="3493008" cy="365760"/>
          </a:xfrm>
          <a:prstGeom prst="rect">
            <a:avLst/>
          </a:prstGeom>
          <a:noFill/>
        </p:spPr>
        <p:txBody>
          <a:bodyPr wrap="square">
            <a:spAutoFit/>
          </a:bodyPr>
          <a:lstStyle/>
          <a:p>
            <a:pPr algn="l"/>
            <a:r>
              <a:rPr sz="1200" b="1" i="0" dirty="0">
                <a:solidFill>
                  <a:srgbClr val="F87171"/>
                </a:solidFill>
              </a:rPr>
              <a:t>⚠  No Integrated Timer</a:t>
            </a:r>
          </a:p>
        </p:txBody>
      </p:sp>
      <p:sp>
        <p:nvSpPr>
          <p:cNvPr id="25" name="Rectangle 24"/>
          <p:cNvSpPr/>
          <p:nvPr/>
        </p:nvSpPr>
        <p:spPr>
          <a:xfrm>
            <a:off x="4398264" y="4224528"/>
            <a:ext cx="3493008" cy="27432"/>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6" name="TextBox 25"/>
          <p:cNvSpPr txBox="1"/>
          <p:nvPr/>
        </p:nvSpPr>
        <p:spPr>
          <a:xfrm>
            <a:off x="4398264" y="4306824"/>
            <a:ext cx="3493008" cy="1572768"/>
          </a:xfrm>
          <a:prstGeom prst="rect">
            <a:avLst/>
          </a:prstGeom>
          <a:noFill/>
        </p:spPr>
        <p:txBody>
          <a:bodyPr wrap="square">
            <a:spAutoFit/>
          </a:bodyPr>
          <a:lstStyle/>
          <a:p>
            <a:pPr algn="l"/>
            <a:r>
              <a:rPr sz="1100" b="0" i="0" dirty="0">
                <a:solidFill>
                  <a:srgbClr val="94A3B8"/>
                </a:solidFill>
              </a:rPr>
              <a:t>Productivity timers exist as separate tools — not linked to individual task sessions.</a:t>
            </a:r>
          </a:p>
        </p:txBody>
      </p:sp>
      <p:sp>
        <p:nvSpPr>
          <p:cNvPr id="27" name="Rectangle 26"/>
          <p:cNvSpPr/>
          <p:nvPr/>
        </p:nvSpPr>
        <p:spPr>
          <a:xfrm>
            <a:off x="8266175" y="3712464"/>
            <a:ext cx="3767328" cy="2286000"/>
          </a:xfrm>
          <a:prstGeom prst="rect">
            <a:avLst/>
          </a:prstGeom>
          <a:solidFill>
            <a:srgbClr val="1E293B"/>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8" name="TextBox 27"/>
          <p:cNvSpPr txBox="1"/>
          <p:nvPr/>
        </p:nvSpPr>
        <p:spPr>
          <a:xfrm>
            <a:off x="8403336" y="3803904"/>
            <a:ext cx="3493008" cy="365760"/>
          </a:xfrm>
          <a:prstGeom prst="rect">
            <a:avLst/>
          </a:prstGeom>
          <a:noFill/>
        </p:spPr>
        <p:txBody>
          <a:bodyPr wrap="square">
            <a:spAutoFit/>
          </a:bodyPr>
          <a:lstStyle/>
          <a:p>
            <a:pPr algn="l"/>
            <a:r>
              <a:rPr sz="1200" b="1" i="0" dirty="0">
                <a:solidFill>
                  <a:srgbClr val="F87171"/>
                </a:solidFill>
              </a:rPr>
              <a:t>⚠  Weak Authentication</a:t>
            </a:r>
          </a:p>
        </p:txBody>
      </p:sp>
      <p:sp>
        <p:nvSpPr>
          <p:cNvPr id="29" name="Rectangle 28"/>
          <p:cNvSpPr/>
          <p:nvPr/>
        </p:nvSpPr>
        <p:spPr>
          <a:xfrm>
            <a:off x="8403336" y="4224528"/>
            <a:ext cx="3493008" cy="27432"/>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0" name="TextBox 29"/>
          <p:cNvSpPr txBox="1"/>
          <p:nvPr/>
        </p:nvSpPr>
        <p:spPr>
          <a:xfrm>
            <a:off x="8403336" y="4306824"/>
            <a:ext cx="3493008" cy="1572768"/>
          </a:xfrm>
          <a:prstGeom prst="rect">
            <a:avLst/>
          </a:prstGeom>
          <a:noFill/>
        </p:spPr>
        <p:txBody>
          <a:bodyPr wrap="square">
            <a:spAutoFit/>
          </a:bodyPr>
          <a:lstStyle/>
          <a:p>
            <a:pPr algn="l"/>
            <a:r>
              <a:rPr sz="1100" b="0" i="0" dirty="0">
                <a:solidFill>
                  <a:srgbClr val="94A3B8"/>
                </a:solidFill>
              </a:rPr>
              <a:t>Many apps skip proper session management, CSRF protection, or secure cookie attributes.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91440" cy="1051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82880" y="987552"/>
            <a:ext cx="1197864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256032" y="91440"/>
            <a:ext cx="11430000" cy="584775"/>
          </a:xfrm>
          <a:prstGeom prst="rect">
            <a:avLst/>
          </a:prstGeom>
          <a:noFill/>
        </p:spPr>
        <p:txBody>
          <a:bodyPr wrap="square">
            <a:spAutoFit/>
          </a:bodyPr>
          <a:lstStyle/>
          <a:p>
            <a:pPr algn="ctr"/>
            <a:r>
              <a:rPr sz="3200" b="1" i="0" dirty="0">
                <a:solidFill>
                  <a:srgbClr val="FFFFFF"/>
                </a:solidFill>
              </a:rPr>
              <a:t>Proposed System</a:t>
            </a:r>
          </a:p>
        </p:txBody>
      </p:sp>
      <p:sp>
        <p:nvSpPr>
          <p:cNvPr id="6" name="TextBox 5"/>
          <p:cNvSpPr txBox="1"/>
          <p:nvPr/>
        </p:nvSpPr>
        <p:spPr>
          <a:xfrm>
            <a:off x="256032" y="618220"/>
            <a:ext cx="11430000" cy="369332"/>
          </a:xfrm>
          <a:prstGeom prst="rect">
            <a:avLst/>
          </a:prstGeom>
          <a:noFill/>
        </p:spPr>
        <p:txBody>
          <a:bodyPr wrap="square">
            <a:spAutoFit/>
          </a:bodyPr>
          <a:lstStyle/>
          <a:p>
            <a:pPr algn="ctr"/>
            <a:r>
              <a:rPr b="0" i="0" dirty="0" smtClean="0">
                <a:solidFill>
                  <a:srgbClr val="94A3B8"/>
                </a:solidFill>
              </a:rPr>
              <a:t>Yoga-Do</a:t>
            </a:r>
            <a:r>
              <a:rPr lang="en-US" b="0" i="0" dirty="0" smtClean="0">
                <a:solidFill>
                  <a:srgbClr val="94A3B8"/>
                </a:solidFill>
              </a:rPr>
              <a:t> - </a:t>
            </a:r>
            <a:r>
              <a:rPr b="0" i="0" dirty="0" smtClean="0">
                <a:solidFill>
                  <a:srgbClr val="94A3B8"/>
                </a:solidFill>
              </a:rPr>
              <a:t>A </a:t>
            </a:r>
            <a:r>
              <a:rPr b="0" i="0" dirty="0">
                <a:solidFill>
                  <a:srgbClr val="94A3B8"/>
                </a:solidFill>
              </a:rPr>
              <a:t>complete, modern solution</a:t>
            </a:r>
          </a:p>
        </p:txBody>
      </p:sp>
      <p:sp>
        <p:nvSpPr>
          <p:cNvPr id="7" name="Rectangle 6"/>
          <p:cNvSpPr/>
          <p:nvPr/>
        </p:nvSpPr>
        <p:spPr>
          <a:xfrm>
            <a:off x="256032" y="1926890"/>
            <a:ext cx="5687568" cy="1225296"/>
          </a:xfrm>
          <a:prstGeom prst="rect">
            <a:avLst/>
          </a:prstGeom>
          <a:solidFill>
            <a:srgbClr val="1E293B"/>
          </a:solidFill>
          <a:ln w="952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393192" y="2018330"/>
            <a:ext cx="5413248" cy="365760"/>
          </a:xfrm>
          <a:prstGeom prst="rect">
            <a:avLst/>
          </a:prstGeom>
          <a:noFill/>
        </p:spPr>
        <p:txBody>
          <a:bodyPr wrap="square">
            <a:spAutoFit/>
          </a:bodyPr>
          <a:lstStyle/>
          <a:p>
            <a:pPr algn="l"/>
            <a:r>
              <a:rPr sz="1300" b="1" i="0" dirty="0">
                <a:solidFill>
                  <a:srgbClr val="8B5CF6"/>
                </a:solidFill>
              </a:rPr>
              <a:t>📅  Calendar-First UI</a:t>
            </a:r>
          </a:p>
        </p:txBody>
      </p:sp>
      <p:sp>
        <p:nvSpPr>
          <p:cNvPr id="9" name="TextBox 8"/>
          <p:cNvSpPr txBox="1"/>
          <p:nvPr/>
        </p:nvSpPr>
        <p:spPr>
          <a:xfrm>
            <a:off x="393192" y="2438954"/>
            <a:ext cx="5413248" cy="658368"/>
          </a:xfrm>
          <a:prstGeom prst="rect">
            <a:avLst/>
          </a:prstGeom>
          <a:noFill/>
        </p:spPr>
        <p:txBody>
          <a:bodyPr wrap="square">
            <a:spAutoFit/>
          </a:bodyPr>
          <a:lstStyle/>
          <a:p>
            <a:pPr algn="l"/>
            <a:r>
              <a:rPr sz="1100" b="0" i="0" dirty="0">
                <a:solidFill>
                  <a:srgbClr val="94A3B8"/>
                </a:solidFill>
              </a:rPr>
              <a:t>Month / Week / Day views with color-coded priorities. Click any slot to create a task instantly.</a:t>
            </a:r>
          </a:p>
        </p:txBody>
      </p:sp>
      <p:sp>
        <p:nvSpPr>
          <p:cNvPr id="10" name="Rectangle 9"/>
          <p:cNvSpPr/>
          <p:nvPr/>
        </p:nvSpPr>
        <p:spPr>
          <a:xfrm>
            <a:off x="6272784" y="1926890"/>
            <a:ext cx="5687568" cy="1225296"/>
          </a:xfrm>
          <a:prstGeom prst="rect">
            <a:avLst/>
          </a:prstGeom>
          <a:solidFill>
            <a:srgbClr val="1E293B"/>
          </a:solidFill>
          <a:ln w="9525">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TextBox 10"/>
          <p:cNvSpPr txBox="1"/>
          <p:nvPr/>
        </p:nvSpPr>
        <p:spPr>
          <a:xfrm>
            <a:off x="6409944" y="2018330"/>
            <a:ext cx="5413248" cy="365760"/>
          </a:xfrm>
          <a:prstGeom prst="rect">
            <a:avLst/>
          </a:prstGeom>
          <a:noFill/>
        </p:spPr>
        <p:txBody>
          <a:bodyPr wrap="square">
            <a:spAutoFit/>
          </a:bodyPr>
          <a:lstStyle/>
          <a:p>
            <a:pPr algn="l"/>
            <a:r>
              <a:rPr sz="1300" b="1" i="0" dirty="0">
                <a:solidFill>
                  <a:srgbClr val="60A5FA"/>
                </a:solidFill>
              </a:rPr>
              <a:t>🔁  Smart Recurring Tasks</a:t>
            </a:r>
          </a:p>
        </p:txBody>
      </p:sp>
      <p:sp>
        <p:nvSpPr>
          <p:cNvPr id="12" name="TextBox 11"/>
          <p:cNvSpPr txBox="1"/>
          <p:nvPr/>
        </p:nvSpPr>
        <p:spPr>
          <a:xfrm>
            <a:off x="6409944" y="2438954"/>
            <a:ext cx="5413248" cy="658368"/>
          </a:xfrm>
          <a:prstGeom prst="rect">
            <a:avLst/>
          </a:prstGeom>
          <a:noFill/>
        </p:spPr>
        <p:txBody>
          <a:bodyPr wrap="square">
            <a:spAutoFit/>
          </a:bodyPr>
          <a:lstStyle/>
          <a:p>
            <a:pPr algn="l"/>
            <a:r>
              <a:rPr sz="1100" b="0" i="0" dirty="0">
                <a:solidFill>
                  <a:srgbClr val="94A3B8"/>
                </a:solidFill>
              </a:rPr>
              <a:t>RRULE engine: Daily or Weekly recurrence. Edit a single occurrence or the entire series independently.</a:t>
            </a:r>
          </a:p>
        </p:txBody>
      </p:sp>
      <p:sp>
        <p:nvSpPr>
          <p:cNvPr id="13" name="Rectangle 12"/>
          <p:cNvSpPr/>
          <p:nvPr/>
        </p:nvSpPr>
        <p:spPr>
          <a:xfrm>
            <a:off x="256032" y="3298490"/>
            <a:ext cx="5687568" cy="1225296"/>
          </a:xfrm>
          <a:prstGeom prst="rect">
            <a:avLst/>
          </a:prstGeom>
          <a:solidFill>
            <a:srgbClr val="1E293B"/>
          </a:solidFill>
          <a:ln w="9525">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 name="TextBox 13"/>
          <p:cNvSpPr txBox="1"/>
          <p:nvPr/>
        </p:nvSpPr>
        <p:spPr>
          <a:xfrm>
            <a:off x="393192" y="3389930"/>
            <a:ext cx="5413248" cy="365760"/>
          </a:xfrm>
          <a:prstGeom prst="rect">
            <a:avLst/>
          </a:prstGeom>
          <a:noFill/>
        </p:spPr>
        <p:txBody>
          <a:bodyPr wrap="square">
            <a:spAutoFit/>
          </a:bodyPr>
          <a:lstStyle/>
          <a:p>
            <a:pPr algn="l"/>
            <a:r>
              <a:rPr sz="1300" b="1" i="0" dirty="0">
                <a:solidFill>
                  <a:srgbClr val="4ADE80"/>
                </a:solidFill>
              </a:rPr>
              <a:t>📊  Analytics Dashboard</a:t>
            </a:r>
          </a:p>
        </p:txBody>
      </p:sp>
      <p:sp>
        <p:nvSpPr>
          <p:cNvPr id="15" name="TextBox 14"/>
          <p:cNvSpPr txBox="1"/>
          <p:nvPr/>
        </p:nvSpPr>
        <p:spPr>
          <a:xfrm>
            <a:off x="393192" y="3810554"/>
            <a:ext cx="5413248" cy="658368"/>
          </a:xfrm>
          <a:prstGeom prst="rect">
            <a:avLst/>
          </a:prstGeom>
          <a:noFill/>
        </p:spPr>
        <p:txBody>
          <a:bodyPr wrap="square">
            <a:spAutoFit/>
          </a:bodyPr>
          <a:lstStyle/>
          <a:p>
            <a:pPr algn="l"/>
            <a:r>
              <a:rPr sz="1100" b="0" i="0" dirty="0">
                <a:solidFill>
                  <a:srgbClr val="94A3B8"/>
                </a:solidFill>
              </a:rPr>
              <a:t>Real-time stats: completion %, task counts (today/week/month), and consecutive-day productivity streak.</a:t>
            </a:r>
          </a:p>
        </p:txBody>
      </p:sp>
      <p:sp>
        <p:nvSpPr>
          <p:cNvPr id="16" name="Rectangle 15"/>
          <p:cNvSpPr/>
          <p:nvPr/>
        </p:nvSpPr>
        <p:spPr>
          <a:xfrm>
            <a:off x="6272784" y="3298490"/>
            <a:ext cx="5687568" cy="1225296"/>
          </a:xfrm>
          <a:prstGeom prst="rect">
            <a:avLst/>
          </a:prstGeom>
          <a:solidFill>
            <a:srgbClr val="1E293B"/>
          </a:solidFill>
          <a:ln w="9525">
            <a:solidFill>
              <a:srgbClr val="FB92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7" name="TextBox 16"/>
          <p:cNvSpPr txBox="1"/>
          <p:nvPr/>
        </p:nvSpPr>
        <p:spPr>
          <a:xfrm>
            <a:off x="6409944" y="3389930"/>
            <a:ext cx="5413248" cy="365760"/>
          </a:xfrm>
          <a:prstGeom prst="rect">
            <a:avLst/>
          </a:prstGeom>
          <a:noFill/>
        </p:spPr>
        <p:txBody>
          <a:bodyPr wrap="square">
            <a:spAutoFit/>
          </a:bodyPr>
          <a:lstStyle/>
          <a:p>
            <a:pPr algn="l"/>
            <a:r>
              <a:rPr sz="1300" b="1" i="0" dirty="0">
                <a:solidFill>
                  <a:srgbClr val="FB923B"/>
                </a:solidFill>
              </a:rPr>
              <a:t>⏱   Focus Timer (Pomodoro)</a:t>
            </a:r>
          </a:p>
        </p:txBody>
      </p:sp>
      <p:sp>
        <p:nvSpPr>
          <p:cNvPr id="18" name="TextBox 17"/>
          <p:cNvSpPr txBox="1"/>
          <p:nvPr/>
        </p:nvSpPr>
        <p:spPr>
          <a:xfrm>
            <a:off x="6409944" y="3810554"/>
            <a:ext cx="5413248" cy="658368"/>
          </a:xfrm>
          <a:prstGeom prst="rect">
            <a:avLst/>
          </a:prstGeom>
          <a:noFill/>
        </p:spPr>
        <p:txBody>
          <a:bodyPr wrap="square">
            <a:spAutoFit/>
          </a:bodyPr>
          <a:lstStyle/>
          <a:p>
            <a:pPr algn="l"/>
            <a:r>
              <a:rPr sz="1100" b="0" i="0" dirty="0">
                <a:solidFill>
                  <a:srgbClr val="94A3B8"/>
                </a:solidFill>
              </a:rPr>
              <a:t>25-min work / 5-min break cycles. Timer floats over the app — toggle show/hide from the nav bar.</a:t>
            </a:r>
          </a:p>
        </p:txBody>
      </p:sp>
      <p:sp>
        <p:nvSpPr>
          <p:cNvPr id="19" name="Rectangle 18"/>
          <p:cNvSpPr/>
          <p:nvPr/>
        </p:nvSpPr>
        <p:spPr>
          <a:xfrm>
            <a:off x="256032" y="4670090"/>
            <a:ext cx="5687568" cy="1225296"/>
          </a:xfrm>
          <a:prstGeom prst="rect">
            <a:avLst/>
          </a:prstGeom>
          <a:solidFill>
            <a:srgbClr val="1E293B"/>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0" name="TextBox 19"/>
          <p:cNvSpPr txBox="1"/>
          <p:nvPr/>
        </p:nvSpPr>
        <p:spPr>
          <a:xfrm>
            <a:off x="393192" y="4761529"/>
            <a:ext cx="5413248" cy="365760"/>
          </a:xfrm>
          <a:prstGeom prst="rect">
            <a:avLst/>
          </a:prstGeom>
          <a:noFill/>
        </p:spPr>
        <p:txBody>
          <a:bodyPr wrap="square">
            <a:spAutoFit/>
          </a:bodyPr>
          <a:lstStyle/>
          <a:p>
            <a:pPr algn="l"/>
            <a:r>
              <a:rPr sz="1300" b="1" i="0" dirty="0">
                <a:solidFill>
                  <a:srgbClr val="2DD4BF"/>
                </a:solidFill>
              </a:rPr>
              <a:t>🔒  Secure Authentication</a:t>
            </a:r>
          </a:p>
        </p:txBody>
      </p:sp>
      <p:sp>
        <p:nvSpPr>
          <p:cNvPr id="21" name="TextBox 20"/>
          <p:cNvSpPr txBox="1"/>
          <p:nvPr/>
        </p:nvSpPr>
        <p:spPr>
          <a:xfrm>
            <a:off x="393192" y="5182154"/>
            <a:ext cx="5413248" cy="658368"/>
          </a:xfrm>
          <a:prstGeom prst="rect">
            <a:avLst/>
          </a:prstGeom>
          <a:noFill/>
        </p:spPr>
        <p:txBody>
          <a:bodyPr wrap="square">
            <a:spAutoFit/>
          </a:bodyPr>
          <a:lstStyle/>
          <a:p>
            <a:pPr algn="l"/>
            <a:r>
              <a:rPr sz="1100" b="0" i="0" dirty="0">
                <a:solidFill>
                  <a:srgbClr val="94A3B8"/>
                </a:solidFill>
              </a:rPr>
              <a:t>Django Session Auth + CSRF Token. Login persists across sessions. Logout clears session server-side.</a:t>
            </a:r>
          </a:p>
        </p:txBody>
      </p:sp>
      <p:sp>
        <p:nvSpPr>
          <p:cNvPr id="22" name="Rectangle 21"/>
          <p:cNvSpPr/>
          <p:nvPr/>
        </p:nvSpPr>
        <p:spPr>
          <a:xfrm>
            <a:off x="6272784" y="4670090"/>
            <a:ext cx="5687568" cy="1225296"/>
          </a:xfrm>
          <a:prstGeom prst="rect">
            <a:avLst/>
          </a:prstGeom>
          <a:solidFill>
            <a:srgbClr val="1E293B"/>
          </a:solidFill>
          <a:ln w="9525">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3" name="TextBox 22"/>
          <p:cNvSpPr txBox="1"/>
          <p:nvPr/>
        </p:nvSpPr>
        <p:spPr>
          <a:xfrm>
            <a:off x="6409944" y="4761529"/>
            <a:ext cx="5413248" cy="365760"/>
          </a:xfrm>
          <a:prstGeom prst="rect">
            <a:avLst/>
          </a:prstGeom>
          <a:noFill/>
        </p:spPr>
        <p:txBody>
          <a:bodyPr wrap="square">
            <a:spAutoFit/>
          </a:bodyPr>
          <a:lstStyle/>
          <a:p>
            <a:pPr algn="l"/>
            <a:r>
              <a:rPr sz="1300" b="1" i="0" dirty="0">
                <a:solidFill>
                  <a:srgbClr val="6366F1"/>
                </a:solidFill>
              </a:rPr>
              <a:t>🐳  Full DevOps Pipeline</a:t>
            </a:r>
          </a:p>
        </p:txBody>
      </p:sp>
      <p:sp>
        <p:nvSpPr>
          <p:cNvPr id="24" name="TextBox 23"/>
          <p:cNvSpPr txBox="1"/>
          <p:nvPr/>
        </p:nvSpPr>
        <p:spPr>
          <a:xfrm>
            <a:off x="6409944" y="5182154"/>
            <a:ext cx="5413248" cy="658368"/>
          </a:xfrm>
          <a:prstGeom prst="rect">
            <a:avLst/>
          </a:prstGeom>
          <a:noFill/>
        </p:spPr>
        <p:txBody>
          <a:bodyPr wrap="square">
            <a:spAutoFit/>
          </a:bodyPr>
          <a:lstStyle/>
          <a:p>
            <a:pPr algn="l"/>
            <a:r>
              <a:rPr sz="1100" b="0" i="0" dirty="0">
                <a:solidFill>
                  <a:srgbClr val="94A3B8"/>
                </a:solidFill>
              </a:rPr>
              <a:t>GitHub Actions CI runs backend + E2E tests, builds Docker image, and deploys to Render + Vercel.</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91440" cy="1051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82880" y="987552"/>
            <a:ext cx="1197864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256032" y="91440"/>
            <a:ext cx="11430000" cy="646331"/>
          </a:xfrm>
          <a:prstGeom prst="rect">
            <a:avLst/>
          </a:prstGeom>
          <a:noFill/>
        </p:spPr>
        <p:txBody>
          <a:bodyPr wrap="square">
            <a:spAutoFit/>
          </a:bodyPr>
          <a:lstStyle/>
          <a:p>
            <a:pPr algn="ctr"/>
            <a:r>
              <a:rPr sz="3600" b="1" i="0" dirty="0">
                <a:solidFill>
                  <a:srgbClr val="FFFFFF"/>
                </a:solidFill>
              </a:rPr>
              <a:t>Software &amp; Hardware Requirements</a:t>
            </a:r>
          </a:p>
        </p:txBody>
      </p:sp>
      <p:sp>
        <p:nvSpPr>
          <p:cNvPr id="6" name="TextBox 5"/>
          <p:cNvSpPr txBox="1"/>
          <p:nvPr/>
        </p:nvSpPr>
        <p:spPr>
          <a:xfrm>
            <a:off x="256032" y="1170432"/>
            <a:ext cx="5943600" cy="369332"/>
          </a:xfrm>
          <a:prstGeom prst="rect">
            <a:avLst/>
          </a:prstGeom>
          <a:noFill/>
        </p:spPr>
        <p:txBody>
          <a:bodyPr wrap="square">
            <a:spAutoFit/>
          </a:bodyPr>
          <a:lstStyle/>
          <a:p>
            <a:pPr algn="ctr"/>
            <a:r>
              <a:rPr b="1" i="0" dirty="0">
                <a:solidFill>
                  <a:srgbClr val="8B5CF6"/>
                </a:solidFill>
              </a:rPr>
              <a:t>Software Requirements</a:t>
            </a:r>
          </a:p>
        </p:txBody>
      </p:sp>
      <p:sp>
        <p:nvSpPr>
          <p:cNvPr id="7" name="Rectangle 6"/>
          <p:cNvSpPr/>
          <p:nvPr/>
        </p:nvSpPr>
        <p:spPr>
          <a:xfrm>
            <a:off x="256032" y="1572768"/>
            <a:ext cx="5943600" cy="53035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a:xfrm>
            <a:off x="256032" y="1572768"/>
            <a:ext cx="73152" cy="530352"/>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420624" y="1655064"/>
            <a:ext cx="1645920" cy="329184"/>
          </a:xfrm>
          <a:prstGeom prst="rect">
            <a:avLst/>
          </a:prstGeom>
          <a:noFill/>
        </p:spPr>
        <p:txBody>
          <a:bodyPr wrap="square">
            <a:spAutoFit/>
          </a:bodyPr>
          <a:lstStyle/>
          <a:p>
            <a:pPr algn="l"/>
            <a:r>
              <a:rPr sz="1100" b="1" i="0" dirty="0">
                <a:solidFill>
                  <a:srgbClr val="60A5FA"/>
                </a:solidFill>
              </a:rPr>
              <a:t>Frontend</a:t>
            </a:r>
          </a:p>
        </p:txBody>
      </p:sp>
      <p:sp>
        <p:nvSpPr>
          <p:cNvPr id="10" name="TextBox 9"/>
          <p:cNvSpPr txBox="1"/>
          <p:nvPr/>
        </p:nvSpPr>
        <p:spPr>
          <a:xfrm>
            <a:off x="2084831" y="1655064"/>
            <a:ext cx="4005072" cy="329184"/>
          </a:xfrm>
          <a:prstGeom prst="rect">
            <a:avLst/>
          </a:prstGeom>
          <a:noFill/>
        </p:spPr>
        <p:txBody>
          <a:bodyPr wrap="square">
            <a:spAutoFit/>
          </a:bodyPr>
          <a:lstStyle/>
          <a:p>
            <a:pPr algn="l"/>
            <a:r>
              <a:rPr sz="1100" b="0" i="0" dirty="0">
                <a:solidFill>
                  <a:srgbClr val="FFFFFF"/>
                </a:solidFill>
              </a:rPr>
              <a:t>React 18, TypeScript, Tailwind CSS, Vite</a:t>
            </a:r>
          </a:p>
        </p:txBody>
      </p:sp>
      <p:sp>
        <p:nvSpPr>
          <p:cNvPr id="11" name="Rectangle 10"/>
          <p:cNvSpPr/>
          <p:nvPr/>
        </p:nvSpPr>
        <p:spPr>
          <a:xfrm>
            <a:off x="256032" y="2176272"/>
            <a:ext cx="5943600" cy="5303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a:xfrm>
            <a:off x="256032" y="2176272"/>
            <a:ext cx="73152" cy="530352"/>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TextBox 12"/>
          <p:cNvSpPr txBox="1"/>
          <p:nvPr/>
        </p:nvSpPr>
        <p:spPr>
          <a:xfrm>
            <a:off x="420624" y="2258568"/>
            <a:ext cx="1645920" cy="329184"/>
          </a:xfrm>
          <a:prstGeom prst="rect">
            <a:avLst/>
          </a:prstGeom>
          <a:noFill/>
        </p:spPr>
        <p:txBody>
          <a:bodyPr wrap="square">
            <a:spAutoFit/>
          </a:bodyPr>
          <a:lstStyle/>
          <a:p>
            <a:pPr algn="l"/>
            <a:r>
              <a:rPr sz="1100" b="1" i="0" dirty="0">
                <a:solidFill>
                  <a:srgbClr val="4ADE80"/>
                </a:solidFill>
              </a:rPr>
              <a:t>Backend</a:t>
            </a:r>
          </a:p>
        </p:txBody>
      </p:sp>
      <p:sp>
        <p:nvSpPr>
          <p:cNvPr id="14" name="TextBox 13"/>
          <p:cNvSpPr txBox="1"/>
          <p:nvPr/>
        </p:nvSpPr>
        <p:spPr>
          <a:xfrm>
            <a:off x="2084831" y="2258568"/>
            <a:ext cx="4005072" cy="329184"/>
          </a:xfrm>
          <a:prstGeom prst="rect">
            <a:avLst/>
          </a:prstGeom>
          <a:noFill/>
        </p:spPr>
        <p:txBody>
          <a:bodyPr wrap="square">
            <a:spAutoFit/>
          </a:bodyPr>
          <a:lstStyle/>
          <a:p>
            <a:pPr algn="l"/>
            <a:r>
              <a:rPr sz="1100" b="0" i="0" dirty="0">
                <a:solidFill>
                  <a:srgbClr val="FFFFFF"/>
                </a:solidFill>
              </a:rPr>
              <a:t>Django 4.x, Django REST Framework, python-dateutil</a:t>
            </a:r>
          </a:p>
        </p:txBody>
      </p:sp>
      <p:sp>
        <p:nvSpPr>
          <p:cNvPr id="15" name="Rectangle 14"/>
          <p:cNvSpPr/>
          <p:nvPr/>
        </p:nvSpPr>
        <p:spPr>
          <a:xfrm>
            <a:off x="256032" y="2779776"/>
            <a:ext cx="5943600" cy="53035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6" name="Rectangle 15"/>
          <p:cNvSpPr/>
          <p:nvPr/>
        </p:nvSpPr>
        <p:spPr>
          <a:xfrm>
            <a:off x="256032" y="2779776"/>
            <a:ext cx="73152" cy="530352"/>
          </a:xfrm>
          <a:prstGeom prst="rect">
            <a:avLst/>
          </a:prstGeom>
          <a:solidFill>
            <a:srgbClr val="FB9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7" name="TextBox 16"/>
          <p:cNvSpPr txBox="1"/>
          <p:nvPr/>
        </p:nvSpPr>
        <p:spPr>
          <a:xfrm>
            <a:off x="420624" y="2862072"/>
            <a:ext cx="1645920" cy="329184"/>
          </a:xfrm>
          <a:prstGeom prst="rect">
            <a:avLst/>
          </a:prstGeom>
          <a:noFill/>
        </p:spPr>
        <p:txBody>
          <a:bodyPr wrap="square">
            <a:spAutoFit/>
          </a:bodyPr>
          <a:lstStyle/>
          <a:p>
            <a:pPr algn="l"/>
            <a:r>
              <a:rPr sz="1100" b="1" i="0" dirty="0">
                <a:solidFill>
                  <a:srgbClr val="FB923B"/>
                </a:solidFill>
              </a:rPr>
              <a:t>Database</a:t>
            </a:r>
          </a:p>
        </p:txBody>
      </p:sp>
      <p:sp>
        <p:nvSpPr>
          <p:cNvPr id="18" name="TextBox 17"/>
          <p:cNvSpPr txBox="1"/>
          <p:nvPr/>
        </p:nvSpPr>
        <p:spPr>
          <a:xfrm>
            <a:off x="2084831" y="2862072"/>
            <a:ext cx="4005072" cy="329184"/>
          </a:xfrm>
          <a:prstGeom prst="rect">
            <a:avLst/>
          </a:prstGeom>
          <a:noFill/>
        </p:spPr>
        <p:txBody>
          <a:bodyPr wrap="square">
            <a:spAutoFit/>
          </a:bodyPr>
          <a:lstStyle/>
          <a:p>
            <a:pPr algn="l"/>
            <a:r>
              <a:rPr sz="1100" b="0" i="0" dirty="0">
                <a:solidFill>
                  <a:srgbClr val="FFFFFF"/>
                </a:solidFill>
              </a:rPr>
              <a:t>SQLite 3 (POC)  →  PostgreSQL (Production)</a:t>
            </a:r>
          </a:p>
        </p:txBody>
      </p:sp>
      <p:sp>
        <p:nvSpPr>
          <p:cNvPr id="19" name="Rectangle 18"/>
          <p:cNvSpPr/>
          <p:nvPr/>
        </p:nvSpPr>
        <p:spPr>
          <a:xfrm>
            <a:off x="256032" y="3383280"/>
            <a:ext cx="5943600" cy="5303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0" name="Rectangle 19"/>
          <p:cNvSpPr/>
          <p:nvPr/>
        </p:nvSpPr>
        <p:spPr>
          <a:xfrm>
            <a:off x="256032" y="3383280"/>
            <a:ext cx="73152" cy="530352"/>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1" name="TextBox 20"/>
          <p:cNvSpPr txBox="1"/>
          <p:nvPr/>
        </p:nvSpPr>
        <p:spPr>
          <a:xfrm>
            <a:off x="420624" y="3465576"/>
            <a:ext cx="1645920" cy="329184"/>
          </a:xfrm>
          <a:prstGeom prst="rect">
            <a:avLst/>
          </a:prstGeom>
          <a:noFill/>
        </p:spPr>
        <p:txBody>
          <a:bodyPr wrap="square">
            <a:spAutoFit/>
          </a:bodyPr>
          <a:lstStyle/>
          <a:p>
            <a:pPr algn="l"/>
            <a:r>
              <a:rPr sz="1100" b="1" i="0" dirty="0">
                <a:solidFill>
                  <a:srgbClr val="2DD4BF"/>
                </a:solidFill>
              </a:rPr>
              <a:t>Authentication</a:t>
            </a:r>
          </a:p>
        </p:txBody>
      </p:sp>
      <p:sp>
        <p:nvSpPr>
          <p:cNvPr id="22" name="TextBox 21"/>
          <p:cNvSpPr txBox="1"/>
          <p:nvPr/>
        </p:nvSpPr>
        <p:spPr>
          <a:xfrm>
            <a:off x="2084831" y="3465576"/>
            <a:ext cx="4005072" cy="329184"/>
          </a:xfrm>
          <a:prstGeom prst="rect">
            <a:avLst/>
          </a:prstGeom>
          <a:noFill/>
        </p:spPr>
        <p:txBody>
          <a:bodyPr wrap="square">
            <a:spAutoFit/>
          </a:bodyPr>
          <a:lstStyle/>
          <a:p>
            <a:pPr algn="l"/>
            <a:r>
              <a:rPr sz="1100" b="0" i="0" dirty="0">
                <a:solidFill>
                  <a:srgbClr val="FFFFFF"/>
                </a:solidFill>
              </a:rPr>
              <a:t>Session Auth, CSRF Middleware, secure cookie flags</a:t>
            </a:r>
          </a:p>
        </p:txBody>
      </p:sp>
      <p:sp>
        <p:nvSpPr>
          <p:cNvPr id="23" name="Rectangle 22"/>
          <p:cNvSpPr/>
          <p:nvPr/>
        </p:nvSpPr>
        <p:spPr>
          <a:xfrm>
            <a:off x="256032" y="3986784"/>
            <a:ext cx="5943600" cy="53035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4" name="Rectangle 23"/>
          <p:cNvSpPr/>
          <p:nvPr/>
        </p:nvSpPr>
        <p:spPr>
          <a:xfrm>
            <a:off x="256032" y="3986784"/>
            <a:ext cx="73152" cy="5303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5" name="TextBox 24"/>
          <p:cNvSpPr txBox="1"/>
          <p:nvPr/>
        </p:nvSpPr>
        <p:spPr>
          <a:xfrm>
            <a:off x="420624" y="4069080"/>
            <a:ext cx="1645920" cy="329184"/>
          </a:xfrm>
          <a:prstGeom prst="rect">
            <a:avLst/>
          </a:prstGeom>
          <a:noFill/>
        </p:spPr>
        <p:txBody>
          <a:bodyPr wrap="square">
            <a:spAutoFit/>
          </a:bodyPr>
          <a:lstStyle/>
          <a:p>
            <a:pPr algn="l"/>
            <a:r>
              <a:rPr sz="1100" b="1" i="0" dirty="0">
                <a:solidFill>
                  <a:srgbClr val="8B5CF6"/>
                </a:solidFill>
              </a:rPr>
              <a:t>DevOps</a:t>
            </a:r>
          </a:p>
        </p:txBody>
      </p:sp>
      <p:sp>
        <p:nvSpPr>
          <p:cNvPr id="26" name="TextBox 25"/>
          <p:cNvSpPr txBox="1"/>
          <p:nvPr/>
        </p:nvSpPr>
        <p:spPr>
          <a:xfrm>
            <a:off x="2084831" y="4069080"/>
            <a:ext cx="4005072" cy="329184"/>
          </a:xfrm>
          <a:prstGeom prst="rect">
            <a:avLst/>
          </a:prstGeom>
          <a:noFill/>
        </p:spPr>
        <p:txBody>
          <a:bodyPr wrap="square">
            <a:spAutoFit/>
          </a:bodyPr>
          <a:lstStyle/>
          <a:p>
            <a:pPr algn="l"/>
            <a:r>
              <a:rPr sz="1100" b="0" i="0" dirty="0">
                <a:solidFill>
                  <a:srgbClr val="FFFFFF"/>
                </a:solidFill>
              </a:rPr>
              <a:t>Docker, GitHub Actions CI/CD, Render, Vercel</a:t>
            </a:r>
          </a:p>
        </p:txBody>
      </p:sp>
      <p:sp>
        <p:nvSpPr>
          <p:cNvPr id="27" name="Rectangle 26"/>
          <p:cNvSpPr/>
          <p:nvPr/>
        </p:nvSpPr>
        <p:spPr>
          <a:xfrm>
            <a:off x="256032" y="4590288"/>
            <a:ext cx="5943600" cy="5303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8" name="Rectangle 27"/>
          <p:cNvSpPr/>
          <p:nvPr/>
        </p:nvSpPr>
        <p:spPr>
          <a:xfrm>
            <a:off x="256032" y="4590288"/>
            <a:ext cx="73152" cy="5303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9" name="TextBox 28"/>
          <p:cNvSpPr txBox="1"/>
          <p:nvPr/>
        </p:nvSpPr>
        <p:spPr>
          <a:xfrm>
            <a:off x="420624" y="4672584"/>
            <a:ext cx="1645920" cy="329184"/>
          </a:xfrm>
          <a:prstGeom prst="rect">
            <a:avLst/>
          </a:prstGeom>
          <a:noFill/>
        </p:spPr>
        <p:txBody>
          <a:bodyPr wrap="square">
            <a:spAutoFit/>
          </a:bodyPr>
          <a:lstStyle/>
          <a:p>
            <a:pPr algn="l"/>
            <a:r>
              <a:rPr sz="1100" b="1" i="0" dirty="0">
                <a:solidFill>
                  <a:srgbClr val="FBBF24"/>
                </a:solidFill>
              </a:rPr>
              <a:t>Testing</a:t>
            </a:r>
          </a:p>
        </p:txBody>
      </p:sp>
      <p:sp>
        <p:nvSpPr>
          <p:cNvPr id="30" name="TextBox 29"/>
          <p:cNvSpPr txBox="1"/>
          <p:nvPr/>
        </p:nvSpPr>
        <p:spPr>
          <a:xfrm>
            <a:off x="2084831" y="4672584"/>
            <a:ext cx="4005072" cy="329184"/>
          </a:xfrm>
          <a:prstGeom prst="rect">
            <a:avLst/>
          </a:prstGeom>
          <a:noFill/>
        </p:spPr>
        <p:txBody>
          <a:bodyPr wrap="square">
            <a:spAutoFit/>
          </a:bodyPr>
          <a:lstStyle/>
          <a:p>
            <a:pPr algn="l"/>
            <a:r>
              <a:rPr sz="1100" b="0" i="0" dirty="0">
                <a:solidFill>
                  <a:srgbClr val="FFFFFF"/>
                </a:solidFill>
              </a:rPr>
              <a:t>Django TestCase (unit) + Playwright (E2E tests)</a:t>
            </a:r>
          </a:p>
        </p:txBody>
      </p:sp>
      <p:sp>
        <p:nvSpPr>
          <p:cNvPr id="31" name="Rectangle 30"/>
          <p:cNvSpPr/>
          <p:nvPr/>
        </p:nvSpPr>
        <p:spPr>
          <a:xfrm>
            <a:off x="256032" y="5193792"/>
            <a:ext cx="5943600" cy="53035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2" name="Rectangle 31"/>
          <p:cNvSpPr/>
          <p:nvPr/>
        </p:nvSpPr>
        <p:spPr>
          <a:xfrm>
            <a:off x="256032" y="5193792"/>
            <a:ext cx="73152" cy="53035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3" name="TextBox 32"/>
          <p:cNvSpPr txBox="1"/>
          <p:nvPr/>
        </p:nvSpPr>
        <p:spPr>
          <a:xfrm>
            <a:off x="420624" y="5276088"/>
            <a:ext cx="1645920" cy="329184"/>
          </a:xfrm>
          <a:prstGeom prst="rect">
            <a:avLst/>
          </a:prstGeom>
          <a:noFill/>
        </p:spPr>
        <p:txBody>
          <a:bodyPr wrap="square">
            <a:spAutoFit/>
          </a:bodyPr>
          <a:lstStyle/>
          <a:p>
            <a:pPr algn="l"/>
            <a:r>
              <a:rPr sz="1100" b="1" i="0" dirty="0">
                <a:solidFill>
                  <a:srgbClr val="94A3B8"/>
                </a:solidFill>
              </a:rPr>
              <a:t>Version Control</a:t>
            </a:r>
          </a:p>
        </p:txBody>
      </p:sp>
      <p:sp>
        <p:nvSpPr>
          <p:cNvPr id="34" name="TextBox 33"/>
          <p:cNvSpPr txBox="1"/>
          <p:nvPr/>
        </p:nvSpPr>
        <p:spPr>
          <a:xfrm>
            <a:off x="2084831" y="5276088"/>
            <a:ext cx="4005072" cy="329184"/>
          </a:xfrm>
          <a:prstGeom prst="rect">
            <a:avLst/>
          </a:prstGeom>
          <a:noFill/>
        </p:spPr>
        <p:txBody>
          <a:bodyPr wrap="square">
            <a:spAutoFit/>
          </a:bodyPr>
          <a:lstStyle/>
          <a:p>
            <a:pPr algn="l"/>
            <a:r>
              <a:rPr sz="1100" b="0" i="0" dirty="0">
                <a:solidFill>
                  <a:srgbClr val="FFFFFF"/>
                </a:solidFill>
              </a:rPr>
              <a:t>Git, GitHub (public repository)</a:t>
            </a:r>
          </a:p>
        </p:txBody>
      </p:sp>
      <p:sp>
        <p:nvSpPr>
          <p:cNvPr id="35" name="Rectangle 34"/>
          <p:cNvSpPr/>
          <p:nvPr/>
        </p:nvSpPr>
        <p:spPr>
          <a:xfrm>
            <a:off x="256032" y="5797296"/>
            <a:ext cx="5943600" cy="5303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6" name="Rectangle 35"/>
          <p:cNvSpPr/>
          <p:nvPr/>
        </p:nvSpPr>
        <p:spPr>
          <a:xfrm>
            <a:off x="256032" y="5797296"/>
            <a:ext cx="73152" cy="530352"/>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7" name="TextBox 36"/>
          <p:cNvSpPr txBox="1"/>
          <p:nvPr/>
        </p:nvSpPr>
        <p:spPr>
          <a:xfrm>
            <a:off x="420624" y="5879592"/>
            <a:ext cx="1645920" cy="329184"/>
          </a:xfrm>
          <a:prstGeom prst="rect">
            <a:avLst/>
          </a:prstGeom>
          <a:noFill/>
        </p:spPr>
        <p:txBody>
          <a:bodyPr wrap="square">
            <a:spAutoFit/>
          </a:bodyPr>
          <a:lstStyle/>
          <a:p>
            <a:pPr algn="l"/>
            <a:r>
              <a:rPr sz="1100" b="1" i="0" dirty="0">
                <a:solidFill>
                  <a:srgbClr val="60A5FA"/>
                </a:solidFill>
              </a:rPr>
              <a:t>Browser Support</a:t>
            </a:r>
          </a:p>
        </p:txBody>
      </p:sp>
      <p:sp>
        <p:nvSpPr>
          <p:cNvPr id="38" name="TextBox 37"/>
          <p:cNvSpPr txBox="1"/>
          <p:nvPr/>
        </p:nvSpPr>
        <p:spPr>
          <a:xfrm>
            <a:off x="2084831" y="5879592"/>
            <a:ext cx="4005072" cy="329184"/>
          </a:xfrm>
          <a:prstGeom prst="rect">
            <a:avLst/>
          </a:prstGeom>
          <a:noFill/>
        </p:spPr>
        <p:txBody>
          <a:bodyPr wrap="square">
            <a:spAutoFit/>
          </a:bodyPr>
          <a:lstStyle/>
          <a:p>
            <a:pPr algn="l"/>
            <a:r>
              <a:rPr sz="1100" b="0" i="0" dirty="0">
                <a:solidFill>
                  <a:srgbClr val="FFFFFF"/>
                </a:solidFill>
              </a:rPr>
              <a:t>Chrome, Firefox, Edge — latest versions</a:t>
            </a:r>
          </a:p>
        </p:txBody>
      </p:sp>
      <p:sp>
        <p:nvSpPr>
          <p:cNvPr id="39" name="TextBox 38"/>
          <p:cNvSpPr txBox="1"/>
          <p:nvPr/>
        </p:nvSpPr>
        <p:spPr>
          <a:xfrm>
            <a:off x="6537960" y="1170432"/>
            <a:ext cx="5349240" cy="369332"/>
          </a:xfrm>
          <a:prstGeom prst="rect">
            <a:avLst/>
          </a:prstGeom>
          <a:noFill/>
        </p:spPr>
        <p:txBody>
          <a:bodyPr wrap="square">
            <a:spAutoFit/>
          </a:bodyPr>
          <a:lstStyle/>
          <a:p>
            <a:pPr algn="ctr"/>
            <a:r>
              <a:rPr b="1" i="0" dirty="0">
                <a:solidFill>
                  <a:srgbClr val="60A5FA"/>
                </a:solidFill>
              </a:rPr>
              <a:t>Hardware Requirements</a:t>
            </a:r>
          </a:p>
        </p:txBody>
      </p:sp>
      <p:sp>
        <p:nvSpPr>
          <p:cNvPr id="40" name="TextBox 39"/>
          <p:cNvSpPr txBox="1"/>
          <p:nvPr/>
        </p:nvSpPr>
        <p:spPr>
          <a:xfrm>
            <a:off x="6537960" y="1572768"/>
            <a:ext cx="5349240" cy="310896"/>
          </a:xfrm>
          <a:prstGeom prst="rect">
            <a:avLst/>
          </a:prstGeom>
          <a:noFill/>
        </p:spPr>
        <p:txBody>
          <a:bodyPr wrap="square">
            <a:spAutoFit/>
          </a:bodyPr>
          <a:lstStyle/>
          <a:p>
            <a:pPr algn="l"/>
            <a:r>
              <a:rPr sz="1200" b="1" i="0" dirty="0">
                <a:solidFill>
                  <a:srgbClr val="60A5FA"/>
                </a:solidFill>
              </a:rPr>
              <a:t>Development Machine</a:t>
            </a:r>
          </a:p>
        </p:txBody>
      </p:sp>
      <p:sp>
        <p:nvSpPr>
          <p:cNvPr id="41" name="Rectangle 40"/>
          <p:cNvSpPr/>
          <p:nvPr/>
        </p:nvSpPr>
        <p:spPr>
          <a:xfrm>
            <a:off x="6537960" y="1920240"/>
            <a:ext cx="534924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2" name="TextBox 41"/>
          <p:cNvSpPr txBox="1"/>
          <p:nvPr/>
        </p:nvSpPr>
        <p:spPr>
          <a:xfrm>
            <a:off x="6656832" y="2002536"/>
            <a:ext cx="1389888" cy="310896"/>
          </a:xfrm>
          <a:prstGeom prst="rect">
            <a:avLst/>
          </a:prstGeom>
          <a:noFill/>
        </p:spPr>
        <p:txBody>
          <a:bodyPr wrap="square">
            <a:spAutoFit/>
          </a:bodyPr>
          <a:lstStyle/>
          <a:p>
            <a:pPr algn="l"/>
            <a:r>
              <a:rPr sz="1100" b="1" i="0" dirty="0">
                <a:solidFill>
                  <a:srgbClr val="94A3B8"/>
                </a:solidFill>
              </a:rPr>
              <a:t>Processor:</a:t>
            </a:r>
          </a:p>
        </p:txBody>
      </p:sp>
      <p:sp>
        <p:nvSpPr>
          <p:cNvPr id="43" name="TextBox 42"/>
          <p:cNvSpPr txBox="1"/>
          <p:nvPr/>
        </p:nvSpPr>
        <p:spPr>
          <a:xfrm>
            <a:off x="8065008" y="2002536"/>
            <a:ext cx="3749039" cy="310896"/>
          </a:xfrm>
          <a:prstGeom prst="rect">
            <a:avLst/>
          </a:prstGeom>
          <a:noFill/>
        </p:spPr>
        <p:txBody>
          <a:bodyPr wrap="square">
            <a:spAutoFit/>
          </a:bodyPr>
          <a:lstStyle/>
          <a:p>
            <a:pPr algn="l"/>
            <a:r>
              <a:rPr sz="1100" b="0" i="0" dirty="0">
                <a:solidFill>
                  <a:srgbClr val="FFFFFF"/>
                </a:solidFill>
              </a:rPr>
              <a:t>Intel Core i5 / AMD Ryzen 5 or higher</a:t>
            </a:r>
          </a:p>
        </p:txBody>
      </p:sp>
      <p:sp>
        <p:nvSpPr>
          <p:cNvPr id="44" name="Rectangle 43"/>
          <p:cNvSpPr/>
          <p:nvPr/>
        </p:nvSpPr>
        <p:spPr>
          <a:xfrm>
            <a:off x="6537960" y="2441448"/>
            <a:ext cx="5349240"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5" name="TextBox 44"/>
          <p:cNvSpPr txBox="1"/>
          <p:nvPr/>
        </p:nvSpPr>
        <p:spPr>
          <a:xfrm>
            <a:off x="6656832" y="2523744"/>
            <a:ext cx="1389888" cy="310896"/>
          </a:xfrm>
          <a:prstGeom prst="rect">
            <a:avLst/>
          </a:prstGeom>
          <a:noFill/>
        </p:spPr>
        <p:txBody>
          <a:bodyPr wrap="square">
            <a:spAutoFit/>
          </a:bodyPr>
          <a:lstStyle/>
          <a:p>
            <a:pPr algn="l"/>
            <a:r>
              <a:rPr sz="1100" b="1" i="0" dirty="0">
                <a:solidFill>
                  <a:srgbClr val="94A3B8"/>
                </a:solidFill>
              </a:rPr>
              <a:t>RAM:</a:t>
            </a:r>
          </a:p>
        </p:txBody>
      </p:sp>
      <p:sp>
        <p:nvSpPr>
          <p:cNvPr id="46" name="TextBox 45"/>
          <p:cNvSpPr txBox="1"/>
          <p:nvPr/>
        </p:nvSpPr>
        <p:spPr>
          <a:xfrm>
            <a:off x="8065008" y="2523744"/>
            <a:ext cx="3749039" cy="310896"/>
          </a:xfrm>
          <a:prstGeom prst="rect">
            <a:avLst/>
          </a:prstGeom>
          <a:noFill/>
        </p:spPr>
        <p:txBody>
          <a:bodyPr wrap="square">
            <a:spAutoFit/>
          </a:bodyPr>
          <a:lstStyle/>
          <a:p>
            <a:pPr algn="l"/>
            <a:r>
              <a:rPr sz="1100" b="0" i="0" dirty="0">
                <a:solidFill>
                  <a:srgbClr val="FFFFFF"/>
                </a:solidFill>
              </a:rPr>
              <a:t>8 GB minimum  (16 GB recommended)</a:t>
            </a:r>
          </a:p>
        </p:txBody>
      </p:sp>
      <p:sp>
        <p:nvSpPr>
          <p:cNvPr id="47" name="Rectangle 46"/>
          <p:cNvSpPr/>
          <p:nvPr/>
        </p:nvSpPr>
        <p:spPr>
          <a:xfrm>
            <a:off x="6537960" y="2962656"/>
            <a:ext cx="534924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8" name="TextBox 47"/>
          <p:cNvSpPr txBox="1"/>
          <p:nvPr/>
        </p:nvSpPr>
        <p:spPr>
          <a:xfrm>
            <a:off x="6656832" y="3044951"/>
            <a:ext cx="1389888" cy="310896"/>
          </a:xfrm>
          <a:prstGeom prst="rect">
            <a:avLst/>
          </a:prstGeom>
          <a:noFill/>
        </p:spPr>
        <p:txBody>
          <a:bodyPr wrap="square">
            <a:spAutoFit/>
          </a:bodyPr>
          <a:lstStyle/>
          <a:p>
            <a:pPr algn="l"/>
            <a:r>
              <a:rPr sz="1100" b="1" i="0" dirty="0">
                <a:solidFill>
                  <a:srgbClr val="94A3B8"/>
                </a:solidFill>
              </a:rPr>
              <a:t>Storage:</a:t>
            </a:r>
          </a:p>
        </p:txBody>
      </p:sp>
      <p:sp>
        <p:nvSpPr>
          <p:cNvPr id="49" name="TextBox 48"/>
          <p:cNvSpPr txBox="1"/>
          <p:nvPr/>
        </p:nvSpPr>
        <p:spPr>
          <a:xfrm>
            <a:off x="8065008" y="3044951"/>
            <a:ext cx="3749039" cy="310896"/>
          </a:xfrm>
          <a:prstGeom prst="rect">
            <a:avLst/>
          </a:prstGeom>
          <a:noFill/>
        </p:spPr>
        <p:txBody>
          <a:bodyPr wrap="square">
            <a:spAutoFit/>
          </a:bodyPr>
          <a:lstStyle/>
          <a:p>
            <a:pPr algn="l"/>
            <a:r>
              <a:rPr sz="1100" b="0" i="0" dirty="0">
                <a:solidFill>
                  <a:srgbClr val="FFFFFF"/>
                </a:solidFill>
              </a:rPr>
              <a:t>20 GB SSD free space</a:t>
            </a:r>
          </a:p>
        </p:txBody>
      </p:sp>
      <p:sp>
        <p:nvSpPr>
          <p:cNvPr id="50" name="Rectangle 49"/>
          <p:cNvSpPr/>
          <p:nvPr/>
        </p:nvSpPr>
        <p:spPr>
          <a:xfrm>
            <a:off x="6537960" y="3483863"/>
            <a:ext cx="5349240"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1" name="TextBox 50"/>
          <p:cNvSpPr txBox="1"/>
          <p:nvPr/>
        </p:nvSpPr>
        <p:spPr>
          <a:xfrm>
            <a:off x="6656832" y="3566159"/>
            <a:ext cx="1389888" cy="310896"/>
          </a:xfrm>
          <a:prstGeom prst="rect">
            <a:avLst/>
          </a:prstGeom>
          <a:noFill/>
        </p:spPr>
        <p:txBody>
          <a:bodyPr wrap="square">
            <a:spAutoFit/>
          </a:bodyPr>
          <a:lstStyle/>
          <a:p>
            <a:pPr algn="l"/>
            <a:r>
              <a:rPr sz="1100" b="1" i="0" dirty="0">
                <a:solidFill>
                  <a:srgbClr val="94A3B8"/>
                </a:solidFill>
              </a:rPr>
              <a:t>OS:</a:t>
            </a:r>
          </a:p>
        </p:txBody>
      </p:sp>
      <p:sp>
        <p:nvSpPr>
          <p:cNvPr id="52" name="TextBox 51"/>
          <p:cNvSpPr txBox="1"/>
          <p:nvPr/>
        </p:nvSpPr>
        <p:spPr>
          <a:xfrm>
            <a:off x="8065008" y="3566159"/>
            <a:ext cx="3749039" cy="310896"/>
          </a:xfrm>
          <a:prstGeom prst="rect">
            <a:avLst/>
          </a:prstGeom>
          <a:noFill/>
        </p:spPr>
        <p:txBody>
          <a:bodyPr wrap="square">
            <a:spAutoFit/>
          </a:bodyPr>
          <a:lstStyle/>
          <a:p>
            <a:pPr algn="l"/>
            <a:r>
              <a:rPr sz="1100" b="0" i="0" dirty="0">
                <a:solidFill>
                  <a:srgbClr val="FFFFFF"/>
                </a:solidFill>
              </a:rPr>
              <a:t>Windows 10/11, macOS, Ubuntu 20.04+</a:t>
            </a:r>
          </a:p>
        </p:txBody>
      </p:sp>
      <p:sp>
        <p:nvSpPr>
          <p:cNvPr id="53" name="Rectangle 52"/>
          <p:cNvSpPr/>
          <p:nvPr/>
        </p:nvSpPr>
        <p:spPr>
          <a:xfrm>
            <a:off x="6537960" y="4005072"/>
            <a:ext cx="534924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4" name="TextBox 53"/>
          <p:cNvSpPr txBox="1"/>
          <p:nvPr/>
        </p:nvSpPr>
        <p:spPr>
          <a:xfrm>
            <a:off x="6656832" y="4087368"/>
            <a:ext cx="1389888" cy="310896"/>
          </a:xfrm>
          <a:prstGeom prst="rect">
            <a:avLst/>
          </a:prstGeom>
          <a:noFill/>
        </p:spPr>
        <p:txBody>
          <a:bodyPr wrap="square">
            <a:spAutoFit/>
          </a:bodyPr>
          <a:lstStyle/>
          <a:p>
            <a:pPr algn="l"/>
            <a:r>
              <a:rPr sz="1100" b="1" i="0" dirty="0">
                <a:solidFill>
                  <a:srgbClr val="94A3B8"/>
                </a:solidFill>
              </a:rPr>
              <a:t>Browser:</a:t>
            </a:r>
          </a:p>
        </p:txBody>
      </p:sp>
      <p:sp>
        <p:nvSpPr>
          <p:cNvPr id="55" name="TextBox 54"/>
          <p:cNvSpPr txBox="1"/>
          <p:nvPr/>
        </p:nvSpPr>
        <p:spPr>
          <a:xfrm>
            <a:off x="8065008" y="4087368"/>
            <a:ext cx="3749039" cy="310896"/>
          </a:xfrm>
          <a:prstGeom prst="rect">
            <a:avLst/>
          </a:prstGeom>
          <a:noFill/>
        </p:spPr>
        <p:txBody>
          <a:bodyPr wrap="square">
            <a:spAutoFit/>
          </a:bodyPr>
          <a:lstStyle/>
          <a:p>
            <a:pPr algn="l"/>
            <a:r>
              <a:rPr sz="1100" b="0" i="0" dirty="0">
                <a:solidFill>
                  <a:srgbClr val="FFFFFF"/>
                </a:solidFill>
              </a:rPr>
              <a:t>Chrome or Firefox (latest)</a:t>
            </a:r>
          </a:p>
        </p:txBody>
      </p:sp>
      <p:sp>
        <p:nvSpPr>
          <p:cNvPr id="56" name="TextBox 55"/>
          <p:cNvSpPr txBox="1"/>
          <p:nvPr/>
        </p:nvSpPr>
        <p:spPr>
          <a:xfrm>
            <a:off x="6537960" y="4636008"/>
            <a:ext cx="5349240" cy="338554"/>
          </a:xfrm>
          <a:prstGeom prst="rect">
            <a:avLst/>
          </a:prstGeom>
          <a:noFill/>
        </p:spPr>
        <p:txBody>
          <a:bodyPr wrap="square">
            <a:spAutoFit/>
          </a:bodyPr>
          <a:lstStyle/>
          <a:p>
            <a:pPr algn="ctr"/>
            <a:r>
              <a:rPr sz="1600" b="1" i="0" dirty="0">
                <a:solidFill>
                  <a:srgbClr val="60A5FA"/>
                </a:solidFill>
              </a:rPr>
              <a:t>Cloud Server  (Render / EC2)</a:t>
            </a:r>
          </a:p>
        </p:txBody>
      </p:sp>
      <p:sp>
        <p:nvSpPr>
          <p:cNvPr id="57" name="Rectangle 56"/>
          <p:cNvSpPr/>
          <p:nvPr/>
        </p:nvSpPr>
        <p:spPr>
          <a:xfrm>
            <a:off x="6537960" y="4983480"/>
            <a:ext cx="534924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8" name="TextBox 57"/>
          <p:cNvSpPr txBox="1"/>
          <p:nvPr/>
        </p:nvSpPr>
        <p:spPr>
          <a:xfrm>
            <a:off x="6656832" y="5065776"/>
            <a:ext cx="1389888" cy="310896"/>
          </a:xfrm>
          <a:prstGeom prst="rect">
            <a:avLst/>
          </a:prstGeom>
          <a:noFill/>
        </p:spPr>
        <p:txBody>
          <a:bodyPr wrap="square">
            <a:spAutoFit/>
          </a:bodyPr>
          <a:lstStyle/>
          <a:p>
            <a:pPr algn="l"/>
            <a:r>
              <a:rPr sz="1100" b="1" i="0" dirty="0">
                <a:solidFill>
                  <a:srgbClr val="94A3B8"/>
                </a:solidFill>
              </a:rPr>
              <a:t>CPU:</a:t>
            </a:r>
          </a:p>
        </p:txBody>
      </p:sp>
      <p:sp>
        <p:nvSpPr>
          <p:cNvPr id="59" name="TextBox 58"/>
          <p:cNvSpPr txBox="1"/>
          <p:nvPr/>
        </p:nvSpPr>
        <p:spPr>
          <a:xfrm>
            <a:off x="8065008" y="5065776"/>
            <a:ext cx="3749039" cy="310896"/>
          </a:xfrm>
          <a:prstGeom prst="rect">
            <a:avLst/>
          </a:prstGeom>
          <a:noFill/>
        </p:spPr>
        <p:txBody>
          <a:bodyPr wrap="square">
            <a:spAutoFit/>
          </a:bodyPr>
          <a:lstStyle/>
          <a:p>
            <a:pPr algn="l"/>
            <a:r>
              <a:rPr sz="1100" b="0" i="0" dirty="0">
                <a:solidFill>
                  <a:srgbClr val="FFFFFF"/>
                </a:solidFill>
              </a:rPr>
              <a:t>1 vCPU, 512 MB RAM minimum</a:t>
            </a:r>
          </a:p>
        </p:txBody>
      </p:sp>
      <p:sp>
        <p:nvSpPr>
          <p:cNvPr id="60" name="Rectangle 59"/>
          <p:cNvSpPr/>
          <p:nvPr/>
        </p:nvSpPr>
        <p:spPr>
          <a:xfrm>
            <a:off x="6537960" y="5504688"/>
            <a:ext cx="5349240"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1" name="TextBox 60"/>
          <p:cNvSpPr txBox="1"/>
          <p:nvPr/>
        </p:nvSpPr>
        <p:spPr>
          <a:xfrm>
            <a:off x="6656832" y="5586984"/>
            <a:ext cx="1389888" cy="310896"/>
          </a:xfrm>
          <a:prstGeom prst="rect">
            <a:avLst/>
          </a:prstGeom>
          <a:noFill/>
        </p:spPr>
        <p:txBody>
          <a:bodyPr wrap="square">
            <a:spAutoFit/>
          </a:bodyPr>
          <a:lstStyle/>
          <a:p>
            <a:pPr algn="l"/>
            <a:r>
              <a:rPr sz="1100" b="1" i="0" dirty="0">
                <a:solidFill>
                  <a:srgbClr val="94A3B8"/>
                </a:solidFill>
              </a:rPr>
              <a:t>Network:</a:t>
            </a:r>
          </a:p>
        </p:txBody>
      </p:sp>
      <p:sp>
        <p:nvSpPr>
          <p:cNvPr id="62" name="TextBox 61"/>
          <p:cNvSpPr txBox="1"/>
          <p:nvPr/>
        </p:nvSpPr>
        <p:spPr>
          <a:xfrm>
            <a:off x="8065008" y="5586984"/>
            <a:ext cx="3749039" cy="310896"/>
          </a:xfrm>
          <a:prstGeom prst="rect">
            <a:avLst/>
          </a:prstGeom>
          <a:noFill/>
        </p:spPr>
        <p:txBody>
          <a:bodyPr wrap="square">
            <a:spAutoFit/>
          </a:bodyPr>
          <a:lstStyle/>
          <a:p>
            <a:pPr algn="l"/>
            <a:r>
              <a:rPr sz="1100" b="0" i="0" dirty="0">
                <a:solidFill>
                  <a:srgbClr val="FFFFFF"/>
                </a:solidFill>
              </a:rPr>
              <a:t>HTTPS with custom domain</a:t>
            </a:r>
          </a:p>
        </p:txBody>
      </p:sp>
      <p:sp>
        <p:nvSpPr>
          <p:cNvPr id="63" name="Rectangle 62"/>
          <p:cNvSpPr/>
          <p:nvPr/>
        </p:nvSpPr>
        <p:spPr>
          <a:xfrm>
            <a:off x="6537960" y="6025896"/>
            <a:ext cx="534924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4" name="TextBox 63"/>
          <p:cNvSpPr txBox="1"/>
          <p:nvPr/>
        </p:nvSpPr>
        <p:spPr>
          <a:xfrm>
            <a:off x="6656832" y="6108192"/>
            <a:ext cx="1389888" cy="310896"/>
          </a:xfrm>
          <a:prstGeom prst="rect">
            <a:avLst/>
          </a:prstGeom>
          <a:noFill/>
        </p:spPr>
        <p:txBody>
          <a:bodyPr wrap="square">
            <a:spAutoFit/>
          </a:bodyPr>
          <a:lstStyle/>
          <a:p>
            <a:pPr algn="l"/>
            <a:r>
              <a:rPr sz="1100" b="1" i="0" dirty="0">
                <a:solidFill>
                  <a:srgbClr val="94A3B8"/>
                </a:solidFill>
              </a:rPr>
              <a:t>OS:</a:t>
            </a:r>
          </a:p>
        </p:txBody>
      </p:sp>
      <p:sp>
        <p:nvSpPr>
          <p:cNvPr id="65" name="TextBox 64"/>
          <p:cNvSpPr txBox="1"/>
          <p:nvPr/>
        </p:nvSpPr>
        <p:spPr>
          <a:xfrm>
            <a:off x="8065008" y="6108192"/>
            <a:ext cx="3749039" cy="310896"/>
          </a:xfrm>
          <a:prstGeom prst="rect">
            <a:avLst/>
          </a:prstGeom>
          <a:noFill/>
        </p:spPr>
        <p:txBody>
          <a:bodyPr wrap="square">
            <a:spAutoFit/>
          </a:bodyPr>
          <a:lstStyle/>
          <a:p>
            <a:pPr algn="l"/>
            <a:r>
              <a:rPr sz="1100" b="0" i="0" dirty="0">
                <a:solidFill>
                  <a:srgbClr val="FFFFFF"/>
                </a:solidFill>
              </a:rPr>
              <a:t>Ubuntu Linux 22.04 LTS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106793"/>
            <a:ext cx="12188952" cy="1051560"/>
          </a:xfrm>
          <a:prstGeom prst="rect">
            <a:avLst/>
          </a:prstGeom>
          <a:solidFill>
            <a:srgbClr val="0D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91440" cy="1051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82880" y="987552"/>
            <a:ext cx="1197864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256032" y="146841"/>
            <a:ext cx="11430000" cy="707886"/>
          </a:xfrm>
          <a:prstGeom prst="rect">
            <a:avLst/>
          </a:prstGeom>
          <a:noFill/>
        </p:spPr>
        <p:txBody>
          <a:bodyPr wrap="square">
            <a:spAutoFit/>
          </a:bodyPr>
          <a:lstStyle/>
          <a:p>
            <a:pPr algn="ctr"/>
            <a:r>
              <a:rPr sz="4000" b="1" i="0" dirty="0">
                <a:solidFill>
                  <a:srgbClr val="FFFFFF"/>
                </a:solidFill>
              </a:rPr>
              <a:t>Literature Survey</a:t>
            </a:r>
          </a:p>
        </p:txBody>
      </p:sp>
      <p:sp>
        <p:nvSpPr>
          <p:cNvPr id="7" name="Rectangle 6"/>
          <p:cNvSpPr/>
          <p:nvPr/>
        </p:nvSpPr>
        <p:spPr>
          <a:xfrm>
            <a:off x="256032" y="1225296"/>
            <a:ext cx="11658600" cy="1024128"/>
          </a:xfrm>
          <a:prstGeom prst="rect">
            <a:avLst/>
          </a:prstGeom>
          <a:solidFill>
            <a:srgbClr val="1E293B"/>
          </a:solidFill>
          <a:ln w="952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a:xfrm>
            <a:off x="329184" y="1316736"/>
            <a:ext cx="438912" cy="43891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rgbClr val="FFFFFF"/>
                </a:solidFill>
              </a:rPr>
              <a:t>1</a:t>
            </a:r>
          </a:p>
        </p:txBody>
      </p:sp>
      <p:sp>
        <p:nvSpPr>
          <p:cNvPr id="9" name="TextBox 8"/>
          <p:cNvSpPr txBox="1"/>
          <p:nvPr/>
        </p:nvSpPr>
        <p:spPr>
          <a:xfrm>
            <a:off x="914400" y="1271016"/>
            <a:ext cx="10771632" cy="329184"/>
          </a:xfrm>
          <a:prstGeom prst="rect">
            <a:avLst/>
          </a:prstGeom>
          <a:noFill/>
        </p:spPr>
        <p:txBody>
          <a:bodyPr wrap="square">
            <a:spAutoFit/>
          </a:bodyPr>
          <a:lstStyle/>
          <a:p>
            <a:pPr algn="l"/>
            <a:r>
              <a:rPr sz="1200" b="1" i="0" dirty="0">
                <a:solidFill>
                  <a:srgbClr val="FFFFFF"/>
                </a:solidFill>
              </a:rPr>
              <a:t>Task Management System Design Using Django REST Framework</a:t>
            </a:r>
          </a:p>
        </p:txBody>
      </p:sp>
      <p:sp>
        <p:nvSpPr>
          <p:cNvPr id="10" name="TextBox 9"/>
          <p:cNvSpPr txBox="1"/>
          <p:nvPr/>
        </p:nvSpPr>
        <p:spPr>
          <a:xfrm>
            <a:off x="914400" y="1627632"/>
            <a:ext cx="10771632" cy="246888"/>
          </a:xfrm>
          <a:prstGeom prst="rect">
            <a:avLst/>
          </a:prstGeom>
          <a:noFill/>
        </p:spPr>
        <p:txBody>
          <a:bodyPr wrap="square">
            <a:spAutoFit/>
          </a:bodyPr>
          <a:lstStyle/>
          <a:p>
            <a:pPr algn="l"/>
            <a:r>
              <a:rPr sz="1000" b="0" i="1" dirty="0">
                <a:solidFill>
                  <a:srgbClr val="8B5CF6"/>
                </a:solidFill>
              </a:rPr>
              <a:t>Singh R., Patel A. et al. — Int. Journal of Computer Applications, 2022</a:t>
            </a:r>
          </a:p>
        </p:txBody>
      </p:sp>
      <p:sp>
        <p:nvSpPr>
          <p:cNvPr id="11" name="TextBox 10"/>
          <p:cNvSpPr txBox="1"/>
          <p:nvPr/>
        </p:nvSpPr>
        <p:spPr>
          <a:xfrm>
            <a:off x="914400" y="1901952"/>
            <a:ext cx="10771632" cy="310896"/>
          </a:xfrm>
          <a:prstGeom prst="rect">
            <a:avLst/>
          </a:prstGeom>
          <a:noFill/>
        </p:spPr>
        <p:txBody>
          <a:bodyPr wrap="square">
            <a:spAutoFit/>
          </a:bodyPr>
          <a:lstStyle/>
          <a:p>
            <a:pPr algn="l"/>
            <a:r>
              <a:rPr sz="1000" b="0" i="0" dirty="0">
                <a:solidFill>
                  <a:srgbClr val="94A3B8"/>
                </a:solidFill>
              </a:rPr>
              <a:t>Proposes a REST API-driven task management system with Django; highlights session auth and ORM-driven analytics.</a:t>
            </a:r>
          </a:p>
        </p:txBody>
      </p:sp>
      <p:sp>
        <p:nvSpPr>
          <p:cNvPr id="12" name="Rectangle 11"/>
          <p:cNvSpPr/>
          <p:nvPr/>
        </p:nvSpPr>
        <p:spPr>
          <a:xfrm>
            <a:off x="256032" y="2340864"/>
            <a:ext cx="11658600" cy="1024128"/>
          </a:xfrm>
          <a:prstGeom prst="rect">
            <a:avLst/>
          </a:prstGeom>
          <a:solidFill>
            <a:srgbClr val="1E293B"/>
          </a:solidFill>
          <a:ln w="9525">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a:xfrm>
            <a:off x="329184" y="2432304"/>
            <a:ext cx="438912" cy="438912"/>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rgbClr val="FFFFFF"/>
                </a:solidFill>
              </a:rPr>
              <a:t>2</a:t>
            </a:r>
          </a:p>
        </p:txBody>
      </p:sp>
      <p:sp>
        <p:nvSpPr>
          <p:cNvPr id="14" name="TextBox 13"/>
          <p:cNvSpPr txBox="1"/>
          <p:nvPr/>
        </p:nvSpPr>
        <p:spPr>
          <a:xfrm>
            <a:off x="914400" y="2386584"/>
            <a:ext cx="10771632" cy="329184"/>
          </a:xfrm>
          <a:prstGeom prst="rect">
            <a:avLst/>
          </a:prstGeom>
          <a:noFill/>
        </p:spPr>
        <p:txBody>
          <a:bodyPr wrap="square">
            <a:spAutoFit/>
          </a:bodyPr>
          <a:lstStyle/>
          <a:p>
            <a:pPr algn="l"/>
            <a:r>
              <a:rPr sz="1200" b="1" i="0" dirty="0">
                <a:solidFill>
                  <a:srgbClr val="FFFFFF"/>
                </a:solidFill>
              </a:rPr>
              <a:t>Containerisation with Docker for Academic and Enterprise Web Applications</a:t>
            </a:r>
          </a:p>
        </p:txBody>
      </p:sp>
      <p:sp>
        <p:nvSpPr>
          <p:cNvPr id="15" name="TextBox 14"/>
          <p:cNvSpPr txBox="1"/>
          <p:nvPr/>
        </p:nvSpPr>
        <p:spPr>
          <a:xfrm>
            <a:off x="914400" y="2743200"/>
            <a:ext cx="10771632" cy="246888"/>
          </a:xfrm>
          <a:prstGeom prst="rect">
            <a:avLst/>
          </a:prstGeom>
          <a:noFill/>
        </p:spPr>
        <p:txBody>
          <a:bodyPr wrap="square">
            <a:spAutoFit/>
          </a:bodyPr>
          <a:lstStyle/>
          <a:p>
            <a:pPr algn="l"/>
            <a:r>
              <a:rPr sz="1000" b="0" i="1" dirty="0">
                <a:solidFill>
                  <a:srgbClr val="60A5FA"/>
                </a:solidFill>
              </a:rPr>
              <a:t>Mehta S. et al. — IEEE Access, Vol. 10, 2023</a:t>
            </a:r>
          </a:p>
        </p:txBody>
      </p:sp>
      <p:sp>
        <p:nvSpPr>
          <p:cNvPr id="16" name="TextBox 15"/>
          <p:cNvSpPr txBox="1"/>
          <p:nvPr/>
        </p:nvSpPr>
        <p:spPr>
          <a:xfrm>
            <a:off x="914400" y="3017520"/>
            <a:ext cx="10771632" cy="310896"/>
          </a:xfrm>
          <a:prstGeom prst="rect">
            <a:avLst/>
          </a:prstGeom>
          <a:noFill/>
        </p:spPr>
        <p:txBody>
          <a:bodyPr wrap="square">
            <a:spAutoFit/>
          </a:bodyPr>
          <a:lstStyle/>
          <a:p>
            <a:pPr algn="l"/>
            <a:r>
              <a:rPr sz="1000" b="0" i="0" dirty="0">
                <a:solidFill>
                  <a:srgbClr val="94A3B8"/>
                </a:solidFill>
              </a:rPr>
              <a:t>Demonstrates 40% reduction in environment inconsistency using Docker pipelines; advocates CI/CD integration.</a:t>
            </a:r>
          </a:p>
        </p:txBody>
      </p:sp>
      <p:sp>
        <p:nvSpPr>
          <p:cNvPr id="17" name="Rectangle 16"/>
          <p:cNvSpPr/>
          <p:nvPr/>
        </p:nvSpPr>
        <p:spPr>
          <a:xfrm>
            <a:off x="256032" y="3456432"/>
            <a:ext cx="11658600" cy="1024128"/>
          </a:xfrm>
          <a:prstGeom prst="rect">
            <a:avLst/>
          </a:prstGeom>
          <a:solidFill>
            <a:srgbClr val="1E293B"/>
          </a:solidFill>
          <a:ln w="9525">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 name="Rectangle 17"/>
          <p:cNvSpPr/>
          <p:nvPr/>
        </p:nvSpPr>
        <p:spPr>
          <a:xfrm>
            <a:off x="329184" y="3547872"/>
            <a:ext cx="438912" cy="438912"/>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rgbClr val="FFFFFF"/>
                </a:solidFill>
              </a:rPr>
              <a:t>3</a:t>
            </a:r>
          </a:p>
        </p:txBody>
      </p:sp>
      <p:sp>
        <p:nvSpPr>
          <p:cNvPr id="19" name="TextBox 18"/>
          <p:cNvSpPr txBox="1"/>
          <p:nvPr/>
        </p:nvSpPr>
        <p:spPr>
          <a:xfrm>
            <a:off x="914400" y="3502152"/>
            <a:ext cx="10771632" cy="329184"/>
          </a:xfrm>
          <a:prstGeom prst="rect">
            <a:avLst/>
          </a:prstGeom>
          <a:noFill/>
        </p:spPr>
        <p:txBody>
          <a:bodyPr wrap="square">
            <a:spAutoFit/>
          </a:bodyPr>
          <a:lstStyle/>
          <a:p>
            <a:pPr algn="l"/>
            <a:r>
              <a:rPr sz="1200" b="1" i="0" dirty="0">
                <a:solidFill>
                  <a:srgbClr val="FFFFFF"/>
                </a:solidFill>
              </a:rPr>
              <a:t>Automating CI/CD Pipelines Using GitHub Actions for Python-Django Projects</a:t>
            </a:r>
          </a:p>
        </p:txBody>
      </p:sp>
      <p:sp>
        <p:nvSpPr>
          <p:cNvPr id="20" name="TextBox 19"/>
          <p:cNvSpPr txBox="1"/>
          <p:nvPr/>
        </p:nvSpPr>
        <p:spPr>
          <a:xfrm>
            <a:off x="914400" y="3858768"/>
            <a:ext cx="10771632" cy="246888"/>
          </a:xfrm>
          <a:prstGeom prst="rect">
            <a:avLst/>
          </a:prstGeom>
          <a:noFill/>
        </p:spPr>
        <p:txBody>
          <a:bodyPr wrap="square">
            <a:spAutoFit/>
          </a:bodyPr>
          <a:lstStyle/>
          <a:p>
            <a:pPr algn="l"/>
            <a:r>
              <a:rPr sz="1000" b="0" i="1" dirty="0">
                <a:solidFill>
                  <a:srgbClr val="4ADE80"/>
                </a:solidFill>
              </a:rPr>
              <a:t>Kumar V., Rao M. — Journal of Open-Source Software, Vol. 8, 2023</a:t>
            </a:r>
          </a:p>
        </p:txBody>
      </p:sp>
      <p:sp>
        <p:nvSpPr>
          <p:cNvPr id="21" name="TextBox 20"/>
          <p:cNvSpPr txBox="1"/>
          <p:nvPr/>
        </p:nvSpPr>
        <p:spPr>
          <a:xfrm>
            <a:off x="914400" y="4133088"/>
            <a:ext cx="10771632" cy="310896"/>
          </a:xfrm>
          <a:prstGeom prst="rect">
            <a:avLst/>
          </a:prstGeom>
          <a:noFill/>
        </p:spPr>
        <p:txBody>
          <a:bodyPr wrap="square">
            <a:spAutoFit/>
          </a:bodyPr>
          <a:lstStyle/>
          <a:p>
            <a:pPr algn="l"/>
            <a:r>
              <a:rPr sz="1000" b="0" i="0" dirty="0">
                <a:solidFill>
                  <a:srgbClr val="94A3B8"/>
                </a:solidFill>
              </a:rPr>
              <a:t>Presents a GitHub Actions CI/CD pipeline for Django with automated tests, Docker build, and staged deployment.</a:t>
            </a:r>
          </a:p>
        </p:txBody>
      </p:sp>
      <p:sp>
        <p:nvSpPr>
          <p:cNvPr id="22" name="Rectangle 21"/>
          <p:cNvSpPr/>
          <p:nvPr/>
        </p:nvSpPr>
        <p:spPr>
          <a:xfrm>
            <a:off x="256032" y="4572000"/>
            <a:ext cx="11658600" cy="1024128"/>
          </a:xfrm>
          <a:prstGeom prst="rect">
            <a:avLst/>
          </a:prstGeom>
          <a:solidFill>
            <a:srgbClr val="1E293B"/>
          </a:solidFill>
          <a:ln w="9525">
            <a:solidFill>
              <a:srgbClr val="FB92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3" name="Rectangle 22"/>
          <p:cNvSpPr/>
          <p:nvPr/>
        </p:nvSpPr>
        <p:spPr>
          <a:xfrm>
            <a:off x="329184" y="4663440"/>
            <a:ext cx="438912" cy="438912"/>
          </a:xfrm>
          <a:prstGeom prst="rect">
            <a:avLst/>
          </a:prstGeom>
          <a:solidFill>
            <a:srgbClr val="FB923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rgbClr val="FFFFFF"/>
                </a:solidFill>
              </a:rPr>
              <a:t>4</a:t>
            </a:r>
          </a:p>
        </p:txBody>
      </p:sp>
      <p:sp>
        <p:nvSpPr>
          <p:cNvPr id="24" name="TextBox 23"/>
          <p:cNvSpPr txBox="1"/>
          <p:nvPr/>
        </p:nvSpPr>
        <p:spPr>
          <a:xfrm>
            <a:off x="914400" y="4617720"/>
            <a:ext cx="10771632" cy="329184"/>
          </a:xfrm>
          <a:prstGeom prst="rect">
            <a:avLst/>
          </a:prstGeom>
          <a:noFill/>
        </p:spPr>
        <p:txBody>
          <a:bodyPr wrap="square">
            <a:spAutoFit/>
          </a:bodyPr>
          <a:lstStyle/>
          <a:p>
            <a:pPr algn="l"/>
            <a:r>
              <a:rPr sz="1200" b="1" i="0" dirty="0">
                <a:solidFill>
                  <a:srgbClr val="FFFFFF"/>
                </a:solidFill>
              </a:rPr>
              <a:t>Efficient RRULE Processing for Calendar-Based Task Management Applications</a:t>
            </a:r>
          </a:p>
        </p:txBody>
      </p:sp>
      <p:sp>
        <p:nvSpPr>
          <p:cNvPr id="25" name="TextBox 24"/>
          <p:cNvSpPr txBox="1"/>
          <p:nvPr/>
        </p:nvSpPr>
        <p:spPr>
          <a:xfrm>
            <a:off x="914400" y="4974336"/>
            <a:ext cx="10771632" cy="246888"/>
          </a:xfrm>
          <a:prstGeom prst="rect">
            <a:avLst/>
          </a:prstGeom>
          <a:noFill/>
        </p:spPr>
        <p:txBody>
          <a:bodyPr wrap="square">
            <a:spAutoFit/>
          </a:bodyPr>
          <a:lstStyle/>
          <a:p>
            <a:pPr algn="l"/>
            <a:r>
              <a:rPr sz="1000" b="0" i="1" dirty="0">
                <a:solidFill>
                  <a:srgbClr val="FB923B"/>
                </a:solidFill>
              </a:rPr>
              <a:t>Li W., Chen J. — ACM SIGAPP Applied Computing Review, Vol. 24, No. 1, 2024</a:t>
            </a:r>
          </a:p>
        </p:txBody>
      </p:sp>
      <p:sp>
        <p:nvSpPr>
          <p:cNvPr id="26" name="TextBox 25"/>
          <p:cNvSpPr txBox="1"/>
          <p:nvPr/>
        </p:nvSpPr>
        <p:spPr>
          <a:xfrm>
            <a:off x="914400" y="5248656"/>
            <a:ext cx="10771632" cy="310896"/>
          </a:xfrm>
          <a:prstGeom prst="rect">
            <a:avLst/>
          </a:prstGeom>
          <a:noFill/>
        </p:spPr>
        <p:txBody>
          <a:bodyPr wrap="square">
            <a:spAutoFit/>
          </a:bodyPr>
          <a:lstStyle/>
          <a:p>
            <a:pPr algn="l"/>
            <a:r>
              <a:rPr sz="1000" b="0" i="0" dirty="0">
                <a:solidFill>
                  <a:srgbClr val="94A3B8"/>
                </a:solidFill>
              </a:rPr>
              <a:t>Proposes a bounded RRULE expansion algorithm used in this project to prevent unbounded calendar computation.</a:t>
            </a:r>
          </a:p>
        </p:txBody>
      </p:sp>
      <p:sp>
        <p:nvSpPr>
          <p:cNvPr id="27" name="Rectangle 26"/>
          <p:cNvSpPr/>
          <p:nvPr/>
        </p:nvSpPr>
        <p:spPr>
          <a:xfrm>
            <a:off x="256032" y="5687568"/>
            <a:ext cx="11658600" cy="1024128"/>
          </a:xfrm>
          <a:prstGeom prst="rect">
            <a:avLst/>
          </a:prstGeom>
          <a:solidFill>
            <a:srgbClr val="1E293B"/>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8" name="Rectangle 27"/>
          <p:cNvSpPr/>
          <p:nvPr/>
        </p:nvSpPr>
        <p:spPr>
          <a:xfrm>
            <a:off x="329184" y="5779007"/>
            <a:ext cx="438912" cy="438912"/>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rgbClr val="FFFFFF"/>
                </a:solidFill>
              </a:rPr>
              <a:t>5</a:t>
            </a:r>
          </a:p>
        </p:txBody>
      </p:sp>
      <p:sp>
        <p:nvSpPr>
          <p:cNvPr id="29" name="TextBox 28"/>
          <p:cNvSpPr txBox="1"/>
          <p:nvPr/>
        </p:nvSpPr>
        <p:spPr>
          <a:xfrm>
            <a:off x="914400" y="5733288"/>
            <a:ext cx="10771632" cy="276999"/>
          </a:xfrm>
          <a:prstGeom prst="rect">
            <a:avLst/>
          </a:prstGeom>
          <a:noFill/>
        </p:spPr>
        <p:txBody>
          <a:bodyPr wrap="square">
            <a:spAutoFit/>
          </a:bodyPr>
          <a:lstStyle/>
          <a:p>
            <a:pPr algn="l"/>
            <a:r>
              <a:rPr sz="1200" b="1" i="0" dirty="0">
                <a:solidFill>
                  <a:srgbClr val="FFFFFF"/>
                </a:solidFill>
              </a:rPr>
              <a:t>Integrating Full-Stack DevOps in </a:t>
            </a:r>
            <a:r>
              <a:rPr sz="1200" b="1" i="0" dirty="0" smtClean="0">
                <a:solidFill>
                  <a:srgbClr val="FFFFFF"/>
                </a:solidFill>
              </a:rPr>
              <a:t>BE/B</a:t>
            </a:r>
            <a:r>
              <a:rPr lang="en-US" sz="1200" b="1" i="0" dirty="0" smtClean="0">
                <a:solidFill>
                  <a:srgbClr val="FFFFFF"/>
                </a:solidFill>
              </a:rPr>
              <a:t>.</a:t>
            </a:r>
            <a:r>
              <a:rPr sz="1200" b="1" i="0" dirty="0" smtClean="0">
                <a:solidFill>
                  <a:srgbClr val="FFFFFF"/>
                </a:solidFill>
              </a:rPr>
              <a:t>Tech </a:t>
            </a:r>
            <a:r>
              <a:rPr sz="1200" b="1" i="0" dirty="0">
                <a:solidFill>
                  <a:srgbClr val="FFFFFF"/>
                </a:solidFill>
              </a:rPr>
              <a:t>Capstone Engineering Projects</a:t>
            </a:r>
          </a:p>
        </p:txBody>
      </p:sp>
      <p:sp>
        <p:nvSpPr>
          <p:cNvPr id="30" name="TextBox 29"/>
          <p:cNvSpPr txBox="1"/>
          <p:nvPr/>
        </p:nvSpPr>
        <p:spPr>
          <a:xfrm>
            <a:off x="914400" y="6089904"/>
            <a:ext cx="10771632" cy="246888"/>
          </a:xfrm>
          <a:prstGeom prst="rect">
            <a:avLst/>
          </a:prstGeom>
          <a:noFill/>
        </p:spPr>
        <p:txBody>
          <a:bodyPr wrap="square">
            <a:spAutoFit/>
          </a:bodyPr>
          <a:lstStyle/>
          <a:p>
            <a:pPr algn="l"/>
            <a:r>
              <a:rPr sz="1000" b="0" i="1" dirty="0">
                <a:solidFill>
                  <a:srgbClr val="2DD4BF"/>
                </a:solidFill>
              </a:rPr>
              <a:t>Sharma P., Nair K. — Int. Conf. on Software Engineering Education, 2024</a:t>
            </a:r>
          </a:p>
        </p:txBody>
      </p:sp>
      <p:sp>
        <p:nvSpPr>
          <p:cNvPr id="31" name="TextBox 30"/>
          <p:cNvSpPr txBox="1"/>
          <p:nvPr/>
        </p:nvSpPr>
        <p:spPr>
          <a:xfrm>
            <a:off x="914400" y="6364224"/>
            <a:ext cx="10771632" cy="310896"/>
          </a:xfrm>
          <a:prstGeom prst="rect">
            <a:avLst/>
          </a:prstGeom>
          <a:noFill/>
        </p:spPr>
        <p:txBody>
          <a:bodyPr wrap="square">
            <a:spAutoFit/>
          </a:bodyPr>
          <a:lstStyle/>
          <a:p>
            <a:pPr algn="l"/>
            <a:r>
              <a:rPr sz="1000" b="0" i="0" dirty="0">
                <a:solidFill>
                  <a:srgbClr val="94A3B8"/>
                </a:solidFill>
              </a:rPr>
              <a:t>Reviews academic projects integrating Docker and CI/CD, demonstrating industry-readiness in student deliverables.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91440" cy="1051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82880" y="987552"/>
            <a:ext cx="1197864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256032" y="91440"/>
            <a:ext cx="11430000" cy="584775"/>
          </a:xfrm>
          <a:prstGeom prst="rect">
            <a:avLst/>
          </a:prstGeom>
          <a:noFill/>
        </p:spPr>
        <p:txBody>
          <a:bodyPr wrap="square">
            <a:spAutoFit/>
          </a:bodyPr>
          <a:lstStyle/>
          <a:p>
            <a:pPr algn="ctr"/>
            <a:r>
              <a:rPr sz="3200" b="1" i="0" dirty="0">
                <a:solidFill>
                  <a:srgbClr val="FFFFFF"/>
                </a:solidFill>
              </a:rPr>
              <a:t>System Architecture</a:t>
            </a:r>
          </a:p>
        </p:txBody>
      </p:sp>
      <p:sp>
        <p:nvSpPr>
          <p:cNvPr id="6" name="TextBox 5"/>
          <p:cNvSpPr txBox="1"/>
          <p:nvPr/>
        </p:nvSpPr>
        <p:spPr>
          <a:xfrm>
            <a:off x="256032" y="647284"/>
            <a:ext cx="11430000" cy="369332"/>
          </a:xfrm>
          <a:prstGeom prst="rect">
            <a:avLst/>
          </a:prstGeom>
          <a:noFill/>
        </p:spPr>
        <p:txBody>
          <a:bodyPr wrap="square">
            <a:spAutoFit/>
          </a:bodyPr>
          <a:lstStyle/>
          <a:p>
            <a:pPr algn="ctr"/>
            <a:r>
              <a:rPr b="0" i="0" dirty="0">
                <a:solidFill>
                  <a:srgbClr val="94A3B8"/>
                </a:solidFill>
              </a:rPr>
              <a:t>Three-tier web application with REST API and session security</a:t>
            </a:r>
          </a:p>
        </p:txBody>
      </p:sp>
      <p:sp>
        <p:nvSpPr>
          <p:cNvPr id="7" name="Rectangle 6"/>
          <p:cNvSpPr/>
          <p:nvPr/>
        </p:nvSpPr>
        <p:spPr>
          <a:xfrm>
            <a:off x="256032" y="1234440"/>
            <a:ext cx="5349240" cy="1280160"/>
          </a:xfrm>
          <a:prstGeom prst="rect">
            <a:avLst/>
          </a:prstGeom>
          <a:solidFill>
            <a:srgbClr val="1E293B"/>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420624" y="1307592"/>
            <a:ext cx="5074920" cy="347472"/>
          </a:xfrm>
          <a:prstGeom prst="rect">
            <a:avLst/>
          </a:prstGeom>
          <a:noFill/>
        </p:spPr>
        <p:txBody>
          <a:bodyPr wrap="square">
            <a:spAutoFit/>
          </a:bodyPr>
          <a:lstStyle/>
          <a:p>
            <a:pPr algn="l"/>
            <a:r>
              <a:rPr sz="1200" b="1" i="0" dirty="0">
                <a:solidFill>
                  <a:srgbClr val="8B5CF6"/>
                </a:solidFill>
              </a:rPr>
              <a:t>PRESENTATION LAYER</a:t>
            </a:r>
          </a:p>
        </p:txBody>
      </p:sp>
      <p:sp>
        <p:nvSpPr>
          <p:cNvPr id="9" name="TextBox 8"/>
          <p:cNvSpPr txBox="1"/>
          <p:nvPr/>
        </p:nvSpPr>
        <p:spPr>
          <a:xfrm>
            <a:off x="420624" y="1709928"/>
            <a:ext cx="5074920" cy="731520"/>
          </a:xfrm>
          <a:prstGeom prst="rect">
            <a:avLst/>
          </a:prstGeom>
          <a:noFill/>
        </p:spPr>
        <p:txBody>
          <a:bodyPr wrap="square">
            <a:spAutoFit/>
          </a:bodyPr>
          <a:lstStyle/>
          <a:p>
            <a:pPr algn="l"/>
            <a:r>
              <a:rPr sz="1100" b="0" i="0" dirty="0">
                <a:solidFill>
                  <a:srgbClr val="94A3B8"/>
                </a:solidFill>
              </a:rPr>
              <a:t>React + TypeScript + Tailwind CSS
Month View · Week View · Day View · Dashboard · Focus Timer</a:t>
            </a:r>
          </a:p>
        </p:txBody>
      </p:sp>
      <p:sp>
        <p:nvSpPr>
          <p:cNvPr id="10" name="Rectangle 9"/>
          <p:cNvSpPr/>
          <p:nvPr/>
        </p:nvSpPr>
        <p:spPr>
          <a:xfrm>
            <a:off x="2560320" y="2514600"/>
            <a:ext cx="201168" cy="32004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a:xfrm>
            <a:off x="256032" y="2788920"/>
            <a:ext cx="5349240" cy="1280160"/>
          </a:xfrm>
          <a:prstGeom prst="rect">
            <a:avLst/>
          </a:prstGeom>
          <a:solidFill>
            <a:srgbClr val="1E293B"/>
          </a:solidFill>
          <a:ln w="1905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p:cNvSpPr txBox="1"/>
          <p:nvPr/>
        </p:nvSpPr>
        <p:spPr>
          <a:xfrm>
            <a:off x="420624" y="2862072"/>
            <a:ext cx="5074920" cy="347472"/>
          </a:xfrm>
          <a:prstGeom prst="rect">
            <a:avLst/>
          </a:prstGeom>
          <a:noFill/>
        </p:spPr>
        <p:txBody>
          <a:bodyPr wrap="square">
            <a:spAutoFit/>
          </a:bodyPr>
          <a:lstStyle/>
          <a:p>
            <a:pPr algn="l"/>
            <a:r>
              <a:rPr sz="1200" b="1" i="0" dirty="0">
                <a:solidFill>
                  <a:srgbClr val="60A5FA"/>
                </a:solidFill>
              </a:rPr>
              <a:t>APPLICATION / API LAYER</a:t>
            </a:r>
          </a:p>
        </p:txBody>
      </p:sp>
      <p:sp>
        <p:nvSpPr>
          <p:cNvPr id="13" name="TextBox 12"/>
          <p:cNvSpPr txBox="1"/>
          <p:nvPr/>
        </p:nvSpPr>
        <p:spPr>
          <a:xfrm>
            <a:off x="420624" y="3264408"/>
            <a:ext cx="5074920" cy="731520"/>
          </a:xfrm>
          <a:prstGeom prst="rect">
            <a:avLst/>
          </a:prstGeom>
          <a:noFill/>
        </p:spPr>
        <p:txBody>
          <a:bodyPr wrap="square">
            <a:spAutoFit/>
          </a:bodyPr>
          <a:lstStyle/>
          <a:p>
            <a:pPr algn="l"/>
            <a:r>
              <a:rPr sz="1100" b="0" i="0" dirty="0">
                <a:solidFill>
                  <a:srgbClr val="94A3B8"/>
                </a:solidFill>
              </a:rPr>
              <a:t>Django REST Framework
Auth · Tasks · Occurrences · Tags · Analytics endpoints</a:t>
            </a:r>
          </a:p>
        </p:txBody>
      </p:sp>
      <p:sp>
        <p:nvSpPr>
          <p:cNvPr id="14" name="Rectangle 13"/>
          <p:cNvSpPr/>
          <p:nvPr/>
        </p:nvSpPr>
        <p:spPr>
          <a:xfrm>
            <a:off x="2560320" y="4069079"/>
            <a:ext cx="201168" cy="32004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Rectangle 14"/>
          <p:cNvSpPr/>
          <p:nvPr/>
        </p:nvSpPr>
        <p:spPr>
          <a:xfrm>
            <a:off x="256032" y="4315968"/>
            <a:ext cx="5349240" cy="1280160"/>
          </a:xfrm>
          <a:prstGeom prst="rect">
            <a:avLst/>
          </a:prstGeom>
          <a:solidFill>
            <a:srgbClr val="1E293B"/>
          </a:solidFill>
          <a:ln w="1905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6" name="TextBox 15"/>
          <p:cNvSpPr txBox="1"/>
          <p:nvPr/>
        </p:nvSpPr>
        <p:spPr>
          <a:xfrm>
            <a:off x="420624" y="4389120"/>
            <a:ext cx="5074920" cy="347472"/>
          </a:xfrm>
          <a:prstGeom prst="rect">
            <a:avLst/>
          </a:prstGeom>
          <a:noFill/>
        </p:spPr>
        <p:txBody>
          <a:bodyPr wrap="square">
            <a:spAutoFit/>
          </a:bodyPr>
          <a:lstStyle/>
          <a:p>
            <a:pPr algn="l"/>
            <a:r>
              <a:rPr sz="1200" b="1" i="0" dirty="0">
                <a:solidFill>
                  <a:srgbClr val="4ADE80"/>
                </a:solidFill>
              </a:rPr>
              <a:t>DATA LAYER</a:t>
            </a:r>
          </a:p>
        </p:txBody>
      </p:sp>
      <p:sp>
        <p:nvSpPr>
          <p:cNvPr id="17" name="TextBox 16"/>
          <p:cNvSpPr txBox="1"/>
          <p:nvPr/>
        </p:nvSpPr>
        <p:spPr>
          <a:xfrm>
            <a:off x="420624" y="4791456"/>
            <a:ext cx="5074920" cy="731520"/>
          </a:xfrm>
          <a:prstGeom prst="rect">
            <a:avLst/>
          </a:prstGeom>
          <a:noFill/>
        </p:spPr>
        <p:txBody>
          <a:bodyPr wrap="square">
            <a:spAutoFit/>
          </a:bodyPr>
          <a:lstStyle/>
          <a:p>
            <a:pPr algn="l"/>
            <a:r>
              <a:rPr sz="1100" b="0" i="0" dirty="0">
                <a:solidFill>
                  <a:srgbClr val="94A3B8"/>
                </a:solidFill>
              </a:rPr>
              <a:t>SQLite Database
User · Task · RecurrenceException · Tag (Django ORM models)</a:t>
            </a:r>
          </a:p>
        </p:txBody>
      </p:sp>
      <p:sp>
        <p:nvSpPr>
          <p:cNvPr id="18" name="TextBox 17"/>
          <p:cNvSpPr txBox="1"/>
          <p:nvPr/>
        </p:nvSpPr>
        <p:spPr>
          <a:xfrm>
            <a:off x="6172200" y="1234440"/>
            <a:ext cx="5760720" cy="347472"/>
          </a:xfrm>
          <a:prstGeom prst="rect">
            <a:avLst/>
          </a:prstGeom>
          <a:noFill/>
        </p:spPr>
        <p:txBody>
          <a:bodyPr wrap="square">
            <a:spAutoFit/>
          </a:bodyPr>
          <a:lstStyle/>
          <a:p>
            <a:pPr algn="l"/>
            <a:r>
              <a:rPr sz="1300" b="1" i="0" dirty="0">
                <a:solidFill>
                  <a:srgbClr val="8B5CF6"/>
                </a:solidFill>
              </a:rPr>
              <a:t>Request / Response Flow</a:t>
            </a:r>
          </a:p>
        </p:txBody>
      </p:sp>
      <p:sp>
        <p:nvSpPr>
          <p:cNvPr id="19" name="Rectangle 18"/>
          <p:cNvSpPr/>
          <p:nvPr/>
        </p:nvSpPr>
        <p:spPr>
          <a:xfrm>
            <a:off x="6172200" y="1691640"/>
            <a:ext cx="5760720" cy="457200"/>
          </a:xfrm>
          <a:prstGeom prst="rect">
            <a:avLst/>
          </a:prstGeom>
          <a:solidFill>
            <a:srgbClr val="1E293B"/>
          </a:solidFill>
          <a:ln w="9525">
            <a:solidFill>
              <a:srgbClr val="60A5F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60A5FA"/>
                </a:solidFill>
              </a:rPr>
              <a:t>🌐  User (Browser)</a:t>
            </a:r>
          </a:p>
        </p:txBody>
      </p:sp>
      <p:sp>
        <p:nvSpPr>
          <p:cNvPr id="20" name="TextBox 19"/>
          <p:cNvSpPr txBox="1"/>
          <p:nvPr/>
        </p:nvSpPr>
        <p:spPr>
          <a:xfrm>
            <a:off x="6172200" y="2148840"/>
            <a:ext cx="5760720" cy="274320"/>
          </a:xfrm>
          <a:prstGeom prst="rect">
            <a:avLst/>
          </a:prstGeom>
          <a:noFill/>
        </p:spPr>
        <p:txBody>
          <a:bodyPr wrap="square">
            <a:spAutoFit/>
          </a:bodyPr>
          <a:lstStyle/>
          <a:p>
            <a:pPr algn="ctr"/>
            <a:r>
              <a:rPr sz="1000" b="0" i="1" dirty="0">
                <a:solidFill>
                  <a:srgbClr val="94A3B8"/>
                </a:solidFill>
              </a:rPr>
              <a:t>↕  HTTPS Request</a:t>
            </a:r>
          </a:p>
        </p:txBody>
      </p:sp>
      <p:sp>
        <p:nvSpPr>
          <p:cNvPr id="21" name="Rectangle 20"/>
          <p:cNvSpPr/>
          <p:nvPr/>
        </p:nvSpPr>
        <p:spPr>
          <a:xfrm>
            <a:off x="6172200" y="2423160"/>
            <a:ext cx="5760720" cy="457200"/>
          </a:xfrm>
          <a:prstGeom prst="rect">
            <a:avLst/>
          </a:prstGeom>
          <a:solidFill>
            <a:srgbClr val="1E293B"/>
          </a:solidFill>
          <a:ln w="9525">
            <a:solidFill>
              <a:srgbClr val="8B5CF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8B5CF6"/>
                </a:solidFill>
              </a:rPr>
              <a:t>⚛️  React SPA — Vercel CDN</a:t>
            </a:r>
          </a:p>
        </p:txBody>
      </p:sp>
      <p:sp>
        <p:nvSpPr>
          <p:cNvPr id="22" name="TextBox 21"/>
          <p:cNvSpPr txBox="1"/>
          <p:nvPr/>
        </p:nvSpPr>
        <p:spPr>
          <a:xfrm>
            <a:off x="6172200" y="2880360"/>
            <a:ext cx="5760720" cy="274320"/>
          </a:xfrm>
          <a:prstGeom prst="rect">
            <a:avLst/>
          </a:prstGeom>
          <a:noFill/>
        </p:spPr>
        <p:txBody>
          <a:bodyPr wrap="square">
            <a:spAutoFit/>
          </a:bodyPr>
          <a:lstStyle/>
          <a:p>
            <a:pPr algn="ctr"/>
            <a:r>
              <a:rPr sz="1000" b="0" i="1" dirty="0">
                <a:solidFill>
                  <a:srgbClr val="94A3B8"/>
                </a:solidFill>
              </a:rPr>
              <a:t>↕  REST API Calls</a:t>
            </a:r>
          </a:p>
        </p:txBody>
      </p:sp>
      <p:sp>
        <p:nvSpPr>
          <p:cNvPr id="23" name="Rectangle 22"/>
          <p:cNvSpPr/>
          <p:nvPr/>
        </p:nvSpPr>
        <p:spPr>
          <a:xfrm>
            <a:off x="6172200" y="3154679"/>
            <a:ext cx="5760720" cy="457200"/>
          </a:xfrm>
          <a:prstGeom prst="rect">
            <a:avLst/>
          </a:prstGeom>
          <a:solidFill>
            <a:srgbClr val="1E293B"/>
          </a:solidFill>
          <a:ln w="9525">
            <a:solidFill>
              <a:srgbClr val="4ADE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4ADE80"/>
                </a:solidFill>
              </a:rPr>
              <a:t>🐍  Django DRF — Render</a:t>
            </a:r>
          </a:p>
        </p:txBody>
      </p:sp>
      <p:sp>
        <p:nvSpPr>
          <p:cNvPr id="24" name="TextBox 23"/>
          <p:cNvSpPr txBox="1"/>
          <p:nvPr/>
        </p:nvSpPr>
        <p:spPr>
          <a:xfrm>
            <a:off x="6172200" y="3611879"/>
            <a:ext cx="5760720" cy="274320"/>
          </a:xfrm>
          <a:prstGeom prst="rect">
            <a:avLst/>
          </a:prstGeom>
          <a:noFill/>
        </p:spPr>
        <p:txBody>
          <a:bodyPr wrap="square">
            <a:spAutoFit/>
          </a:bodyPr>
          <a:lstStyle/>
          <a:p>
            <a:pPr algn="ctr"/>
            <a:r>
              <a:rPr sz="1000" b="0" i="1" dirty="0">
                <a:solidFill>
                  <a:srgbClr val="94A3B8"/>
                </a:solidFill>
              </a:rPr>
              <a:t>↕  ORM Queries</a:t>
            </a:r>
          </a:p>
        </p:txBody>
      </p:sp>
      <p:sp>
        <p:nvSpPr>
          <p:cNvPr id="25" name="Rectangle 24"/>
          <p:cNvSpPr/>
          <p:nvPr/>
        </p:nvSpPr>
        <p:spPr>
          <a:xfrm>
            <a:off x="6172200" y="3886200"/>
            <a:ext cx="5760720" cy="457200"/>
          </a:xfrm>
          <a:prstGeom prst="rect">
            <a:avLst/>
          </a:prstGeom>
          <a:solidFill>
            <a:srgbClr val="1E293B"/>
          </a:solidFill>
          <a:ln w="9525">
            <a:solidFill>
              <a:srgbClr val="FB923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FB923B"/>
                </a:solidFill>
              </a:rPr>
              <a:t>🗄️  SQLite Database</a:t>
            </a:r>
          </a:p>
        </p:txBody>
      </p:sp>
      <p:sp>
        <p:nvSpPr>
          <p:cNvPr id="26" name="Rectangle 25"/>
          <p:cNvSpPr/>
          <p:nvPr/>
        </p:nvSpPr>
        <p:spPr>
          <a:xfrm>
            <a:off x="6172200" y="4453128"/>
            <a:ext cx="5760720" cy="804672"/>
          </a:xfrm>
          <a:prstGeom prst="rect">
            <a:avLst/>
          </a:prstGeom>
          <a:solidFill>
            <a:srgbClr val="1E1B4B"/>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7" name="TextBox 26"/>
          <p:cNvSpPr txBox="1"/>
          <p:nvPr/>
        </p:nvSpPr>
        <p:spPr>
          <a:xfrm>
            <a:off x="6309360" y="4507992"/>
            <a:ext cx="5486400" cy="310896"/>
          </a:xfrm>
          <a:prstGeom prst="rect">
            <a:avLst/>
          </a:prstGeom>
          <a:noFill/>
        </p:spPr>
        <p:txBody>
          <a:bodyPr wrap="square">
            <a:spAutoFit/>
          </a:bodyPr>
          <a:lstStyle/>
          <a:p>
            <a:pPr algn="l"/>
            <a:r>
              <a:rPr sz="1200" b="1" i="0" dirty="0">
                <a:solidFill>
                  <a:srgbClr val="8B5CF6"/>
                </a:solidFill>
              </a:rPr>
              <a:t>Security: Session Cookie + CSRF Token</a:t>
            </a:r>
          </a:p>
        </p:txBody>
      </p:sp>
      <p:sp>
        <p:nvSpPr>
          <p:cNvPr id="28" name="TextBox 27"/>
          <p:cNvSpPr txBox="1"/>
          <p:nvPr/>
        </p:nvSpPr>
        <p:spPr>
          <a:xfrm>
            <a:off x="6309360" y="4855464"/>
            <a:ext cx="5486400" cy="347472"/>
          </a:xfrm>
          <a:prstGeom prst="rect">
            <a:avLst/>
          </a:prstGeom>
          <a:noFill/>
        </p:spPr>
        <p:txBody>
          <a:bodyPr wrap="square">
            <a:spAutoFit/>
          </a:bodyPr>
          <a:lstStyle/>
          <a:p>
            <a:pPr algn="l"/>
            <a:r>
              <a:rPr sz="1000" b="0" i="0" dirty="0">
                <a:solidFill>
                  <a:srgbClr val="94A3B8"/>
                </a:solidFill>
              </a:rPr>
              <a:t>All protected endpoints verify session identity. CSRF token required on POST/PUT/DELETE.</a:t>
            </a:r>
          </a:p>
        </p:txBody>
      </p:sp>
      <p:sp>
        <p:nvSpPr>
          <p:cNvPr id="29" name="TextBox 28"/>
          <p:cNvSpPr txBox="1"/>
          <p:nvPr/>
        </p:nvSpPr>
        <p:spPr>
          <a:xfrm>
            <a:off x="256032" y="5833872"/>
            <a:ext cx="5349240" cy="310896"/>
          </a:xfrm>
          <a:prstGeom prst="rect">
            <a:avLst/>
          </a:prstGeom>
          <a:noFill/>
        </p:spPr>
        <p:txBody>
          <a:bodyPr wrap="square">
            <a:spAutoFit/>
          </a:bodyPr>
          <a:lstStyle/>
          <a:p>
            <a:pPr algn="l"/>
            <a:r>
              <a:rPr sz="1200" b="1" i="0" dirty="0">
                <a:solidFill>
                  <a:srgbClr val="60A5FA"/>
                </a:solidFill>
              </a:rPr>
              <a:t>Key API Endpoints</a:t>
            </a:r>
          </a:p>
        </p:txBody>
      </p:sp>
      <p:sp>
        <p:nvSpPr>
          <p:cNvPr id="30" name="TextBox 29"/>
          <p:cNvSpPr txBox="1"/>
          <p:nvPr/>
        </p:nvSpPr>
        <p:spPr>
          <a:xfrm>
            <a:off x="256032" y="6163056"/>
            <a:ext cx="5349240" cy="329184"/>
          </a:xfrm>
          <a:prstGeom prst="rect">
            <a:avLst/>
          </a:prstGeom>
          <a:noFill/>
        </p:spPr>
        <p:txBody>
          <a:bodyPr wrap="square">
            <a:spAutoFit/>
          </a:bodyPr>
          <a:lstStyle/>
          <a:p>
            <a:pPr algn="l"/>
            <a:r>
              <a:rPr sz="1050" b="0" i="0" dirty="0">
                <a:solidFill>
                  <a:srgbClr val="94A3B8"/>
                </a:solidFill>
              </a:rPr>
              <a:t>/api/auth/  ·  /api/tasks/  ·  /api/tasks/occurrences/  ·  /api/analytics/  ·  /api/tags/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91440" cy="1051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82880" y="987552"/>
            <a:ext cx="1197864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256032" y="91440"/>
            <a:ext cx="11430000" cy="584775"/>
          </a:xfrm>
          <a:prstGeom prst="rect">
            <a:avLst/>
          </a:prstGeom>
          <a:noFill/>
        </p:spPr>
        <p:txBody>
          <a:bodyPr wrap="square">
            <a:spAutoFit/>
          </a:bodyPr>
          <a:lstStyle/>
          <a:p>
            <a:pPr algn="ctr"/>
            <a:r>
              <a:rPr sz="3200" b="1" i="0" dirty="0">
                <a:solidFill>
                  <a:srgbClr val="FFFFFF"/>
                </a:solidFill>
              </a:rPr>
              <a:t>DevOps Pipeline</a:t>
            </a:r>
          </a:p>
        </p:txBody>
      </p:sp>
      <p:sp>
        <p:nvSpPr>
          <p:cNvPr id="6" name="TextBox 5"/>
          <p:cNvSpPr txBox="1"/>
          <p:nvPr/>
        </p:nvSpPr>
        <p:spPr>
          <a:xfrm>
            <a:off x="256032" y="636508"/>
            <a:ext cx="11430000" cy="369332"/>
          </a:xfrm>
          <a:prstGeom prst="rect">
            <a:avLst/>
          </a:prstGeom>
          <a:noFill/>
        </p:spPr>
        <p:txBody>
          <a:bodyPr wrap="square">
            <a:spAutoFit/>
          </a:bodyPr>
          <a:lstStyle/>
          <a:p>
            <a:pPr algn="ctr"/>
            <a:r>
              <a:rPr b="0" i="0" dirty="0">
                <a:solidFill>
                  <a:srgbClr val="94A3B8"/>
                </a:solidFill>
              </a:rPr>
              <a:t>Automated CI/CD — From code commit to live cloud deployment</a:t>
            </a:r>
          </a:p>
        </p:txBody>
      </p:sp>
      <p:sp>
        <p:nvSpPr>
          <p:cNvPr id="10" name="Rectangle 9"/>
          <p:cNvSpPr/>
          <p:nvPr/>
        </p:nvSpPr>
        <p:spPr>
          <a:xfrm>
            <a:off x="201168" y="1636776"/>
            <a:ext cx="1298448" cy="804672"/>
          </a:xfrm>
          <a:prstGeom prst="rect">
            <a:avLst/>
          </a:prstGeom>
          <a:solidFill>
            <a:srgbClr val="1E293B"/>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8B5CF6"/>
                </a:solidFill>
              </a:rPr>
              <a:t>Developer
Commits</a:t>
            </a:r>
          </a:p>
        </p:txBody>
      </p:sp>
      <p:sp>
        <p:nvSpPr>
          <p:cNvPr id="11" name="Rectangle 10"/>
          <p:cNvSpPr/>
          <p:nvPr/>
        </p:nvSpPr>
        <p:spPr>
          <a:xfrm>
            <a:off x="1499616" y="2020824"/>
            <a:ext cx="201168" cy="3657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a:xfrm>
            <a:off x="1700784" y="1636776"/>
            <a:ext cx="1298448" cy="804672"/>
          </a:xfrm>
          <a:prstGeom prst="rect">
            <a:avLst/>
          </a:prstGeom>
          <a:solidFill>
            <a:srgbClr val="1E293B"/>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60A5FA"/>
                </a:solidFill>
              </a:rPr>
              <a:t>GitHub
Repository</a:t>
            </a:r>
          </a:p>
        </p:txBody>
      </p:sp>
      <p:sp>
        <p:nvSpPr>
          <p:cNvPr id="13" name="Rectangle 12"/>
          <p:cNvSpPr/>
          <p:nvPr/>
        </p:nvSpPr>
        <p:spPr>
          <a:xfrm>
            <a:off x="2999232" y="2020824"/>
            <a:ext cx="201168" cy="3657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 name="Rectangle 13"/>
          <p:cNvSpPr/>
          <p:nvPr/>
        </p:nvSpPr>
        <p:spPr>
          <a:xfrm>
            <a:off x="3200400" y="1636776"/>
            <a:ext cx="1298448" cy="804672"/>
          </a:xfrm>
          <a:prstGeom prst="rect">
            <a:avLst/>
          </a:prstGeom>
          <a:solidFill>
            <a:srgbClr val="1E293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6366F1"/>
                </a:solidFill>
              </a:rPr>
              <a:t>Actions
CI Trigger</a:t>
            </a:r>
          </a:p>
        </p:txBody>
      </p:sp>
      <p:sp>
        <p:nvSpPr>
          <p:cNvPr id="15" name="Rectangle 14"/>
          <p:cNvSpPr/>
          <p:nvPr/>
        </p:nvSpPr>
        <p:spPr>
          <a:xfrm>
            <a:off x="4498848" y="2020824"/>
            <a:ext cx="201168" cy="3657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6" name="Rectangle 15"/>
          <p:cNvSpPr/>
          <p:nvPr/>
        </p:nvSpPr>
        <p:spPr>
          <a:xfrm>
            <a:off x="4700016" y="1636776"/>
            <a:ext cx="1298448" cy="804672"/>
          </a:xfrm>
          <a:prstGeom prst="rect">
            <a:avLst/>
          </a:prstGeom>
          <a:solidFill>
            <a:srgbClr val="1E293B"/>
          </a:solidFill>
          <a:ln w="12700">
            <a:solidFill>
              <a:srgbClr val="4ADE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4ADE80"/>
                </a:solidFill>
              </a:rPr>
              <a:t>Backend
Tests</a:t>
            </a:r>
          </a:p>
        </p:txBody>
      </p:sp>
      <p:sp>
        <p:nvSpPr>
          <p:cNvPr id="17" name="Rectangle 16"/>
          <p:cNvSpPr/>
          <p:nvPr/>
        </p:nvSpPr>
        <p:spPr>
          <a:xfrm>
            <a:off x="5998464" y="2020824"/>
            <a:ext cx="201168" cy="3657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 name="Rectangle 17"/>
          <p:cNvSpPr/>
          <p:nvPr/>
        </p:nvSpPr>
        <p:spPr>
          <a:xfrm>
            <a:off x="6199631" y="1636776"/>
            <a:ext cx="1298448" cy="804672"/>
          </a:xfrm>
          <a:prstGeom prst="rect">
            <a:avLst/>
          </a:prstGeom>
          <a:solidFill>
            <a:srgbClr val="1E293B"/>
          </a:solidFill>
          <a:ln w="12700">
            <a:solidFill>
              <a:srgbClr val="4ADE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4ADE80"/>
                </a:solidFill>
              </a:rPr>
              <a:t>Playwright
E2E Tests</a:t>
            </a:r>
          </a:p>
        </p:txBody>
      </p:sp>
      <p:sp>
        <p:nvSpPr>
          <p:cNvPr id="19" name="Rectangle 18"/>
          <p:cNvSpPr/>
          <p:nvPr/>
        </p:nvSpPr>
        <p:spPr>
          <a:xfrm>
            <a:off x="7498079" y="2020824"/>
            <a:ext cx="201168" cy="3657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0" name="Rectangle 19"/>
          <p:cNvSpPr/>
          <p:nvPr/>
        </p:nvSpPr>
        <p:spPr>
          <a:xfrm>
            <a:off x="7699248" y="1636776"/>
            <a:ext cx="1298448" cy="804672"/>
          </a:xfrm>
          <a:prstGeom prst="rect">
            <a:avLst/>
          </a:prstGeom>
          <a:solidFill>
            <a:srgbClr val="1E293B"/>
          </a:solidFill>
          <a:ln w="12700">
            <a:solidFill>
              <a:srgbClr val="FB923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FB923B"/>
                </a:solidFill>
              </a:rPr>
              <a:t>Docker
Build</a:t>
            </a:r>
          </a:p>
        </p:txBody>
      </p:sp>
      <p:sp>
        <p:nvSpPr>
          <p:cNvPr id="21" name="Rectangle 20"/>
          <p:cNvSpPr/>
          <p:nvPr/>
        </p:nvSpPr>
        <p:spPr>
          <a:xfrm>
            <a:off x="8997696" y="2020824"/>
            <a:ext cx="201168" cy="3657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2" name="Rectangle 21"/>
          <p:cNvSpPr/>
          <p:nvPr/>
        </p:nvSpPr>
        <p:spPr>
          <a:xfrm>
            <a:off x="9198864" y="1636776"/>
            <a:ext cx="1298448" cy="804672"/>
          </a:xfrm>
          <a:prstGeom prst="rect">
            <a:avLst/>
          </a:prstGeom>
          <a:solidFill>
            <a:srgbClr val="1E293B"/>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F87171"/>
                </a:solidFill>
              </a:rPr>
              <a:t>Deploy
Render/EC2</a:t>
            </a:r>
          </a:p>
        </p:txBody>
      </p:sp>
      <p:sp>
        <p:nvSpPr>
          <p:cNvPr id="23" name="Rectangle 22"/>
          <p:cNvSpPr/>
          <p:nvPr/>
        </p:nvSpPr>
        <p:spPr>
          <a:xfrm>
            <a:off x="10497312" y="2020824"/>
            <a:ext cx="201168" cy="3657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4" name="Rectangle 23"/>
          <p:cNvSpPr/>
          <p:nvPr/>
        </p:nvSpPr>
        <p:spPr>
          <a:xfrm>
            <a:off x="10698480" y="1636776"/>
            <a:ext cx="1298448" cy="804672"/>
          </a:xfrm>
          <a:prstGeom prst="rect">
            <a:avLst/>
          </a:prstGeom>
          <a:solidFill>
            <a:srgbClr val="1E293B"/>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2DD4BF"/>
                </a:solidFill>
              </a:rPr>
              <a:t>Live App
+ Vercel</a:t>
            </a:r>
          </a:p>
        </p:txBody>
      </p:sp>
      <p:sp>
        <p:nvSpPr>
          <p:cNvPr id="25" name="TextBox 24"/>
          <p:cNvSpPr txBox="1"/>
          <p:nvPr/>
        </p:nvSpPr>
        <p:spPr>
          <a:xfrm>
            <a:off x="256032" y="3200400"/>
            <a:ext cx="5577840" cy="329184"/>
          </a:xfrm>
          <a:prstGeom prst="rect">
            <a:avLst/>
          </a:prstGeom>
          <a:noFill/>
        </p:spPr>
        <p:txBody>
          <a:bodyPr wrap="square">
            <a:spAutoFit/>
          </a:bodyPr>
          <a:lstStyle/>
          <a:p>
            <a:pPr algn="l"/>
            <a:r>
              <a:rPr sz="1200" b="1" i="0" dirty="0">
                <a:solidFill>
                  <a:srgbClr val="4ADE80"/>
                </a:solidFill>
              </a:rPr>
              <a:t>GitHub Actions — ci.yml (actual workflow)</a:t>
            </a:r>
          </a:p>
        </p:txBody>
      </p:sp>
      <p:sp>
        <p:nvSpPr>
          <p:cNvPr id="26" name="Rectangle 25"/>
          <p:cNvSpPr/>
          <p:nvPr/>
        </p:nvSpPr>
        <p:spPr>
          <a:xfrm>
            <a:off x="256032" y="3566160"/>
            <a:ext cx="5577840" cy="3127248"/>
          </a:xfrm>
          <a:prstGeom prst="rect">
            <a:avLst/>
          </a:prstGeom>
          <a:solidFill>
            <a:srgbClr val="0A0E1A"/>
          </a:solidFill>
          <a:ln w="9525">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7" name="TextBox 26"/>
          <p:cNvSpPr txBox="1"/>
          <p:nvPr/>
        </p:nvSpPr>
        <p:spPr>
          <a:xfrm>
            <a:off x="420624" y="3639312"/>
            <a:ext cx="5376672" cy="2999232"/>
          </a:xfrm>
          <a:prstGeom prst="rect">
            <a:avLst/>
          </a:prstGeom>
          <a:noFill/>
        </p:spPr>
        <p:txBody>
          <a:bodyPr wrap="square">
            <a:spAutoFit/>
          </a:bodyPr>
          <a:lstStyle/>
          <a:p>
            <a:pPr algn="l"/>
            <a:r>
              <a:rPr sz="1000" b="0" i="0" dirty="0">
                <a:solidFill>
                  <a:srgbClr val="4ADE80"/>
                </a:solidFill>
              </a:rPr>
              <a:t>Trigger: push / pull_request → branches: [main]
Job 1: backend-tests (ubuntu-latest)
  • pip install -r requirements.txt
  • python manage.py migrate
  • python manage.py test -v2
Job 2: e2e-tests  (needs: backend-tests)
  • npm ci + playwright install --with-deps
  • nohup python manage.py runserver &amp;
  • npm run test:e2e
Job 3: deploy  (needs: e2e-tests)
  • docker build -t taskmanager-app .
  • docker save → SCP → SSH → docker run</a:t>
            </a:r>
          </a:p>
        </p:txBody>
      </p:sp>
      <p:sp>
        <p:nvSpPr>
          <p:cNvPr id="28" name="TextBox 27"/>
          <p:cNvSpPr txBox="1"/>
          <p:nvPr/>
        </p:nvSpPr>
        <p:spPr>
          <a:xfrm>
            <a:off x="6172200" y="3200400"/>
            <a:ext cx="5760720" cy="329184"/>
          </a:xfrm>
          <a:prstGeom prst="rect">
            <a:avLst/>
          </a:prstGeom>
          <a:noFill/>
        </p:spPr>
        <p:txBody>
          <a:bodyPr wrap="square">
            <a:spAutoFit/>
          </a:bodyPr>
          <a:lstStyle/>
          <a:p>
            <a:pPr algn="l"/>
            <a:r>
              <a:rPr sz="1200" b="1" i="0" dirty="0">
                <a:solidFill>
                  <a:srgbClr val="60A5FA"/>
                </a:solidFill>
              </a:rPr>
              <a:t>Frontend Deployment  (Vercel)</a:t>
            </a:r>
          </a:p>
        </p:txBody>
      </p:sp>
      <p:sp>
        <p:nvSpPr>
          <p:cNvPr id="29" name="TextBox 28"/>
          <p:cNvSpPr txBox="1"/>
          <p:nvPr/>
        </p:nvSpPr>
        <p:spPr>
          <a:xfrm>
            <a:off x="6172200" y="3602736"/>
            <a:ext cx="5760720" cy="347472"/>
          </a:xfrm>
          <a:prstGeom prst="rect">
            <a:avLst/>
          </a:prstGeom>
          <a:noFill/>
        </p:spPr>
        <p:txBody>
          <a:bodyPr wrap="square">
            <a:spAutoFit/>
          </a:bodyPr>
          <a:lstStyle/>
          <a:p>
            <a:pPr algn="l"/>
            <a:r>
              <a:rPr sz="1100" b="0" i="0" dirty="0">
                <a:solidFill>
                  <a:srgbClr val="94A3B8"/>
                </a:solidFill>
              </a:rPr>
              <a:t>•  Auto-deploy on every push to main branch</a:t>
            </a:r>
          </a:p>
        </p:txBody>
      </p:sp>
      <p:sp>
        <p:nvSpPr>
          <p:cNvPr id="30" name="TextBox 29"/>
          <p:cNvSpPr txBox="1"/>
          <p:nvPr/>
        </p:nvSpPr>
        <p:spPr>
          <a:xfrm>
            <a:off x="6172200" y="3986784"/>
            <a:ext cx="5760720" cy="347472"/>
          </a:xfrm>
          <a:prstGeom prst="rect">
            <a:avLst/>
          </a:prstGeom>
          <a:noFill/>
        </p:spPr>
        <p:txBody>
          <a:bodyPr wrap="square">
            <a:spAutoFit/>
          </a:bodyPr>
          <a:lstStyle/>
          <a:p>
            <a:pPr algn="l"/>
            <a:r>
              <a:rPr sz="1100" b="0" i="0" dirty="0">
                <a:solidFill>
                  <a:srgbClr val="94A3B8"/>
                </a:solidFill>
              </a:rPr>
              <a:t>•  Preview URL generated for every pull request</a:t>
            </a:r>
          </a:p>
        </p:txBody>
      </p:sp>
      <p:sp>
        <p:nvSpPr>
          <p:cNvPr id="31" name="TextBox 30"/>
          <p:cNvSpPr txBox="1"/>
          <p:nvPr/>
        </p:nvSpPr>
        <p:spPr>
          <a:xfrm>
            <a:off x="6172200" y="4370832"/>
            <a:ext cx="5760720" cy="347472"/>
          </a:xfrm>
          <a:prstGeom prst="rect">
            <a:avLst/>
          </a:prstGeom>
          <a:noFill/>
        </p:spPr>
        <p:txBody>
          <a:bodyPr wrap="square">
            <a:spAutoFit/>
          </a:bodyPr>
          <a:lstStyle/>
          <a:p>
            <a:pPr algn="l"/>
            <a:r>
              <a:rPr sz="1100" b="0" i="0" dirty="0">
                <a:solidFill>
                  <a:srgbClr val="94A3B8"/>
                </a:solidFill>
              </a:rPr>
              <a:t>•  CDN-backed global distribution</a:t>
            </a:r>
          </a:p>
        </p:txBody>
      </p:sp>
      <p:sp>
        <p:nvSpPr>
          <p:cNvPr id="32" name="TextBox 31"/>
          <p:cNvSpPr txBox="1"/>
          <p:nvPr/>
        </p:nvSpPr>
        <p:spPr>
          <a:xfrm>
            <a:off x="6172200" y="4754880"/>
            <a:ext cx="5760720" cy="347472"/>
          </a:xfrm>
          <a:prstGeom prst="rect">
            <a:avLst/>
          </a:prstGeom>
          <a:noFill/>
        </p:spPr>
        <p:txBody>
          <a:bodyPr wrap="square">
            <a:spAutoFit/>
          </a:bodyPr>
          <a:lstStyle/>
          <a:p>
            <a:pPr algn="l"/>
            <a:r>
              <a:rPr sz="1100" b="0" i="0" dirty="0">
                <a:solidFill>
                  <a:srgbClr val="94A3B8"/>
                </a:solidFill>
              </a:rPr>
              <a:t>•  Environment variables injected at build time</a:t>
            </a:r>
          </a:p>
        </p:txBody>
      </p:sp>
      <p:sp>
        <p:nvSpPr>
          <p:cNvPr id="33" name="TextBox 32"/>
          <p:cNvSpPr txBox="1"/>
          <p:nvPr/>
        </p:nvSpPr>
        <p:spPr>
          <a:xfrm>
            <a:off x="6172200" y="5193792"/>
            <a:ext cx="5760720" cy="329184"/>
          </a:xfrm>
          <a:prstGeom prst="rect">
            <a:avLst/>
          </a:prstGeom>
          <a:noFill/>
        </p:spPr>
        <p:txBody>
          <a:bodyPr wrap="square">
            <a:spAutoFit/>
          </a:bodyPr>
          <a:lstStyle/>
          <a:p>
            <a:pPr algn="l"/>
            <a:r>
              <a:rPr sz="1200" b="1" i="0" dirty="0">
                <a:solidFill>
                  <a:srgbClr val="FB923B"/>
                </a:solidFill>
              </a:rPr>
              <a:t>Backend Deployment  (Docker → Render / EC2)</a:t>
            </a:r>
          </a:p>
        </p:txBody>
      </p:sp>
      <p:sp>
        <p:nvSpPr>
          <p:cNvPr id="34" name="TextBox 33"/>
          <p:cNvSpPr txBox="1"/>
          <p:nvPr/>
        </p:nvSpPr>
        <p:spPr>
          <a:xfrm>
            <a:off x="6172200" y="5577840"/>
            <a:ext cx="5760720" cy="329184"/>
          </a:xfrm>
          <a:prstGeom prst="rect">
            <a:avLst/>
          </a:prstGeom>
          <a:noFill/>
        </p:spPr>
        <p:txBody>
          <a:bodyPr wrap="square">
            <a:spAutoFit/>
          </a:bodyPr>
          <a:lstStyle/>
          <a:p>
            <a:pPr algn="l"/>
            <a:r>
              <a:rPr sz="1100" b="0" i="0" dirty="0">
                <a:solidFill>
                  <a:srgbClr val="94A3B8"/>
                </a:solidFill>
              </a:rPr>
              <a:t>•  Python 3.11-slim base image in Dockerfile</a:t>
            </a:r>
          </a:p>
        </p:txBody>
      </p:sp>
      <p:sp>
        <p:nvSpPr>
          <p:cNvPr id="35" name="TextBox 34"/>
          <p:cNvSpPr txBox="1"/>
          <p:nvPr/>
        </p:nvSpPr>
        <p:spPr>
          <a:xfrm>
            <a:off x="6172200" y="5943600"/>
            <a:ext cx="5760720" cy="329184"/>
          </a:xfrm>
          <a:prstGeom prst="rect">
            <a:avLst/>
          </a:prstGeom>
          <a:noFill/>
        </p:spPr>
        <p:txBody>
          <a:bodyPr wrap="square">
            <a:spAutoFit/>
          </a:bodyPr>
          <a:lstStyle/>
          <a:p>
            <a:pPr algn="l"/>
            <a:r>
              <a:rPr sz="1100" b="0" i="0" dirty="0">
                <a:solidFill>
                  <a:srgbClr val="94A3B8"/>
                </a:solidFill>
              </a:rPr>
              <a:t>•  EXPOSE 8000 → gunicorn / runserver 0.0.0.0:8000</a:t>
            </a:r>
          </a:p>
        </p:txBody>
      </p:sp>
      <p:sp>
        <p:nvSpPr>
          <p:cNvPr id="36" name="TextBox 35"/>
          <p:cNvSpPr txBox="1"/>
          <p:nvPr/>
        </p:nvSpPr>
        <p:spPr>
          <a:xfrm>
            <a:off x="6172200" y="6309359"/>
            <a:ext cx="5760720" cy="329184"/>
          </a:xfrm>
          <a:prstGeom prst="rect">
            <a:avLst/>
          </a:prstGeom>
          <a:noFill/>
        </p:spPr>
        <p:txBody>
          <a:bodyPr wrap="square">
            <a:spAutoFit/>
          </a:bodyPr>
          <a:lstStyle/>
          <a:p>
            <a:pPr algn="l"/>
            <a:r>
              <a:rPr sz="1100" b="0" i="0" dirty="0">
                <a:solidFill>
                  <a:srgbClr val="94A3B8"/>
                </a:solidFill>
              </a:rPr>
              <a:t>•  docker save → SCP to EC2 → docker run -d -p 8000:8000</a:t>
            </a:r>
          </a:p>
        </p:txBody>
      </p:sp>
      <p:sp>
        <p:nvSpPr>
          <p:cNvPr id="37" name="TextBox 36"/>
          <p:cNvSpPr txBox="1"/>
          <p:nvPr/>
        </p:nvSpPr>
        <p:spPr>
          <a:xfrm>
            <a:off x="6172200" y="6675120"/>
            <a:ext cx="5760720" cy="329184"/>
          </a:xfrm>
          <a:prstGeom prst="rect">
            <a:avLst/>
          </a:prstGeom>
          <a:noFill/>
        </p:spPr>
        <p:txBody>
          <a:bodyPr wrap="square">
            <a:spAutoFit/>
          </a:bodyPr>
          <a:lstStyle/>
          <a:p>
            <a:pPr algn="l"/>
            <a:r>
              <a:rPr sz="1100" b="0" i="0" dirty="0">
                <a:solidFill>
                  <a:srgbClr val="94A3B8"/>
                </a:solidFill>
              </a:rPr>
              <a:t>•  Auto-restart on container failure</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91440" cy="1051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82880" y="987552"/>
            <a:ext cx="1197864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256032" y="91440"/>
            <a:ext cx="11430000" cy="584775"/>
          </a:xfrm>
          <a:prstGeom prst="rect">
            <a:avLst/>
          </a:prstGeom>
          <a:noFill/>
        </p:spPr>
        <p:txBody>
          <a:bodyPr wrap="square">
            <a:spAutoFit/>
          </a:bodyPr>
          <a:lstStyle/>
          <a:p>
            <a:pPr algn="ctr"/>
            <a:r>
              <a:rPr sz="3200" b="1" i="0" dirty="0">
                <a:solidFill>
                  <a:srgbClr val="FFFFFF"/>
                </a:solidFill>
              </a:rPr>
              <a:t>UML — Use Case Diagram</a:t>
            </a:r>
          </a:p>
        </p:txBody>
      </p:sp>
      <p:sp>
        <p:nvSpPr>
          <p:cNvPr id="6" name="TextBox 5"/>
          <p:cNvSpPr txBox="1"/>
          <p:nvPr/>
        </p:nvSpPr>
        <p:spPr>
          <a:xfrm>
            <a:off x="256032" y="633722"/>
            <a:ext cx="11430000" cy="369332"/>
          </a:xfrm>
          <a:prstGeom prst="rect">
            <a:avLst/>
          </a:prstGeom>
          <a:noFill/>
        </p:spPr>
        <p:txBody>
          <a:bodyPr wrap="square">
            <a:spAutoFit/>
          </a:bodyPr>
          <a:lstStyle/>
          <a:p>
            <a:pPr algn="ctr"/>
            <a:r>
              <a:rPr b="0" i="0" dirty="0">
                <a:solidFill>
                  <a:srgbClr val="94A3B8"/>
                </a:solidFill>
              </a:rPr>
              <a:t>System actors and their interactions with Yoga-Do</a:t>
            </a:r>
          </a:p>
        </p:txBody>
      </p:sp>
      <p:sp>
        <p:nvSpPr>
          <p:cNvPr id="7" name="TextBox 6"/>
          <p:cNvSpPr txBox="1"/>
          <p:nvPr/>
        </p:nvSpPr>
        <p:spPr>
          <a:xfrm>
            <a:off x="164592" y="3108960"/>
            <a:ext cx="914400" cy="658368"/>
          </a:xfrm>
          <a:prstGeom prst="rect">
            <a:avLst/>
          </a:prstGeom>
          <a:noFill/>
        </p:spPr>
        <p:txBody>
          <a:bodyPr wrap="square">
            <a:spAutoFit/>
          </a:bodyPr>
          <a:lstStyle/>
          <a:p>
            <a:pPr algn="ctr"/>
            <a:r>
              <a:rPr sz="3600" b="0" i="0" dirty="0">
                <a:solidFill>
                  <a:srgbClr val="FFFFFF"/>
                </a:solidFill>
              </a:rPr>
              <a:t>👤</a:t>
            </a:r>
          </a:p>
        </p:txBody>
      </p:sp>
      <p:sp>
        <p:nvSpPr>
          <p:cNvPr id="8" name="TextBox 7"/>
          <p:cNvSpPr txBox="1"/>
          <p:nvPr/>
        </p:nvSpPr>
        <p:spPr>
          <a:xfrm>
            <a:off x="73152" y="3822191"/>
            <a:ext cx="1115568" cy="502920"/>
          </a:xfrm>
          <a:prstGeom prst="rect">
            <a:avLst/>
          </a:prstGeom>
          <a:noFill/>
        </p:spPr>
        <p:txBody>
          <a:bodyPr wrap="square">
            <a:spAutoFit/>
          </a:bodyPr>
          <a:lstStyle/>
          <a:p>
            <a:pPr algn="ctr"/>
            <a:r>
              <a:rPr sz="1100" b="0" i="0" dirty="0">
                <a:solidFill>
                  <a:srgbClr val="FFFFFF"/>
                </a:solidFill>
              </a:rPr>
              <a:t>User
(Actor)</a:t>
            </a:r>
          </a:p>
        </p:txBody>
      </p:sp>
      <p:sp>
        <p:nvSpPr>
          <p:cNvPr id="9" name="Rectangle 8"/>
          <p:cNvSpPr/>
          <p:nvPr/>
        </p:nvSpPr>
        <p:spPr>
          <a:xfrm>
            <a:off x="1417320" y="1188720"/>
            <a:ext cx="10469880" cy="5440680"/>
          </a:xfrm>
          <a:prstGeom prst="rect">
            <a:avLst/>
          </a:prstGeom>
          <a:solidFill>
            <a:srgbClr val="0D101F"/>
          </a:solidFill>
          <a:ln w="1905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1600200" y="1216152"/>
            <a:ext cx="10104120" cy="329184"/>
          </a:xfrm>
          <a:prstGeom prst="rect">
            <a:avLst/>
          </a:prstGeom>
          <a:noFill/>
        </p:spPr>
        <p:txBody>
          <a:bodyPr wrap="square">
            <a:spAutoFit/>
          </a:bodyPr>
          <a:lstStyle/>
          <a:p>
            <a:pPr algn="ctr"/>
            <a:r>
              <a:rPr sz="1200" b="1" i="0" dirty="0">
                <a:solidFill>
                  <a:srgbClr val="60A5FA"/>
                </a:solidFill>
              </a:rPr>
              <a:t>« Yoga-Do System »</a:t>
            </a:r>
          </a:p>
        </p:txBody>
      </p:sp>
      <p:sp>
        <p:nvSpPr>
          <p:cNvPr id="11" name="Rectangle 10"/>
          <p:cNvSpPr/>
          <p:nvPr/>
        </p:nvSpPr>
        <p:spPr>
          <a:xfrm>
            <a:off x="1828800" y="1719072"/>
            <a:ext cx="3886200" cy="438912"/>
          </a:xfrm>
          <a:prstGeom prst="rect">
            <a:avLst/>
          </a:prstGeom>
          <a:solidFill>
            <a:srgbClr val="1E293B"/>
          </a:solidFill>
          <a:ln w="9525">
            <a:solidFill>
              <a:srgbClr val="8B5CF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dirty="0">
                <a:solidFill>
                  <a:srgbClr val="FFFFFF"/>
                </a:solidFill>
              </a:rPr>
              <a:t>◉  Register / Login / Logout</a:t>
            </a:r>
          </a:p>
        </p:txBody>
      </p:sp>
      <p:sp>
        <p:nvSpPr>
          <p:cNvPr id="12" name="Rectangle 11"/>
          <p:cNvSpPr/>
          <p:nvPr/>
        </p:nvSpPr>
        <p:spPr>
          <a:xfrm>
            <a:off x="1828800" y="2286000"/>
            <a:ext cx="3886200" cy="438912"/>
          </a:xfrm>
          <a:prstGeom prst="rect">
            <a:avLst/>
          </a:prstGeom>
          <a:solidFill>
            <a:srgbClr val="1E293B"/>
          </a:solidFill>
          <a:ln w="9525">
            <a:solidFill>
              <a:srgbClr val="60A5F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dirty="0">
                <a:solidFill>
                  <a:srgbClr val="FFFFFF"/>
                </a:solidFill>
              </a:rPr>
              <a:t>◉  View Month Calendar</a:t>
            </a:r>
          </a:p>
        </p:txBody>
      </p:sp>
      <p:sp>
        <p:nvSpPr>
          <p:cNvPr id="13" name="Rectangle 12"/>
          <p:cNvSpPr/>
          <p:nvPr/>
        </p:nvSpPr>
        <p:spPr>
          <a:xfrm>
            <a:off x="1828800" y="2852928"/>
            <a:ext cx="3886200" cy="438912"/>
          </a:xfrm>
          <a:prstGeom prst="rect">
            <a:avLst/>
          </a:prstGeom>
          <a:solidFill>
            <a:srgbClr val="1E293B"/>
          </a:solidFill>
          <a:ln w="9525">
            <a:solidFill>
              <a:srgbClr val="60A5F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dirty="0">
                <a:solidFill>
                  <a:srgbClr val="FFFFFF"/>
                </a:solidFill>
              </a:rPr>
              <a:t>◉  View Week Calendar</a:t>
            </a:r>
          </a:p>
        </p:txBody>
      </p:sp>
      <p:sp>
        <p:nvSpPr>
          <p:cNvPr id="14" name="Rectangle 13"/>
          <p:cNvSpPr/>
          <p:nvPr/>
        </p:nvSpPr>
        <p:spPr>
          <a:xfrm>
            <a:off x="1828800" y="3419856"/>
            <a:ext cx="3886200" cy="438912"/>
          </a:xfrm>
          <a:prstGeom prst="rect">
            <a:avLst/>
          </a:prstGeom>
          <a:solidFill>
            <a:srgbClr val="1E293B"/>
          </a:solidFill>
          <a:ln w="9525">
            <a:solidFill>
              <a:srgbClr val="60A5F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dirty="0">
                <a:solidFill>
                  <a:srgbClr val="FFFFFF"/>
                </a:solidFill>
              </a:rPr>
              <a:t>◉  View Day View</a:t>
            </a:r>
          </a:p>
        </p:txBody>
      </p:sp>
      <p:sp>
        <p:nvSpPr>
          <p:cNvPr id="15" name="Rectangle 14"/>
          <p:cNvSpPr/>
          <p:nvPr/>
        </p:nvSpPr>
        <p:spPr>
          <a:xfrm>
            <a:off x="1828800" y="3986784"/>
            <a:ext cx="3886200" cy="438912"/>
          </a:xfrm>
          <a:prstGeom prst="rect">
            <a:avLst/>
          </a:prstGeom>
          <a:solidFill>
            <a:srgbClr val="1E293B"/>
          </a:solidFill>
          <a:ln w="9525">
            <a:solidFill>
              <a:srgbClr val="4ADE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dirty="0">
                <a:solidFill>
                  <a:srgbClr val="FFFFFF"/>
                </a:solidFill>
              </a:rPr>
              <a:t>◉  Create New Task</a:t>
            </a:r>
          </a:p>
        </p:txBody>
      </p:sp>
      <p:sp>
        <p:nvSpPr>
          <p:cNvPr id="16" name="Rectangle 15"/>
          <p:cNvSpPr/>
          <p:nvPr/>
        </p:nvSpPr>
        <p:spPr>
          <a:xfrm>
            <a:off x="1828800" y="4553712"/>
            <a:ext cx="3886200" cy="438912"/>
          </a:xfrm>
          <a:prstGeom prst="rect">
            <a:avLst/>
          </a:prstGeom>
          <a:solidFill>
            <a:srgbClr val="1E293B"/>
          </a:solidFill>
          <a:ln w="9525">
            <a:solidFill>
              <a:srgbClr val="4ADE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dirty="0">
                <a:solidFill>
                  <a:srgbClr val="FFFFFF"/>
                </a:solidFill>
              </a:rPr>
              <a:t>◉  Edit or Delete a Task</a:t>
            </a:r>
          </a:p>
        </p:txBody>
      </p:sp>
      <p:sp>
        <p:nvSpPr>
          <p:cNvPr id="17" name="Rectangle 16"/>
          <p:cNvSpPr/>
          <p:nvPr/>
        </p:nvSpPr>
        <p:spPr>
          <a:xfrm>
            <a:off x="6080760" y="1719072"/>
            <a:ext cx="3886200" cy="438912"/>
          </a:xfrm>
          <a:prstGeom prst="rect">
            <a:avLst/>
          </a:prstGeom>
          <a:solidFill>
            <a:srgbClr val="1E293B"/>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dirty="0">
                <a:solidFill>
                  <a:srgbClr val="FFFFFF"/>
                </a:solidFill>
              </a:rPr>
              <a:t>◉  Set Recurring Task (RRULE)</a:t>
            </a:r>
          </a:p>
        </p:txBody>
      </p:sp>
      <p:sp>
        <p:nvSpPr>
          <p:cNvPr id="18" name="Rectangle 17"/>
          <p:cNvSpPr/>
          <p:nvPr/>
        </p:nvSpPr>
        <p:spPr>
          <a:xfrm>
            <a:off x="6080760" y="2286000"/>
            <a:ext cx="3886200" cy="438912"/>
          </a:xfrm>
          <a:prstGeom prst="rect">
            <a:avLst/>
          </a:prstGeom>
          <a:solidFill>
            <a:srgbClr val="1E293B"/>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dirty="0">
                <a:solidFill>
                  <a:srgbClr val="FFFFFF"/>
                </a:solidFill>
              </a:rPr>
              <a:t>◉  Edit Single Occurrence</a:t>
            </a:r>
          </a:p>
        </p:txBody>
      </p:sp>
      <p:sp>
        <p:nvSpPr>
          <p:cNvPr id="19" name="Rectangle 18"/>
          <p:cNvSpPr/>
          <p:nvPr/>
        </p:nvSpPr>
        <p:spPr>
          <a:xfrm>
            <a:off x="6080760" y="2852928"/>
            <a:ext cx="3886200" cy="438912"/>
          </a:xfrm>
          <a:prstGeom prst="rect">
            <a:avLst/>
          </a:prstGeom>
          <a:solidFill>
            <a:srgbClr val="1E293B"/>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dirty="0">
                <a:solidFill>
                  <a:srgbClr val="FFFFFF"/>
                </a:solidFill>
              </a:rPr>
              <a:t>◉  Edit Entire Recurring Series</a:t>
            </a:r>
          </a:p>
        </p:txBody>
      </p:sp>
      <p:sp>
        <p:nvSpPr>
          <p:cNvPr id="20" name="Rectangle 19"/>
          <p:cNvSpPr/>
          <p:nvPr/>
        </p:nvSpPr>
        <p:spPr>
          <a:xfrm>
            <a:off x="6080760" y="3419856"/>
            <a:ext cx="3886200" cy="438912"/>
          </a:xfrm>
          <a:prstGeom prst="rect">
            <a:avLst/>
          </a:prstGeom>
          <a:solidFill>
            <a:srgbClr val="1E293B"/>
          </a:solidFill>
          <a:ln w="9525">
            <a:solidFill>
              <a:srgbClr val="FB923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dirty="0">
                <a:solidFill>
                  <a:srgbClr val="FFFFFF"/>
                </a:solidFill>
              </a:rPr>
              <a:t>◉  View Analytics Dashboard</a:t>
            </a:r>
          </a:p>
        </p:txBody>
      </p:sp>
      <p:sp>
        <p:nvSpPr>
          <p:cNvPr id="21" name="Rectangle 20"/>
          <p:cNvSpPr/>
          <p:nvPr/>
        </p:nvSpPr>
        <p:spPr>
          <a:xfrm>
            <a:off x="6080760" y="3986784"/>
            <a:ext cx="3886200" cy="438912"/>
          </a:xfrm>
          <a:prstGeom prst="rect">
            <a:avLst/>
          </a:prstGeom>
          <a:solidFill>
            <a:srgbClr val="1E293B"/>
          </a:solidFill>
          <a:ln w="9525">
            <a:solidFill>
              <a:srgbClr val="FB923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dirty="0">
                <a:solidFill>
                  <a:srgbClr val="FFFFFF"/>
                </a:solidFill>
              </a:rPr>
              <a:t>◉  Use Focus Timer</a:t>
            </a:r>
          </a:p>
        </p:txBody>
      </p:sp>
      <p:sp>
        <p:nvSpPr>
          <p:cNvPr id="22" name="Rectangle 21"/>
          <p:cNvSpPr/>
          <p:nvPr/>
        </p:nvSpPr>
        <p:spPr>
          <a:xfrm>
            <a:off x="6080760" y="4553712"/>
            <a:ext cx="3886200" cy="438912"/>
          </a:xfrm>
          <a:prstGeom prst="rect">
            <a:avLst/>
          </a:prstGeom>
          <a:solidFill>
            <a:srgbClr val="1E293B"/>
          </a:solidFill>
          <a:ln w="9525">
            <a:solidFill>
              <a:srgbClr val="FBBF2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dirty="0">
                <a:solidFill>
                  <a:srgbClr val="FFFFFF"/>
                </a:solidFill>
              </a:rPr>
              <a:t>◉  Write Notes / View Quotes</a:t>
            </a:r>
          </a:p>
        </p:txBody>
      </p:sp>
      <p:sp>
        <p:nvSpPr>
          <p:cNvPr id="23" name="TextBox 22"/>
          <p:cNvSpPr txBox="1"/>
          <p:nvPr/>
        </p:nvSpPr>
        <p:spPr>
          <a:xfrm>
            <a:off x="1600200" y="5166360"/>
            <a:ext cx="10104120" cy="246221"/>
          </a:xfrm>
          <a:prstGeom prst="rect">
            <a:avLst/>
          </a:prstGeom>
          <a:noFill/>
        </p:spPr>
        <p:txBody>
          <a:bodyPr wrap="square">
            <a:spAutoFit/>
          </a:bodyPr>
          <a:lstStyle/>
          <a:p>
            <a:pPr algn="ctr"/>
            <a:r>
              <a:rPr sz="1000" b="0" i="1" dirty="0">
                <a:solidFill>
                  <a:srgbClr val="6366F1"/>
                </a:solidFill>
              </a:rPr>
              <a:t>«include»: </a:t>
            </a:r>
            <a:r>
              <a:rPr sz="1000" b="0" i="1" dirty="0" smtClean="0">
                <a:solidFill>
                  <a:srgbClr val="6366F1"/>
                </a:solidFill>
              </a:rPr>
              <a:t>Auth</a:t>
            </a:r>
            <a:r>
              <a:rPr lang="en-US" sz="1000" b="0" i="1" dirty="0" smtClean="0">
                <a:solidFill>
                  <a:srgbClr val="6366F1"/>
                </a:solidFill>
              </a:rPr>
              <a:t>entication</a:t>
            </a:r>
            <a:r>
              <a:rPr sz="1000" b="0" i="1" dirty="0" smtClean="0">
                <a:solidFill>
                  <a:srgbClr val="6366F1"/>
                </a:solidFill>
              </a:rPr>
              <a:t> </a:t>
            </a:r>
            <a:r>
              <a:rPr sz="1000" b="0" i="1" dirty="0">
                <a:solidFill>
                  <a:srgbClr val="6366F1"/>
                </a:solidFill>
              </a:rPr>
              <a:t>check performed on every protected use case</a:t>
            </a:r>
          </a:p>
        </p:txBody>
      </p:sp>
      <p:sp>
        <p:nvSpPr>
          <p:cNvPr id="24" name="TextBox 23"/>
          <p:cNvSpPr txBox="1"/>
          <p:nvPr/>
        </p:nvSpPr>
        <p:spPr>
          <a:xfrm>
            <a:off x="1600200" y="5449824"/>
            <a:ext cx="10104120" cy="274320"/>
          </a:xfrm>
          <a:prstGeom prst="rect">
            <a:avLst/>
          </a:prstGeom>
          <a:noFill/>
        </p:spPr>
        <p:txBody>
          <a:bodyPr wrap="square">
            <a:spAutoFit/>
          </a:bodyPr>
          <a:lstStyle/>
          <a:p>
            <a:pPr algn="ctr"/>
            <a:r>
              <a:rPr sz="1000" b="0" i="1" dirty="0">
                <a:solidFill>
                  <a:srgbClr val="2DD4BF"/>
                </a:solidFill>
              </a:rPr>
              <a:t>«extend»: Set Recurring Task extends Create New Task</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91440" cy="1051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82880" y="987552"/>
            <a:ext cx="1197864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256032" y="91440"/>
            <a:ext cx="11430000" cy="584775"/>
          </a:xfrm>
          <a:prstGeom prst="rect">
            <a:avLst/>
          </a:prstGeom>
          <a:noFill/>
        </p:spPr>
        <p:txBody>
          <a:bodyPr wrap="square">
            <a:spAutoFit/>
          </a:bodyPr>
          <a:lstStyle/>
          <a:p>
            <a:pPr algn="ctr"/>
            <a:r>
              <a:rPr sz="3200" b="1" i="0" dirty="0">
                <a:solidFill>
                  <a:srgbClr val="FFFFFF"/>
                </a:solidFill>
              </a:rPr>
              <a:t>UML — Class Diagram</a:t>
            </a:r>
          </a:p>
        </p:txBody>
      </p:sp>
      <p:sp>
        <p:nvSpPr>
          <p:cNvPr id="6" name="TextBox 5"/>
          <p:cNvSpPr txBox="1"/>
          <p:nvPr/>
        </p:nvSpPr>
        <p:spPr>
          <a:xfrm>
            <a:off x="256032" y="648438"/>
            <a:ext cx="11430000" cy="369332"/>
          </a:xfrm>
          <a:prstGeom prst="rect">
            <a:avLst/>
          </a:prstGeom>
          <a:noFill/>
        </p:spPr>
        <p:txBody>
          <a:bodyPr wrap="square">
            <a:spAutoFit/>
          </a:bodyPr>
          <a:lstStyle/>
          <a:p>
            <a:pPr algn="ctr"/>
            <a:r>
              <a:rPr b="0" i="0" dirty="0">
                <a:solidFill>
                  <a:srgbClr val="94A3B8"/>
                </a:solidFill>
              </a:rPr>
              <a:t>Django data models and their relationships</a:t>
            </a:r>
          </a:p>
        </p:txBody>
      </p:sp>
      <p:sp>
        <p:nvSpPr>
          <p:cNvPr id="7" name="Rectangle 6"/>
          <p:cNvSpPr/>
          <p:nvPr/>
        </p:nvSpPr>
        <p:spPr>
          <a:xfrm>
            <a:off x="137160" y="1234440"/>
            <a:ext cx="2834640" cy="2624327"/>
          </a:xfrm>
          <a:prstGeom prst="rect">
            <a:avLst/>
          </a:prstGeom>
          <a:solidFill>
            <a:srgbClr val="1E293B"/>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a:xfrm>
            <a:off x="137160" y="1234440"/>
            <a:ext cx="2834640" cy="38404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FFFFFF"/>
                </a:solidFill>
              </a:rPr>
              <a:t>User</a:t>
            </a:r>
          </a:p>
        </p:txBody>
      </p:sp>
      <p:sp>
        <p:nvSpPr>
          <p:cNvPr id="9" name="TextBox 8"/>
          <p:cNvSpPr txBox="1"/>
          <p:nvPr/>
        </p:nvSpPr>
        <p:spPr>
          <a:xfrm>
            <a:off x="210311" y="1645920"/>
            <a:ext cx="2670048" cy="246888"/>
          </a:xfrm>
          <a:prstGeom prst="rect">
            <a:avLst/>
          </a:prstGeom>
          <a:noFill/>
        </p:spPr>
        <p:txBody>
          <a:bodyPr wrap="square">
            <a:spAutoFit/>
          </a:bodyPr>
          <a:lstStyle/>
          <a:p>
            <a:pPr algn="l"/>
            <a:r>
              <a:rPr sz="1000" b="0" i="0" dirty="0">
                <a:solidFill>
                  <a:srgbClr val="CBD5E1"/>
                </a:solidFill>
              </a:rPr>
              <a:t>  + id: UUID (PK)</a:t>
            </a:r>
          </a:p>
        </p:txBody>
      </p:sp>
      <p:sp>
        <p:nvSpPr>
          <p:cNvPr id="10" name="TextBox 9"/>
          <p:cNvSpPr txBox="1"/>
          <p:nvPr/>
        </p:nvSpPr>
        <p:spPr>
          <a:xfrm>
            <a:off x="210311" y="1920240"/>
            <a:ext cx="2670048" cy="246888"/>
          </a:xfrm>
          <a:prstGeom prst="rect">
            <a:avLst/>
          </a:prstGeom>
          <a:noFill/>
        </p:spPr>
        <p:txBody>
          <a:bodyPr wrap="square">
            <a:spAutoFit/>
          </a:bodyPr>
          <a:lstStyle/>
          <a:p>
            <a:pPr algn="l"/>
            <a:r>
              <a:rPr sz="1000" b="0" i="0" dirty="0">
                <a:solidFill>
                  <a:srgbClr val="CBD5E1"/>
                </a:solidFill>
              </a:rPr>
              <a:t>  + username: CharField</a:t>
            </a:r>
          </a:p>
        </p:txBody>
      </p:sp>
      <p:sp>
        <p:nvSpPr>
          <p:cNvPr id="11" name="TextBox 10"/>
          <p:cNvSpPr txBox="1"/>
          <p:nvPr/>
        </p:nvSpPr>
        <p:spPr>
          <a:xfrm>
            <a:off x="210311" y="2194560"/>
            <a:ext cx="2670048" cy="246888"/>
          </a:xfrm>
          <a:prstGeom prst="rect">
            <a:avLst/>
          </a:prstGeom>
          <a:noFill/>
        </p:spPr>
        <p:txBody>
          <a:bodyPr wrap="square">
            <a:spAutoFit/>
          </a:bodyPr>
          <a:lstStyle/>
          <a:p>
            <a:pPr algn="l"/>
            <a:r>
              <a:rPr sz="1000" b="0" i="0" dirty="0">
                <a:solidFill>
                  <a:srgbClr val="CBD5E1"/>
                </a:solidFill>
              </a:rPr>
              <a:t>  + email: EmailField</a:t>
            </a:r>
          </a:p>
        </p:txBody>
      </p:sp>
      <p:sp>
        <p:nvSpPr>
          <p:cNvPr id="12" name="TextBox 11"/>
          <p:cNvSpPr txBox="1"/>
          <p:nvPr/>
        </p:nvSpPr>
        <p:spPr>
          <a:xfrm>
            <a:off x="210311" y="2468880"/>
            <a:ext cx="2670048" cy="246888"/>
          </a:xfrm>
          <a:prstGeom prst="rect">
            <a:avLst/>
          </a:prstGeom>
          <a:noFill/>
        </p:spPr>
        <p:txBody>
          <a:bodyPr wrap="square">
            <a:spAutoFit/>
          </a:bodyPr>
          <a:lstStyle/>
          <a:p>
            <a:pPr algn="l"/>
            <a:r>
              <a:rPr sz="1000" b="0" i="0" dirty="0">
                <a:solidFill>
                  <a:srgbClr val="CBD5E1"/>
                </a:solidFill>
              </a:rPr>
              <a:t>  + password: hashed</a:t>
            </a:r>
          </a:p>
        </p:txBody>
      </p:sp>
      <p:sp>
        <p:nvSpPr>
          <p:cNvPr id="13" name="Rectangle 12"/>
          <p:cNvSpPr/>
          <p:nvPr/>
        </p:nvSpPr>
        <p:spPr>
          <a:xfrm>
            <a:off x="137160" y="2743200"/>
            <a:ext cx="2834640" cy="2743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 name="TextBox 13"/>
          <p:cNvSpPr txBox="1"/>
          <p:nvPr/>
        </p:nvSpPr>
        <p:spPr>
          <a:xfrm>
            <a:off x="210311" y="2798064"/>
            <a:ext cx="2670048" cy="246888"/>
          </a:xfrm>
          <a:prstGeom prst="rect">
            <a:avLst/>
          </a:prstGeom>
          <a:noFill/>
        </p:spPr>
        <p:txBody>
          <a:bodyPr wrap="square">
            <a:spAutoFit/>
          </a:bodyPr>
          <a:lstStyle/>
          <a:p>
            <a:pPr algn="l"/>
            <a:r>
              <a:rPr sz="1000" b="0" i="0" dirty="0">
                <a:solidFill>
                  <a:srgbClr val="60A5FA"/>
                </a:solidFill>
              </a:rPr>
              <a:t>  ⊕ register()</a:t>
            </a:r>
          </a:p>
        </p:txBody>
      </p:sp>
      <p:sp>
        <p:nvSpPr>
          <p:cNvPr id="15" name="TextBox 14"/>
          <p:cNvSpPr txBox="1"/>
          <p:nvPr/>
        </p:nvSpPr>
        <p:spPr>
          <a:xfrm>
            <a:off x="210311" y="3072384"/>
            <a:ext cx="2670048" cy="246888"/>
          </a:xfrm>
          <a:prstGeom prst="rect">
            <a:avLst/>
          </a:prstGeom>
          <a:noFill/>
        </p:spPr>
        <p:txBody>
          <a:bodyPr wrap="square">
            <a:spAutoFit/>
          </a:bodyPr>
          <a:lstStyle/>
          <a:p>
            <a:pPr algn="l"/>
            <a:r>
              <a:rPr sz="1000" b="0" i="0" dirty="0">
                <a:solidFill>
                  <a:srgbClr val="60A5FA"/>
                </a:solidFill>
              </a:rPr>
              <a:t>  ⊕ login()</a:t>
            </a:r>
          </a:p>
        </p:txBody>
      </p:sp>
      <p:sp>
        <p:nvSpPr>
          <p:cNvPr id="16" name="TextBox 15"/>
          <p:cNvSpPr txBox="1"/>
          <p:nvPr/>
        </p:nvSpPr>
        <p:spPr>
          <a:xfrm>
            <a:off x="210311" y="3346704"/>
            <a:ext cx="2670048" cy="246888"/>
          </a:xfrm>
          <a:prstGeom prst="rect">
            <a:avLst/>
          </a:prstGeom>
          <a:noFill/>
        </p:spPr>
        <p:txBody>
          <a:bodyPr wrap="square">
            <a:spAutoFit/>
          </a:bodyPr>
          <a:lstStyle/>
          <a:p>
            <a:pPr algn="l"/>
            <a:r>
              <a:rPr sz="1000" b="0" i="0" dirty="0">
                <a:solidFill>
                  <a:srgbClr val="60A5FA"/>
                </a:solidFill>
              </a:rPr>
              <a:t>  ⊕ logout()</a:t>
            </a:r>
          </a:p>
        </p:txBody>
      </p:sp>
      <p:sp>
        <p:nvSpPr>
          <p:cNvPr id="17" name="Rectangle 16"/>
          <p:cNvSpPr/>
          <p:nvPr/>
        </p:nvSpPr>
        <p:spPr>
          <a:xfrm>
            <a:off x="3182112" y="1234440"/>
            <a:ext cx="2834640" cy="3995927"/>
          </a:xfrm>
          <a:prstGeom prst="rect">
            <a:avLst/>
          </a:prstGeom>
          <a:solidFill>
            <a:srgbClr val="1E293B"/>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 name="Rectangle 17"/>
          <p:cNvSpPr/>
          <p:nvPr/>
        </p:nvSpPr>
        <p:spPr>
          <a:xfrm>
            <a:off x="3182112" y="1234440"/>
            <a:ext cx="2834640" cy="384048"/>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FFFFFF"/>
                </a:solidFill>
              </a:rPr>
              <a:t>Task</a:t>
            </a:r>
          </a:p>
        </p:txBody>
      </p:sp>
      <p:sp>
        <p:nvSpPr>
          <p:cNvPr id="19" name="TextBox 18"/>
          <p:cNvSpPr txBox="1"/>
          <p:nvPr/>
        </p:nvSpPr>
        <p:spPr>
          <a:xfrm>
            <a:off x="3255264" y="1645920"/>
            <a:ext cx="2670048" cy="246888"/>
          </a:xfrm>
          <a:prstGeom prst="rect">
            <a:avLst/>
          </a:prstGeom>
          <a:noFill/>
        </p:spPr>
        <p:txBody>
          <a:bodyPr wrap="square">
            <a:spAutoFit/>
          </a:bodyPr>
          <a:lstStyle/>
          <a:p>
            <a:pPr algn="l"/>
            <a:r>
              <a:rPr sz="1000" b="0" i="0" dirty="0">
                <a:solidFill>
                  <a:srgbClr val="CBD5E1"/>
                </a:solidFill>
              </a:rPr>
              <a:t>  + id: UUID (PK)</a:t>
            </a:r>
          </a:p>
        </p:txBody>
      </p:sp>
      <p:sp>
        <p:nvSpPr>
          <p:cNvPr id="20" name="TextBox 19"/>
          <p:cNvSpPr txBox="1"/>
          <p:nvPr/>
        </p:nvSpPr>
        <p:spPr>
          <a:xfrm>
            <a:off x="3255264" y="1920240"/>
            <a:ext cx="2670048" cy="246888"/>
          </a:xfrm>
          <a:prstGeom prst="rect">
            <a:avLst/>
          </a:prstGeom>
          <a:noFill/>
        </p:spPr>
        <p:txBody>
          <a:bodyPr wrap="square">
            <a:spAutoFit/>
          </a:bodyPr>
          <a:lstStyle/>
          <a:p>
            <a:pPr algn="l"/>
            <a:r>
              <a:rPr sz="1000" b="0" i="0" dirty="0">
                <a:solidFill>
                  <a:srgbClr val="CBD5E1"/>
                </a:solidFill>
              </a:rPr>
              <a:t>  + user: FK(User)</a:t>
            </a:r>
          </a:p>
        </p:txBody>
      </p:sp>
      <p:sp>
        <p:nvSpPr>
          <p:cNvPr id="21" name="TextBox 20"/>
          <p:cNvSpPr txBox="1"/>
          <p:nvPr/>
        </p:nvSpPr>
        <p:spPr>
          <a:xfrm>
            <a:off x="3255264" y="2194560"/>
            <a:ext cx="2670048" cy="246888"/>
          </a:xfrm>
          <a:prstGeom prst="rect">
            <a:avLst/>
          </a:prstGeom>
          <a:noFill/>
        </p:spPr>
        <p:txBody>
          <a:bodyPr wrap="square">
            <a:spAutoFit/>
          </a:bodyPr>
          <a:lstStyle/>
          <a:p>
            <a:pPr algn="l"/>
            <a:r>
              <a:rPr sz="1000" b="0" i="0" dirty="0">
                <a:solidFill>
                  <a:srgbClr val="CBD5E1"/>
                </a:solidFill>
              </a:rPr>
              <a:t>  + title: CharField</a:t>
            </a:r>
          </a:p>
        </p:txBody>
      </p:sp>
      <p:sp>
        <p:nvSpPr>
          <p:cNvPr id="22" name="TextBox 21"/>
          <p:cNvSpPr txBox="1"/>
          <p:nvPr/>
        </p:nvSpPr>
        <p:spPr>
          <a:xfrm>
            <a:off x="3255264" y="2468880"/>
            <a:ext cx="2670048" cy="246888"/>
          </a:xfrm>
          <a:prstGeom prst="rect">
            <a:avLst/>
          </a:prstGeom>
          <a:noFill/>
        </p:spPr>
        <p:txBody>
          <a:bodyPr wrap="square">
            <a:spAutoFit/>
          </a:bodyPr>
          <a:lstStyle/>
          <a:p>
            <a:pPr algn="l"/>
            <a:r>
              <a:rPr sz="1000" b="0" i="0" dirty="0">
                <a:solidFill>
                  <a:srgbClr val="CBD5E1"/>
                </a:solidFill>
              </a:rPr>
              <a:t>  + date: DateTimeField</a:t>
            </a:r>
          </a:p>
        </p:txBody>
      </p:sp>
      <p:sp>
        <p:nvSpPr>
          <p:cNvPr id="23" name="TextBox 22"/>
          <p:cNvSpPr txBox="1"/>
          <p:nvPr/>
        </p:nvSpPr>
        <p:spPr>
          <a:xfrm>
            <a:off x="3255264" y="2743200"/>
            <a:ext cx="2670048" cy="246888"/>
          </a:xfrm>
          <a:prstGeom prst="rect">
            <a:avLst/>
          </a:prstGeom>
          <a:noFill/>
        </p:spPr>
        <p:txBody>
          <a:bodyPr wrap="square">
            <a:spAutoFit/>
          </a:bodyPr>
          <a:lstStyle/>
          <a:p>
            <a:pPr algn="l"/>
            <a:r>
              <a:rPr sz="1000" b="0" i="0" dirty="0">
                <a:solidFill>
                  <a:srgbClr val="CBD5E1"/>
                </a:solidFill>
              </a:rPr>
              <a:t>  + priority: CharField</a:t>
            </a:r>
          </a:p>
        </p:txBody>
      </p:sp>
      <p:sp>
        <p:nvSpPr>
          <p:cNvPr id="24" name="TextBox 23"/>
          <p:cNvSpPr txBox="1"/>
          <p:nvPr/>
        </p:nvSpPr>
        <p:spPr>
          <a:xfrm>
            <a:off x="3255264" y="3017520"/>
            <a:ext cx="2670048" cy="246888"/>
          </a:xfrm>
          <a:prstGeom prst="rect">
            <a:avLst/>
          </a:prstGeom>
          <a:noFill/>
        </p:spPr>
        <p:txBody>
          <a:bodyPr wrap="square">
            <a:spAutoFit/>
          </a:bodyPr>
          <a:lstStyle/>
          <a:p>
            <a:pPr algn="l"/>
            <a:r>
              <a:rPr sz="1000" b="0" i="0" dirty="0">
                <a:solidFill>
                  <a:srgbClr val="CBD5E1"/>
                </a:solidFill>
              </a:rPr>
              <a:t>  + status: CharField</a:t>
            </a:r>
          </a:p>
        </p:txBody>
      </p:sp>
      <p:sp>
        <p:nvSpPr>
          <p:cNvPr id="25" name="TextBox 24"/>
          <p:cNvSpPr txBox="1"/>
          <p:nvPr/>
        </p:nvSpPr>
        <p:spPr>
          <a:xfrm>
            <a:off x="3255264" y="3291839"/>
            <a:ext cx="2670048" cy="246888"/>
          </a:xfrm>
          <a:prstGeom prst="rect">
            <a:avLst/>
          </a:prstGeom>
          <a:noFill/>
        </p:spPr>
        <p:txBody>
          <a:bodyPr wrap="square">
            <a:spAutoFit/>
          </a:bodyPr>
          <a:lstStyle/>
          <a:p>
            <a:pPr algn="l"/>
            <a:r>
              <a:rPr sz="1000" b="0" i="0" dirty="0">
                <a:solidFill>
                  <a:srgbClr val="CBD5E1"/>
                </a:solidFill>
              </a:rPr>
              <a:t>  + is_recurring: BooleanField</a:t>
            </a:r>
          </a:p>
        </p:txBody>
      </p:sp>
      <p:sp>
        <p:nvSpPr>
          <p:cNvPr id="26" name="TextBox 25"/>
          <p:cNvSpPr txBox="1"/>
          <p:nvPr/>
        </p:nvSpPr>
        <p:spPr>
          <a:xfrm>
            <a:off x="3255264" y="3566160"/>
            <a:ext cx="2670048" cy="246888"/>
          </a:xfrm>
          <a:prstGeom prst="rect">
            <a:avLst/>
          </a:prstGeom>
          <a:noFill/>
        </p:spPr>
        <p:txBody>
          <a:bodyPr wrap="square">
            <a:spAutoFit/>
          </a:bodyPr>
          <a:lstStyle/>
          <a:p>
            <a:pPr algn="l"/>
            <a:r>
              <a:rPr sz="1000" b="0" i="0" dirty="0">
                <a:solidFill>
                  <a:srgbClr val="CBD5E1"/>
                </a:solidFill>
              </a:rPr>
              <a:t>  + recurrence_rule: TextField</a:t>
            </a:r>
          </a:p>
        </p:txBody>
      </p:sp>
      <p:sp>
        <p:nvSpPr>
          <p:cNvPr id="27" name="Rectangle 26"/>
          <p:cNvSpPr/>
          <p:nvPr/>
        </p:nvSpPr>
        <p:spPr>
          <a:xfrm>
            <a:off x="3182112" y="3840480"/>
            <a:ext cx="2834640" cy="27432"/>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8" name="TextBox 27"/>
          <p:cNvSpPr txBox="1"/>
          <p:nvPr/>
        </p:nvSpPr>
        <p:spPr>
          <a:xfrm>
            <a:off x="3255264" y="3895344"/>
            <a:ext cx="2670048" cy="246888"/>
          </a:xfrm>
          <a:prstGeom prst="rect">
            <a:avLst/>
          </a:prstGeom>
          <a:noFill/>
        </p:spPr>
        <p:txBody>
          <a:bodyPr wrap="square">
            <a:spAutoFit/>
          </a:bodyPr>
          <a:lstStyle/>
          <a:p>
            <a:pPr algn="l"/>
            <a:r>
              <a:rPr sz="1000" b="0" i="0" dirty="0">
                <a:solidFill>
                  <a:srgbClr val="60A5FA"/>
                </a:solidFill>
              </a:rPr>
              <a:t>  ⊕ create()</a:t>
            </a:r>
          </a:p>
        </p:txBody>
      </p:sp>
      <p:sp>
        <p:nvSpPr>
          <p:cNvPr id="29" name="TextBox 28"/>
          <p:cNvSpPr txBox="1"/>
          <p:nvPr/>
        </p:nvSpPr>
        <p:spPr>
          <a:xfrm>
            <a:off x="3255264" y="4169663"/>
            <a:ext cx="2670048" cy="246888"/>
          </a:xfrm>
          <a:prstGeom prst="rect">
            <a:avLst/>
          </a:prstGeom>
          <a:noFill/>
        </p:spPr>
        <p:txBody>
          <a:bodyPr wrap="square">
            <a:spAutoFit/>
          </a:bodyPr>
          <a:lstStyle/>
          <a:p>
            <a:pPr algn="l"/>
            <a:r>
              <a:rPr sz="1000" b="0" i="0" dirty="0">
                <a:solidFill>
                  <a:srgbClr val="60A5FA"/>
                </a:solidFill>
              </a:rPr>
              <a:t>  ⊕ update()</a:t>
            </a:r>
          </a:p>
        </p:txBody>
      </p:sp>
      <p:sp>
        <p:nvSpPr>
          <p:cNvPr id="30" name="TextBox 29"/>
          <p:cNvSpPr txBox="1"/>
          <p:nvPr/>
        </p:nvSpPr>
        <p:spPr>
          <a:xfrm>
            <a:off x="3255264" y="4443983"/>
            <a:ext cx="2670048" cy="246888"/>
          </a:xfrm>
          <a:prstGeom prst="rect">
            <a:avLst/>
          </a:prstGeom>
          <a:noFill/>
        </p:spPr>
        <p:txBody>
          <a:bodyPr wrap="square">
            <a:spAutoFit/>
          </a:bodyPr>
          <a:lstStyle/>
          <a:p>
            <a:pPr algn="l"/>
            <a:r>
              <a:rPr sz="1000" b="0" i="0" dirty="0">
                <a:solidFill>
                  <a:srgbClr val="60A5FA"/>
                </a:solidFill>
              </a:rPr>
              <a:t>  ⊕ delete()</a:t>
            </a:r>
          </a:p>
        </p:txBody>
      </p:sp>
      <p:sp>
        <p:nvSpPr>
          <p:cNvPr id="31" name="TextBox 30"/>
          <p:cNvSpPr txBox="1"/>
          <p:nvPr/>
        </p:nvSpPr>
        <p:spPr>
          <a:xfrm>
            <a:off x="3255264" y="4718304"/>
            <a:ext cx="2670048" cy="246888"/>
          </a:xfrm>
          <a:prstGeom prst="rect">
            <a:avLst/>
          </a:prstGeom>
          <a:noFill/>
        </p:spPr>
        <p:txBody>
          <a:bodyPr wrap="square">
            <a:spAutoFit/>
          </a:bodyPr>
          <a:lstStyle/>
          <a:p>
            <a:pPr algn="l"/>
            <a:r>
              <a:rPr sz="1000" b="0" i="0" dirty="0">
                <a:solidFill>
                  <a:srgbClr val="60A5FA"/>
                </a:solidFill>
              </a:rPr>
              <a:t>  ⊕ expand_occurrences()</a:t>
            </a:r>
          </a:p>
        </p:txBody>
      </p:sp>
      <p:sp>
        <p:nvSpPr>
          <p:cNvPr id="32" name="Rectangle 31"/>
          <p:cNvSpPr/>
          <p:nvPr/>
        </p:nvSpPr>
        <p:spPr>
          <a:xfrm>
            <a:off x="6199632" y="1234440"/>
            <a:ext cx="2834640" cy="2624328"/>
          </a:xfrm>
          <a:prstGeom prst="rect">
            <a:avLst/>
          </a:prstGeom>
          <a:solidFill>
            <a:srgbClr val="1E293B"/>
          </a:solidFill>
          <a:ln w="127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3" name="Rectangle 32"/>
          <p:cNvSpPr/>
          <p:nvPr/>
        </p:nvSpPr>
        <p:spPr>
          <a:xfrm>
            <a:off x="6199632" y="1234440"/>
            <a:ext cx="2834640" cy="384048"/>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FFFFFF"/>
                </a:solidFill>
              </a:rPr>
              <a:t>RecurrenceException</a:t>
            </a:r>
          </a:p>
        </p:txBody>
      </p:sp>
      <p:sp>
        <p:nvSpPr>
          <p:cNvPr id="34" name="TextBox 33"/>
          <p:cNvSpPr txBox="1"/>
          <p:nvPr/>
        </p:nvSpPr>
        <p:spPr>
          <a:xfrm>
            <a:off x="6272784" y="1645920"/>
            <a:ext cx="2670048" cy="246888"/>
          </a:xfrm>
          <a:prstGeom prst="rect">
            <a:avLst/>
          </a:prstGeom>
          <a:noFill/>
        </p:spPr>
        <p:txBody>
          <a:bodyPr wrap="square">
            <a:spAutoFit/>
          </a:bodyPr>
          <a:lstStyle/>
          <a:p>
            <a:pPr algn="l"/>
            <a:r>
              <a:rPr sz="1000" b="0" i="0" dirty="0">
                <a:solidFill>
                  <a:srgbClr val="CBD5E1"/>
                </a:solidFill>
              </a:rPr>
              <a:t>  + id: UUID (PK)</a:t>
            </a:r>
          </a:p>
        </p:txBody>
      </p:sp>
      <p:sp>
        <p:nvSpPr>
          <p:cNvPr id="35" name="TextBox 34"/>
          <p:cNvSpPr txBox="1"/>
          <p:nvPr/>
        </p:nvSpPr>
        <p:spPr>
          <a:xfrm>
            <a:off x="6272784" y="1920240"/>
            <a:ext cx="2670048" cy="246888"/>
          </a:xfrm>
          <a:prstGeom prst="rect">
            <a:avLst/>
          </a:prstGeom>
          <a:noFill/>
        </p:spPr>
        <p:txBody>
          <a:bodyPr wrap="square">
            <a:spAutoFit/>
          </a:bodyPr>
          <a:lstStyle/>
          <a:p>
            <a:pPr algn="l"/>
            <a:r>
              <a:rPr sz="1000" b="0" i="0" dirty="0">
                <a:solidFill>
                  <a:srgbClr val="CBD5E1"/>
                </a:solidFill>
              </a:rPr>
              <a:t>  + task: FK(Task)</a:t>
            </a:r>
          </a:p>
        </p:txBody>
      </p:sp>
      <p:sp>
        <p:nvSpPr>
          <p:cNvPr id="36" name="TextBox 35"/>
          <p:cNvSpPr txBox="1"/>
          <p:nvPr/>
        </p:nvSpPr>
        <p:spPr>
          <a:xfrm>
            <a:off x="6272784" y="2194560"/>
            <a:ext cx="2670048" cy="246888"/>
          </a:xfrm>
          <a:prstGeom prst="rect">
            <a:avLst/>
          </a:prstGeom>
          <a:noFill/>
        </p:spPr>
        <p:txBody>
          <a:bodyPr wrap="square">
            <a:spAutoFit/>
          </a:bodyPr>
          <a:lstStyle/>
          <a:p>
            <a:pPr algn="l"/>
            <a:r>
              <a:rPr sz="1000" b="0" i="0" dirty="0">
                <a:solidFill>
                  <a:srgbClr val="CBD5E1"/>
                </a:solidFill>
              </a:rPr>
              <a:t>  + occurrence_date: DateTimeField</a:t>
            </a:r>
          </a:p>
        </p:txBody>
      </p:sp>
      <p:sp>
        <p:nvSpPr>
          <p:cNvPr id="37" name="TextBox 36"/>
          <p:cNvSpPr txBox="1"/>
          <p:nvPr/>
        </p:nvSpPr>
        <p:spPr>
          <a:xfrm>
            <a:off x="6272784" y="2468880"/>
            <a:ext cx="2670048" cy="246888"/>
          </a:xfrm>
          <a:prstGeom prst="rect">
            <a:avLst/>
          </a:prstGeom>
          <a:noFill/>
        </p:spPr>
        <p:txBody>
          <a:bodyPr wrap="square">
            <a:spAutoFit/>
          </a:bodyPr>
          <a:lstStyle/>
          <a:p>
            <a:pPr algn="l"/>
            <a:r>
              <a:rPr sz="1000" b="0" i="0" dirty="0">
                <a:solidFill>
                  <a:srgbClr val="CBD5E1"/>
                </a:solidFill>
              </a:rPr>
              <a:t>  + is_deleted: BooleanField</a:t>
            </a:r>
          </a:p>
        </p:txBody>
      </p:sp>
      <p:sp>
        <p:nvSpPr>
          <p:cNvPr id="38" name="TextBox 37"/>
          <p:cNvSpPr txBox="1"/>
          <p:nvPr/>
        </p:nvSpPr>
        <p:spPr>
          <a:xfrm>
            <a:off x="6272784" y="2743200"/>
            <a:ext cx="2670048" cy="246888"/>
          </a:xfrm>
          <a:prstGeom prst="rect">
            <a:avLst/>
          </a:prstGeom>
          <a:noFill/>
        </p:spPr>
        <p:txBody>
          <a:bodyPr wrap="square">
            <a:spAutoFit/>
          </a:bodyPr>
          <a:lstStyle/>
          <a:p>
            <a:pPr algn="l"/>
            <a:r>
              <a:rPr sz="1000" b="0" i="0" dirty="0">
                <a:solidFill>
                  <a:srgbClr val="CBD5E1"/>
                </a:solidFill>
              </a:rPr>
              <a:t>  + override_data: JSONField</a:t>
            </a:r>
          </a:p>
        </p:txBody>
      </p:sp>
      <p:sp>
        <p:nvSpPr>
          <p:cNvPr id="39" name="Rectangle 38"/>
          <p:cNvSpPr/>
          <p:nvPr/>
        </p:nvSpPr>
        <p:spPr>
          <a:xfrm>
            <a:off x="6199632" y="3017520"/>
            <a:ext cx="2834640" cy="27432"/>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0" name="TextBox 39"/>
          <p:cNvSpPr txBox="1"/>
          <p:nvPr/>
        </p:nvSpPr>
        <p:spPr>
          <a:xfrm>
            <a:off x="6272784" y="3072384"/>
            <a:ext cx="2670048" cy="246888"/>
          </a:xfrm>
          <a:prstGeom prst="rect">
            <a:avLst/>
          </a:prstGeom>
          <a:noFill/>
        </p:spPr>
        <p:txBody>
          <a:bodyPr wrap="square">
            <a:spAutoFit/>
          </a:bodyPr>
          <a:lstStyle/>
          <a:p>
            <a:pPr algn="l"/>
            <a:r>
              <a:rPr sz="1000" b="0" i="0" dirty="0">
                <a:solidFill>
                  <a:srgbClr val="60A5FA"/>
                </a:solidFill>
              </a:rPr>
              <a:t>  ⊕ apply()</a:t>
            </a:r>
          </a:p>
        </p:txBody>
      </p:sp>
      <p:sp>
        <p:nvSpPr>
          <p:cNvPr id="41" name="TextBox 40"/>
          <p:cNvSpPr txBox="1"/>
          <p:nvPr/>
        </p:nvSpPr>
        <p:spPr>
          <a:xfrm>
            <a:off x="6272784" y="3346703"/>
            <a:ext cx="2670048" cy="246888"/>
          </a:xfrm>
          <a:prstGeom prst="rect">
            <a:avLst/>
          </a:prstGeom>
          <a:noFill/>
        </p:spPr>
        <p:txBody>
          <a:bodyPr wrap="square">
            <a:spAutoFit/>
          </a:bodyPr>
          <a:lstStyle/>
          <a:p>
            <a:pPr algn="l"/>
            <a:r>
              <a:rPr sz="1000" b="0" i="0" dirty="0">
                <a:solidFill>
                  <a:srgbClr val="60A5FA"/>
                </a:solidFill>
              </a:rPr>
              <a:t>  ⊕ override()</a:t>
            </a:r>
          </a:p>
        </p:txBody>
      </p:sp>
      <p:sp>
        <p:nvSpPr>
          <p:cNvPr id="42" name="Rectangle 41"/>
          <p:cNvSpPr/>
          <p:nvPr/>
        </p:nvSpPr>
        <p:spPr>
          <a:xfrm>
            <a:off x="9217152" y="1234440"/>
            <a:ext cx="2834640" cy="1024128"/>
          </a:xfrm>
          <a:prstGeom prst="rect">
            <a:avLst/>
          </a:prstGeom>
          <a:solidFill>
            <a:srgbClr val="1E293B"/>
          </a:solidFill>
          <a:ln w="12700">
            <a:solidFill>
              <a:srgbClr val="FB92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3" name="Rectangle 42"/>
          <p:cNvSpPr/>
          <p:nvPr/>
        </p:nvSpPr>
        <p:spPr>
          <a:xfrm>
            <a:off x="9217152" y="1234440"/>
            <a:ext cx="2834640" cy="384048"/>
          </a:xfrm>
          <a:prstGeom prst="rect">
            <a:avLst/>
          </a:prstGeom>
          <a:solidFill>
            <a:srgbClr val="FB923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FFFFFF"/>
                </a:solidFill>
              </a:rPr>
              <a:t>Tag</a:t>
            </a:r>
          </a:p>
        </p:txBody>
      </p:sp>
      <p:sp>
        <p:nvSpPr>
          <p:cNvPr id="44" name="TextBox 43"/>
          <p:cNvSpPr txBox="1"/>
          <p:nvPr/>
        </p:nvSpPr>
        <p:spPr>
          <a:xfrm>
            <a:off x="9290304" y="1645920"/>
            <a:ext cx="2670048" cy="246888"/>
          </a:xfrm>
          <a:prstGeom prst="rect">
            <a:avLst/>
          </a:prstGeom>
          <a:noFill/>
        </p:spPr>
        <p:txBody>
          <a:bodyPr wrap="square">
            <a:spAutoFit/>
          </a:bodyPr>
          <a:lstStyle/>
          <a:p>
            <a:pPr algn="l"/>
            <a:r>
              <a:rPr sz="1000" b="0" i="0" dirty="0">
                <a:solidFill>
                  <a:srgbClr val="CBD5E1"/>
                </a:solidFill>
              </a:rPr>
              <a:t>  + id: UUID (PK)</a:t>
            </a:r>
          </a:p>
        </p:txBody>
      </p:sp>
      <p:sp>
        <p:nvSpPr>
          <p:cNvPr id="45" name="TextBox 44"/>
          <p:cNvSpPr txBox="1"/>
          <p:nvPr/>
        </p:nvSpPr>
        <p:spPr>
          <a:xfrm>
            <a:off x="9290304" y="1920240"/>
            <a:ext cx="2670048" cy="246888"/>
          </a:xfrm>
          <a:prstGeom prst="rect">
            <a:avLst/>
          </a:prstGeom>
          <a:noFill/>
        </p:spPr>
        <p:txBody>
          <a:bodyPr wrap="square">
            <a:spAutoFit/>
          </a:bodyPr>
          <a:lstStyle/>
          <a:p>
            <a:pPr algn="l"/>
            <a:r>
              <a:rPr sz="1000" b="0" i="0" dirty="0">
                <a:solidFill>
                  <a:srgbClr val="CBD5E1"/>
                </a:solidFill>
              </a:rPr>
              <a:t>  + name: CharField (unique)</a:t>
            </a:r>
          </a:p>
        </p:txBody>
      </p:sp>
      <p:sp>
        <p:nvSpPr>
          <p:cNvPr id="46" name="TextBox 45"/>
          <p:cNvSpPr txBox="1"/>
          <p:nvPr/>
        </p:nvSpPr>
        <p:spPr>
          <a:xfrm>
            <a:off x="137160" y="5669280"/>
            <a:ext cx="2834640" cy="310896"/>
          </a:xfrm>
          <a:prstGeom prst="rect">
            <a:avLst/>
          </a:prstGeom>
          <a:noFill/>
        </p:spPr>
        <p:txBody>
          <a:bodyPr wrap="square">
            <a:spAutoFit/>
          </a:bodyPr>
          <a:lstStyle/>
          <a:p>
            <a:pPr algn="l"/>
            <a:r>
              <a:rPr sz="1050" b="1" i="0" dirty="0">
                <a:solidFill>
                  <a:srgbClr val="8B5CF6"/>
                </a:solidFill>
              </a:rPr>
              <a:t>User ──(1:N)──► Task</a:t>
            </a:r>
          </a:p>
        </p:txBody>
      </p:sp>
      <p:sp>
        <p:nvSpPr>
          <p:cNvPr id="47" name="TextBox 46"/>
          <p:cNvSpPr txBox="1"/>
          <p:nvPr/>
        </p:nvSpPr>
        <p:spPr>
          <a:xfrm>
            <a:off x="137160" y="5989320"/>
            <a:ext cx="2834640" cy="274320"/>
          </a:xfrm>
          <a:prstGeom prst="rect">
            <a:avLst/>
          </a:prstGeom>
          <a:noFill/>
        </p:spPr>
        <p:txBody>
          <a:bodyPr wrap="square">
            <a:spAutoFit/>
          </a:bodyPr>
          <a:lstStyle/>
          <a:p>
            <a:pPr algn="l"/>
            <a:r>
              <a:rPr sz="950" b="0" i="1" dirty="0">
                <a:solidFill>
                  <a:srgbClr val="94A3B8"/>
                </a:solidFill>
              </a:rPr>
              <a:t>Cascade delete — all user tasks removed</a:t>
            </a:r>
          </a:p>
        </p:txBody>
      </p:sp>
      <p:sp>
        <p:nvSpPr>
          <p:cNvPr id="48" name="TextBox 47"/>
          <p:cNvSpPr txBox="1"/>
          <p:nvPr/>
        </p:nvSpPr>
        <p:spPr>
          <a:xfrm>
            <a:off x="3182112" y="5669280"/>
            <a:ext cx="2834640" cy="310896"/>
          </a:xfrm>
          <a:prstGeom prst="rect">
            <a:avLst/>
          </a:prstGeom>
          <a:noFill/>
        </p:spPr>
        <p:txBody>
          <a:bodyPr wrap="square">
            <a:spAutoFit/>
          </a:bodyPr>
          <a:lstStyle/>
          <a:p>
            <a:pPr algn="l"/>
            <a:r>
              <a:rPr sz="1050" b="1" i="0" dirty="0">
                <a:solidFill>
                  <a:srgbClr val="60A5FA"/>
                </a:solidFill>
              </a:rPr>
              <a:t>Task ──(1:N)──► RecurrenceException</a:t>
            </a:r>
          </a:p>
        </p:txBody>
      </p:sp>
      <p:sp>
        <p:nvSpPr>
          <p:cNvPr id="49" name="TextBox 48"/>
          <p:cNvSpPr txBox="1"/>
          <p:nvPr/>
        </p:nvSpPr>
        <p:spPr>
          <a:xfrm>
            <a:off x="3182112" y="5989320"/>
            <a:ext cx="2834640" cy="274320"/>
          </a:xfrm>
          <a:prstGeom prst="rect">
            <a:avLst/>
          </a:prstGeom>
          <a:noFill/>
        </p:spPr>
        <p:txBody>
          <a:bodyPr wrap="square">
            <a:spAutoFit/>
          </a:bodyPr>
          <a:lstStyle/>
          <a:p>
            <a:pPr algn="l"/>
            <a:r>
              <a:rPr sz="950" b="0" i="1" dirty="0">
                <a:solidFill>
                  <a:srgbClr val="94A3B8"/>
                </a:solidFill>
              </a:rPr>
              <a:t>Cascade delete — exceptions removed with task</a:t>
            </a:r>
          </a:p>
        </p:txBody>
      </p:sp>
      <p:sp>
        <p:nvSpPr>
          <p:cNvPr id="50" name="TextBox 49"/>
          <p:cNvSpPr txBox="1"/>
          <p:nvPr/>
        </p:nvSpPr>
        <p:spPr>
          <a:xfrm>
            <a:off x="6199632" y="5669280"/>
            <a:ext cx="2834640" cy="310896"/>
          </a:xfrm>
          <a:prstGeom prst="rect">
            <a:avLst/>
          </a:prstGeom>
          <a:noFill/>
        </p:spPr>
        <p:txBody>
          <a:bodyPr wrap="square">
            <a:spAutoFit/>
          </a:bodyPr>
          <a:lstStyle/>
          <a:p>
            <a:pPr algn="l"/>
            <a:r>
              <a:rPr sz="1050" b="1" i="0" dirty="0">
                <a:solidFill>
                  <a:srgbClr val="FB923B"/>
                </a:solidFill>
              </a:rPr>
              <a:t>Task ──(M:N)──► Tag</a:t>
            </a:r>
          </a:p>
        </p:txBody>
      </p:sp>
      <p:sp>
        <p:nvSpPr>
          <p:cNvPr id="51" name="TextBox 50"/>
          <p:cNvSpPr txBox="1"/>
          <p:nvPr/>
        </p:nvSpPr>
        <p:spPr>
          <a:xfrm>
            <a:off x="6199632" y="5989320"/>
            <a:ext cx="2834640" cy="274320"/>
          </a:xfrm>
          <a:prstGeom prst="rect">
            <a:avLst/>
          </a:prstGeom>
          <a:noFill/>
        </p:spPr>
        <p:txBody>
          <a:bodyPr wrap="square">
            <a:spAutoFit/>
          </a:bodyPr>
          <a:lstStyle/>
          <a:p>
            <a:pPr algn="l"/>
            <a:r>
              <a:rPr sz="950" b="0" i="1" dirty="0">
                <a:solidFill>
                  <a:srgbClr val="94A3B8"/>
                </a:solidFill>
              </a:rPr>
              <a:t>ManyToMany; tags normalised for analytics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91440" cy="1051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82880" y="987552"/>
            <a:ext cx="1197864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256032" y="91440"/>
            <a:ext cx="11430000" cy="769441"/>
          </a:xfrm>
          <a:prstGeom prst="rect">
            <a:avLst/>
          </a:prstGeom>
          <a:noFill/>
        </p:spPr>
        <p:txBody>
          <a:bodyPr wrap="square">
            <a:spAutoFit/>
          </a:bodyPr>
          <a:lstStyle/>
          <a:p>
            <a:pPr algn="ctr"/>
            <a:r>
              <a:rPr sz="4400" b="1" i="0" dirty="0">
                <a:solidFill>
                  <a:srgbClr val="FFFFFF"/>
                </a:solidFill>
              </a:rPr>
              <a:t>UML — Activity &amp; Sequence Diagrams</a:t>
            </a:r>
          </a:p>
        </p:txBody>
      </p:sp>
      <p:sp>
        <p:nvSpPr>
          <p:cNvPr id="6" name="TextBox 5"/>
          <p:cNvSpPr txBox="1"/>
          <p:nvPr/>
        </p:nvSpPr>
        <p:spPr>
          <a:xfrm>
            <a:off x="201168" y="1115568"/>
            <a:ext cx="5440680" cy="329184"/>
          </a:xfrm>
          <a:prstGeom prst="rect">
            <a:avLst/>
          </a:prstGeom>
          <a:noFill/>
        </p:spPr>
        <p:txBody>
          <a:bodyPr wrap="square">
            <a:spAutoFit/>
          </a:bodyPr>
          <a:lstStyle/>
          <a:p>
            <a:pPr algn="l"/>
            <a:r>
              <a:rPr sz="1300" b="1" i="0" dirty="0">
                <a:solidFill>
                  <a:srgbClr val="8B5CF6"/>
                </a:solidFill>
              </a:rPr>
              <a:t>Activity Diagram — Task Creation Flow</a:t>
            </a:r>
          </a:p>
        </p:txBody>
      </p:sp>
      <p:sp>
        <p:nvSpPr>
          <p:cNvPr id="7" name="Oval 6"/>
          <p:cNvSpPr/>
          <p:nvPr/>
        </p:nvSpPr>
        <p:spPr>
          <a:xfrm>
            <a:off x="1298448" y="1499616"/>
            <a:ext cx="384048" cy="384048"/>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a:xfrm>
            <a:off x="1408176" y="1901952"/>
            <a:ext cx="36576" cy="12801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a:xfrm>
            <a:off x="658368" y="2029967"/>
            <a:ext cx="2880360" cy="402336"/>
          </a:xfrm>
          <a:prstGeom prst="rect">
            <a:avLst/>
          </a:prstGeom>
          <a:solidFill>
            <a:srgbClr val="1E293B"/>
          </a:solidFill>
          <a:ln w="9525">
            <a:solidFill>
              <a:srgbClr val="60A5F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0" dirty="0">
                <a:solidFill>
                  <a:srgbClr val="FFFFFF"/>
                </a:solidFill>
              </a:rPr>
              <a:t>User opens + Create Task</a:t>
            </a:r>
          </a:p>
        </p:txBody>
      </p:sp>
      <p:sp>
        <p:nvSpPr>
          <p:cNvPr id="10" name="Rectangle 9"/>
          <p:cNvSpPr/>
          <p:nvPr/>
        </p:nvSpPr>
        <p:spPr>
          <a:xfrm>
            <a:off x="1408176" y="2432303"/>
            <a:ext cx="36576" cy="12801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a:xfrm>
            <a:off x="658368" y="2560320"/>
            <a:ext cx="2880360" cy="402336"/>
          </a:xfrm>
          <a:prstGeom prst="rect">
            <a:avLst/>
          </a:prstGeom>
          <a:solidFill>
            <a:srgbClr val="1E293B"/>
          </a:solidFill>
          <a:ln w="9525">
            <a:solidFill>
              <a:srgbClr val="60A5F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0" dirty="0">
                <a:solidFill>
                  <a:srgbClr val="FFFFFF"/>
                </a:solidFill>
              </a:rPr>
              <a:t>Fill title, date, priority</a:t>
            </a:r>
          </a:p>
        </p:txBody>
      </p:sp>
      <p:sp>
        <p:nvSpPr>
          <p:cNvPr id="12" name="Rectangle 11"/>
          <p:cNvSpPr/>
          <p:nvPr/>
        </p:nvSpPr>
        <p:spPr>
          <a:xfrm>
            <a:off x="1408176" y="2962656"/>
            <a:ext cx="36576" cy="12801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a:xfrm>
            <a:off x="658368" y="3090672"/>
            <a:ext cx="2880360" cy="402336"/>
          </a:xfrm>
          <a:prstGeom prst="rect">
            <a:avLst/>
          </a:prstGeom>
          <a:solidFill>
            <a:srgbClr val="1E1B4B"/>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8B5CF6"/>
                </a:solidFill>
              </a:rPr>
              <a:t>◇ Enable Recurring?</a:t>
            </a:r>
          </a:p>
        </p:txBody>
      </p:sp>
      <p:sp>
        <p:nvSpPr>
          <p:cNvPr id="14" name="Rectangle 13"/>
          <p:cNvSpPr/>
          <p:nvPr/>
        </p:nvSpPr>
        <p:spPr>
          <a:xfrm>
            <a:off x="1408176" y="3493008"/>
            <a:ext cx="36576" cy="12801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Rectangle 14"/>
          <p:cNvSpPr/>
          <p:nvPr/>
        </p:nvSpPr>
        <p:spPr>
          <a:xfrm>
            <a:off x="658368" y="3621024"/>
            <a:ext cx="2880360" cy="402336"/>
          </a:xfrm>
          <a:prstGeom prst="rect">
            <a:avLst/>
          </a:prstGeom>
          <a:solidFill>
            <a:srgbClr val="1E293B"/>
          </a:solidFill>
          <a:ln w="9525">
            <a:solidFill>
              <a:srgbClr val="4ADE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0" dirty="0">
                <a:solidFill>
                  <a:srgbClr val="FFFFFF"/>
                </a:solidFill>
              </a:rPr>
              <a:t>Set RRULE (freq/days/count)</a:t>
            </a:r>
          </a:p>
        </p:txBody>
      </p:sp>
      <p:sp>
        <p:nvSpPr>
          <p:cNvPr id="16" name="Rectangle 15"/>
          <p:cNvSpPr/>
          <p:nvPr/>
        </p:nvSpPr>
        <p:spPr>
          <a:xfrm>
            <a:off x="1408176" y="4023360"/>
            <a:ext cx="36576" cy="12801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7" name="Rectangle 16"/>
          <p:cNvSpPr/>
          <p:nvPr/>
        </p:nvSpPr>
        <p:spPr>
          <a:xfrm>
            <a:off x="658368" y="4151376"/>
            <a:ext cx="2880360" cy="402336"/>
          </a:xfrm>
          <a:prstGeom prst="rect">
            <a:avLst/>
          </a:prstGeom>
          <a:solidFill>
            <a:srgbClr val="1E293B"/>
          </a:solidFill>
          <a:ln w="9525">
            <a:solidFill>
              <a:srgbClr val="60A5F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0" dirty="0">
                <a:solidFill>
                  <a:srgbClr val="FFFFFF"/>
                </a:solidFill>
              </a:rPr>
              <a:t>Submit to /api/tasks/</a:t>
            </a:r>
          </a:p>
        </p:txBody>
      </p:sp>
      <p:sp>
        <p:nvSpPr>
          <p:cNvPr id="18" name="Rectangle 17"/>
          <p:cNvSpPr/>
          <p:nvPr/>
        </p:nvSpPr>
        <p:spPr>
          <a:xfrm>
            <a:off x="1408176" y="4553712"/>
            <a:ext cx="36576" cy="12801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9" name="Rectangle 18"/>
          <p:cNvSpPr/>
          <p:nvPr/>
        </p:nvSpPr>
        <p:spPr>
          <a:xfrm>
            <a:off x="658368" y="4681727"/>
            <a:ext cx="2880360" cy="402336"/>
          </a:xfrm>
          <a:prstGeom prst="rect">
            <a:avLst/>
          </a:prstGeom>
          <a:solidFill>
            <a:srgbClr val="1E293B"/>
          </a:solidFill>
          <a:ln w="9525">
            <a:solidFill>
              <a:srgbClr val="4ADE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0" dirty="0">
                <a:solidFill>
                  <a:srgbClr val="FFFFFF"/>
                </a:solidFill>
              </a:rPr>
              <a:t>Server expands occurrences</a:t>
            </a:r>
          </a:p>
        </p:txBody>
      </p:sp>
      <p:sp>
        <p:nvSpPr>
          <p:cNvPr id="20" name="Rectangle 19"/>
          <p:cNvSpPr/>
          <p:nvPr/>
        </p:nvSpPr>
        <p:spPr>
          <a:xfrm>
            <a:off x="1408176" y="5084064"/>
            <a:ext cx="36576" cy="12801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1" name="Rectangle 20"/>
          <p:cNvSpPr/>
          <p:nvPr/>
        </p:nvSpPr>
        <p:spPr>
          <a:xfrm>
            <a:off x="658368" y="5212079"/>
            <a:ext cx="2880360" cy="402336"/>
          </a:xfrm>
          <a:prstGeom prst="rect">
            <a:avLst/>
          </a:prstGeom>
          <a:solidFill>
            <a:srgbClr val="1E293B"/>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0" dirty="0">
                <a:solidFill>
                  <a:srgbClr val="FFFFFF"/>
                </a:solidFill>
              </a:rPr>
              <a:t>Calendar view refreshed</a:t>
            </a:r>
          </a:p>
        </p:txBody>
      </p:sp>
      <p:sp>
        <p:nvSpPr>
          <p:cNvPr id="22" name="Rectangle 21"/>
          <p:cNvSpPr/>
          <p:nvPr/>
        </p:nvSpPr>
        <p:spPr>
          <a:xfrm>
            <a:off x="1408176" y="5614416"/>
            <a:ext cx="36576" cy="12801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3" name="Oval 22"/>
          <p:cNvSpPr/>
          <p:nvPr/>
        </p:nvSpPr>
        <p:spPr>
          <a:xfrm>
            <a:off x="1298448" y="5742431"/>
            <a:ext cx="384048" cy="384048"/>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4" name="TextBox 23"/>
          <p:cNvSpPr txBox="1"/>
          <p:nvPr/>
        </p:nvSpPr>
        <p:spPr>
          <a:xfrm>
            <a:off x="3675887" y="3127248"/>
            <a:ext cx="777240" cy="310896"/>
          </a:xfrm>
          <a:prstGeom prst="rect">
            <a:avLst/>
          </a:prstGeom>
          <a:noFill/>
        </p:spPr>
        <p:txBody>
          <a:bodyPr wrap="square">
            <a:spAutoFit/>
          </a:bodyPr>
          <a:lstStyle/>
          <a:p>
            <a:pPr algn="l"/>
            <a:r>
              <a:rPr sz="900" b="0" i="1" dirty="0">
                <a:solidFill>
                  <a:srgbClr val="94A3B8"/>
                </a:solidFill>
              </a:rPr>
              <a:t>Yes →</a:t>
            </a:r>
          </a:p>
        </p:txBody>
      </p:sp>
      <p:sp>
        <p:nvSpPr>
          <p:cNvPr id="25" name="TextBox 24"/>
          <p:cNvSpPr txBox="1"/>
          <p:nvPr/>
        </p:nvSpPr>
        <p:spPr>
          <a:xfrm>
            <a:off x="3675887" y="3657600"/>
            <a:ext cx="914400" cy="310896"/>
          </a:xfrm>
          <a:prstGeom prst="rect">
            <a:avLst/>
          </a:prstGeom>
          <a:noFill/>
        </p:spPr>
        <p:txBody>
          <a:bodyPr wrap="square">
            <a:spAutoFit/>
          </a:bodyPr>
          <a:lstStyle/>
          <a:p>
            <a:pPr algn="l"/>
            <a:r>
              <a:rPr sz="900" b="0" i="1" dirty="0">
                <a:solidFill>
                  <a:srgbClr val="94A3B8"/>
                </a:solidFill>
              </a:rPr>
              <a:t>No, skip →</a:t>
            </a:r>
          </a:p>
        </p:txBody>
      </p:sp>
      <p:sp>
        <p:nvSpPr>
          <p:cNvPr id="26" name="TextBox 25"/>
          <p:cNvSpPr txBox="1"/>
          <p:nvPr/>
        </p:nvSpPr>
        <p:spPr>
          <a:xfrm>
            <a:off x="6108192" y="1115568"/>
            <a:ext cx="5870448" cy="329184"/>
          </a:xfrm>
          <a:prstGeom prst="rect">
            <a:avLst/>
          </a:prstGeom>
          <a:noFill/>
        </p:spPr>
        <p:txBody>
          <a:bodyPr wrap="square">
            <a:spAutoFit/>
          </a:bodyPr>
          <a:lstStyle/>
          <a:p>
            <a:pPr algn="l"/>
            <a:r>
              <a:rPr sz="1300" b="1" i="0" dirty="0">
                <a:solidFill>
                  <a:srgbClr val="60A5FA"/>
                </a:solidFill>
              </a:rPr>
              <a:t>Sequence Diagram — Login &amp; Load Calendar</a:t>
            </a:r>
          </a:p>
        </p:txBody>
      </p:sp>
      <p:sp>
        <p:nvSpPr>
          <p:cNvPr id="27" name="TextBox 26"/>
          <p:cNvSpPr txBox="1"/>
          <p:nvPr/>
        </p:nvSpPr>
        <p:spPr>
          <a:xfrm>
            <a:off x="6400800" y="1508760"/>
            <a:ext cx="1417320" cy="475488"/>
          </a:xfrm>
          <a:prstGeom prst="rect">
            <a:avLst/>
          </a:prstGeom>
          <a:noFill/>
        </p:spPr>
        <p:txBody>
          <a:bodyPr wrap="square">
            <a:spAutoFit/>
          </a:bodyPr>
          <a:lstStyle/>
          <a:p>
            <a:pPr algn="ctr"/>
            <a:r>
              <a:rPr sz="1000" b="1" i="0" dirty="0">
                <a:solidFill>
                  <a:srgbClr val="FFFFFF"/>
                </a:solidFill>
              </a:rPr>
              <a:t>React
Browser</a:t>
            </a:r>
          </a:p>
        </p:txBody>
      </p:sp>
      <p:sp>
        <p:nvSpPr>
          <p:cNvPr id="28" name="Rectangle 27"/>
          <p:cNvSpPr/>
          <p:nvPr/>
        </p:nvSpPr>
        <p:spPr>
          <a:xfrm>
            <a:off x="6995160" y="2011680"/>
            <a:ext cx="36576" cy="431596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9" name="TextBox 28"/>
          <p:cNvSpPr txBox="1"/>
          <p:nvPr/>
        </p:nvSpPr>
        <p:spPr>
          <a:xfrm>
            <a:off x="8366760" y="1508760"/>
            <a:ext cx="1417320" cy="475488"/>
          </a:xfrm>
          <a:prstGeom prst="rect">
            <a:avLst/>
          </a:prstGeom>
          <a:noFill/>
        </p:spPr>
        <p:txBody>
          <a:bodyPr wrap="square">
            <a:spAutoFit/>
          </a:bodyPr>
          <a:lstStyle/>
          <a:p>
            <a:pPr algn="ctr"/>
            <a:r>
              <a:rPr sz="1000" b="1" i="0" dirty="0">
                <a:solidFill>
                  <a:srgbClr val="FFFFFF"/>
                </a:solidFill>
              </a:rPr>
              <a:t>Django
DRF</a:t>
            </a:r>
          </a:p>
        </p:txBody>
      </p:sp>
      <p:sp>
        <p:nvSpPr>
          <p:cNvPr id="30" name="Rectangle 29"/>
          <p:cNvSpPr/>
          <p:nvPr/>
        </p:nvSpPr>
        <p:spPr>
          <a:xfrm>
            <a:off x="8961120" y="2011680"/>
            <a:ext cx="36576" cy="431596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1" name="TextBox 30"/>
          <p:cNvSpPr txBox="1"/>
          <p:nvPr/>
        </p:nvSpPr>
        <p:spPr>
          <a:xfrm>
            <a:off x="10259568" y="1508760"/>
            <a:ext cx="1417320" cy="475488"/>
          </a:xfrm>
          <a:prstGeom prst="rect">
            <a:avLst/>
          </a:prstGeom>
          <a:noFill/>
        </p:spPr>
        <p:txBody>
          <a:bodyPr wrap="square">
            <a:spAutoFit/>
          </a:bodyPr>
          <a:lstStyle/>
          <a:p>
            <a:pPr algn="ctr"/>
            <a:r>
              <a:rPr sz="1000" b="1" i="0" dirty="0">
                <a:solidFill>
                  <a:srgbClr val="FFFFFF"/>
                </a:solidFill>
              </a:rPr>
              <a:t>SQLite
DB</a:t>
            </a:r>
          </a:p>
        </p:txBody>
      </p:sp>
      <p:sp>
        <p:nvSpPr>
          <p:cNvPr id="32" name="Rectangle 31"/>
          <p:cNvSpPr/>
          <p:nvPr/>
        </p:nvSpPr>
        <p:spPr>
          <a:xfrm>
            <a:off x="10853928" y="2011680"/>
            <a:ext cx="36576" cy="431596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3" name="Rectangle 32"/>
          <p:cNvSpPr/>
          <p:nvPr/>
        </p:nvSpPr>
        <p:spPr>
          <a:xfrm>
            <a:off x="7470648" y="2286000"/>
            <a:ext cx="868680" cy="36576"/>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4" name="TextBox 33"/>
          <p:cNvSpPr txBox="1"/>
          <p:nvPr/>
        </p:nvSpPr>
        <p:spPr>
          <a:xfrm>
            <a:off x="7470648" y="2084831"/>
            <a:ext cx="868680" cy="201168"/>
          </a:xfrm>
          <a:prstGeom prst="rect">
            <a:avLst/>
          </a:prstGeom>
          <a:noFill/>
        </p:spPr>
        <p:txBody>
          <a:bodyPr wrap="square">
            <a:spAutoFit/>
          </a:bodyPr>
          <a:lstStyle/>
          <a:p>
            <a:pPr algn="ctr"/>
            <a:r>
              <a:rPr sz="900" b="0" i="1" dirty="0">
                <a:solidFill>
                  <a:srgbClr val="60A5FA"/>
                </a:solidFill>
              </a:rPr>
              <a:t>POST /api/auth/login/</a:t>
            </a:r>
          </a:p>
        </p:txBody>
      </p:sp>
      <p:sp>
        <p:nvSpPr>
          <p:cNvPr id="35" name="Rectangle 34"/>
          <p:cNvSpPr/>
          <p:nvPr/>
        </p:nvSpPr>
        <p:spPr>
          <a:xfrm>
            <a:off x="8842248" y="2788920"/>
            <a:ext cx="1389888" cy="36576"/>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6" name="TextBox 35"/>
          <p:cNvSpPr txBox="1"/>
          <p:nvPr/>
        </p:nvSpPr>
        <p:spPr>
          <a:xfrm>
            <a:off x="8842248" y="2587751"/>
            <a:ext cx="1389888" cy="201168"/>
          </a:xfrm>
          <a:prstGeom prst="rect">
            <a:avLst/>
          </a:prstGeom>
          <a:noFill/>
        </p:spPr>
        <p:txBody>
          <a:bodyPr wrap="square">
            <a:spAutoFit/>
          </a:bodyPr>
          <a:lstStyle/>
          <a:p>
            <a:pPr algn="ctr"/>
            <a:r>
              <a:rPr sz="900" b="0" i="1" dirty="0">
                <a:solidFill>
                  <a:srgbClr val="4ADE80"/>
                </a:solidFill>
              </a:rPr>
              <a:t>SELECT user WHERE username=?</a:t>
            </a:r>
          </a:p>
        </p:txBody>
      </p:sp>
      <p:sp>
        <p:nvSpPr>
          <p:cNvPr id="37" name="Rectangle 36"/>
          <p:cNvSpPr/>
          <p:nvPr/>
        </p:nvSpPr>
        <p:spPr>
          <a:xfrm>
            <a:off x="8842248" y="3246120"/>
            <a:ext cx="1389888" cy="3657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8" name="TextBox 37"/>
          <p:cNvSpPr txBox="1"/>
          <p:nvPr/>
        </p:nvSpPr>
        <p:spPr>
          <a:xfrm>
            <a:off x="8842248" y="3044951"/>
            <a:ext cx="1389888" cy="201168"/>
          </a:xfrm>
          <a:prstGeom prst="rect">
            <a:avLst/>
          </a:prstGeom>
          <a:noFill/>
        </p:spPr>
        <p:txBody>
          <a:bodyPr wrap="square">
            <a:spAutoFit/>
          </a:bodyPr>
          <a:lstStyle/>
          <a:p>
            <a:pPr algn="ctr"/>
            <a:r>
              <a:rPr sz="900" b="0" i="1" dirty="0">
                <a:solidFill>
                  <a:srgbClr val="94A3B8"/>
                </a:solidFill>
              </a:rPr>
              <a:t>Return User object</a:t>
            </a:r>
          </a:p>
        </p:txBody>
      </p:sp>
      <p:sp>
        <p:nvSpPr>
          <p:cNvPr id="39" name="Rectangle 38"/>
          <p:cNvSpPr/>
          <p:nvPr/>
        </p:nvSpPr>
        <p:spPr>
          <a:xfrm>
            <a:off x="7470648" y="3703320"/>
            <a:ext cx="8686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0" name="TextBox 39"/>
          <p:cNvSpPr txBox="1"/>
          <p:nvPr/>
        </p:nvSpPr>
        <p:spPr>
          <a:xfrm>
            <a:off x="7470648" y="3502151"/>
            <a:ext cx="868680" cy="201168"/>
          </a:xfrm>
          <a:prstGeom prst="rect">
            <a:avLst/>
          </a:prstGeom>
          <a:noFill/>
        </p:spPr>
        <p:txBody>
          <a:bodyPr wrap="square">
            <a:spAutoFit/>
          </a:bodyPr>
          <a:lstStyle/>
          <a:p>
            <a:pPr algn="ctr"/>
            <a:r>
              <a:rPr sz="900" b="0" i="1" dirty="0">
                <a:solidFill>
                  <a:srgbClr val="8B5CF6"/>
                </a:solidFill>
              </a:rPr>
              <a:t>Set session + CSRF cookie</a:t>
            </a:r>
          </a:p>
        </p:txBody>
      </p:sp>
      <p:sp>
        <p:nvSpPr>
          <p:cNvPr id="41" name="Rectangle 40"/>
          <p:cNvSpPr/>
          <p:nvPr/>
        </p:nvSpPr>
        <p:spPr>
          <a:xfrm>
            <a:off x="7470648" y="4160520"/>
            <a:ext cx="868680" cy="36576"/>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2" name="TextBox 41"/>
          <p:cNvSpPr txBox="1"/>
          <p:nvPr/>
        </p:nvSpPr>
        <p:spPr>
          <a:xfrm>
            <a:off x="7470648" y="3959352"/>
            <a:ext cx="868680" cy="201168"/>
          </a:xfrm>
          <a:prstGeom prst="rect">
            <a:avLst/>
          </a:prstGeom>
          <a:noFill/>
        </p:spPr>
        <p:txBody>
          <a:bodyPr wrap="square">
            <a:spAutoFit/>
          </a:bodyPr>
          <a:lstStyle/>
          <a:p>
            <a:pPr algn="ctr"/>
            <a:r>
              <a:rPr sz="900" b="0" i="1" dirty="0">
                <a:solidFill>
                  <a:srgbClr val="60A5FA"/>
                </a:solidFill>
              </a:rPr>
              <a:t>GET /api/tasks/occurrences/</a:t>
            </a:r>
          </a:p>
        </p:txBody>
      </p:sp>
      <p:sp>
        <p:nvSpPr>
          <p:cNvPr id="43" name="Rectangle 42"/>
          <p:cNvSpPr/>
          <p:nvPr/>
        </p:nvSpPr>
        <p:spPr>
          <a:xfrm>
            <a:off x="8842248" y="4617720"/>
            <a:ext cx="1389888" cy="36576"/>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4" name="TextBox 43"/>
          <p:cNvSpPr txBox="1"/>
          <p:nvPr/>
        </p:nvSpPr>
        <p:spPr>
          <a:xfrm>
            <a:off x="8842248" y="4416552"/>
            <a:ext cx="1389888" cy="201168"/>
          </a:xfrm>
          <a:prstGeom prst="rect">
            <a:avLst/>
          </a:prstGeom>
          <a:noFill/>
        </p:spPr>
        <p:txBody>
          <a:bodyPr wrap="square">
            <a:spAutoFit/>
          </a:bodyPr>
          <a:lstStyle/>
          <a:p>
            <a:pPr algn="ctr"/>
            <a:r>
              <a:rPr sz="900" b="0" i="1" dirty="0">
                <a:solidFill>
                  <a:srgbClr val="4ADE80"/>
                </a:solidFill>
              </a:rPr>
              <a:t>Expand RRULE + apply exceptions</a:t>
            </a:r>
          </a:p>
        </p:txBody>
      </p:sp>
      <p:sp>
        <p:nvSpPr>
          <p:cNvPr id="45" name="Rectangle 44"/>
          <p:cNvSpPr/>
          <p:nvPr/>
        </p:nvSpPr>
        <p:spPr>
          <a:xfrm>
            <a:off x="8842248" y="5074920"/>
            <a:ext cx="1389888" cy="3657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6" name="TextBox 45"/>
          <p:cNvSpPr txBox="1"/>
          <p:nvPr/>
        </p:nvSpPr>
        <p:spPr>
          <a:xfrm>
            <a:off x="8842248" y="4873752"/>
            <a:ext cx="1389888" cy="201168"/>
          </a:xfrm>
          <a:prstGeom prst="rect">
            <a:avLst/>
          </a:prstGeom>
          <a:noFill/>
        </p:spPr>
        <p:txBody>
          <a:bodyPr wrap="square">
            <a:spAutoFit/>
          </a:bodyPr>
          <a:lstStyle/>
          <a:p>
            <a:pPr algn="ctr"/>
            <a:r>
              <a:rPr sz="900" b="0" i="1" dirty="0">
                <a:solidFill>
                  <a:srgbClr val="94A3B8"/>
                </a:solidFill>
              </a:rPr>
              <a:t>Occurrence list (JSON)</a:t>
            </a:r>
          </a:p>
        </p:txBody>
      </p:sp>
      <p:sp>
        <p:nvSpPr>
          <p:cNvPr id="47" name="Rectangle 46"/>
          <p:cNvSpPr/>
          <p:nvPr/>
        </p:nvSpPr>
        <p:spPr>
          <a:xfrm>
            <a:off x="7470648" y="5532120"/>
            <a:ext cx="8686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8" name="TextBox 47"/>
          <p:cNvSpPr txBox="1"/>
          <p:nvPr/>
        </p:nvSpPr>
        <p:spPr>
          <a:xfrm>
            <a:off x="7470648" y="5330952"/>
            <a:ext cx="868680" cy="201168"/>
          </a:xfrm>
          <a:prstGeom prst="rect">
            <a:avLst/>
          </a:prstGeom>
          <a:noFill/>
        </p:spPr>
        <p:txBody>
          <a:bodyPr wrap="square">
            <a:spAutoFit/>
          </a:bodyPr>
          <a:lstStyle/>
          <a:p>
            <a:pPr algn="ctr"/>
            <a:r>
              <a:rPr sz="900" b="0" i="1" dirty="0">
                <a:solidFill>
                  <a:srgbClr val="8B5CF6"/>
                </a:solidFill>
              </a:rPr>
              <a:t>200 OK — JSON response</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91440" cy="1051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82880" y="987552"/>
            <a:ext cx="1197864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256032" y="91440"/>
            <a:ext cx="11430000" cy="584775"/>
          </a:xfrm>
          <a:prstGeom prst="rect">
            <a:avLst/>
          </a:prstGeom>
          <a:noFill/>
        </p:spPr>
        <p:txBody>
          <a:bodyPr wrap="square">
            <a:spAutoFit/>
          </a:bodyPr>
          <a:lstStyle/>
          <a:p>
            <a:pPr algn="ctr"/>
            <a:r>
              <a:rPr sz="3200" b="1" i="0" dirty="0" smtClean="0">
                <a:solidFill>
                  <a:srgbClr val="FFFFFF"/>
                </a:solidFill>
              </a:rPr>
              <a:t>Implementation</a:t>
            </a:r>
            <a:r>
              <a:rPr lang="en-US" sz="3200" b="1" i="0" dirty="0" smtClean="0">
                <a:solidFill>
                  <a:srgbClr val="FFFFFF"/>
                </a:solidFill>
              </a:rPr>
              <a:t> - </a:t>
            </a:r>
            <a:r>
              <a:rPr sz="3200" b="1" i="0" dirty="0" smtClean="0">
                <a:solidFill>
                  <a:srgbClr val="FFFFFF"/>
                </a:solidFill>
              </a:rPr>
              <a:t>Authentication </a:t>
            </a:r>
            <a:r>
              <a:rPr sz="3200" b="1" i="0" dirty="0">
                <a:solidFill>
                  <a:srgbClr val="FFFFFF"/>
                </a:solidFill>
              </a:rPr>
              <a:t>Pages</a:t>
            </a:r>
          </a:p>
        </p:txBody>
      </p:sp>
      <p:sp>
        <p:nvSpPr>
          <p:cNvPr id="6" name="TextBox 5"/>
          <p:cNvSpPr txBox="1"/>
          <p:nvPr/>
        </p:nvSpPr>
        <p:spPr>
          <a:xfrm>
            <a:off x="256032" y="618220"/>
            <a:ext cx="11430000" cy="369332"/>
          </a:xfrm>
          <a:prstGeom prst="rect">
            <a:avLst/>
          </a:prstGeom>
          <a:noFill/>
        </p:spPr>
        <p:txBody>
          <a:bodyPr wrap="square">
            <a:spAutoFit/>
          </a:bodyPr>
          <a:lstStyle/>
          <a:p>
            <a:pPr algn="ctr"/>
            <a:r>
              <a:rPr b="0" i="0" dirty="0">
                <a:solidFill>
                  <a:srgbClr val="94A3B8"/>
                </a:solidFill>
              </a:rPr>
              <a:t>Login and Registration UI</a:t>
            </a:r>
          </a:p>
        </p:txBody>
      </p:sp>
      <p:sp>
        <p:nvSpPr>
          <p:cNvPr id="9" name="TextBox 8"/>
          <p:cNvSpPr txBox="1"/>
          <p:nvPr/>
        </p:nvSpPr>
        <p:spPr>
          <a:xfrm>
            <a:off x="256032" y="5623837"/>
            <a:ext cx="11658600" cy="338554"/>
          </a:xfrm>
          <a:prstGeom prst="rect">
            <a:avLst/>
          </a:prstGeom>
          <a:noFill/>
        </p:spPr>
        <p:txBody>
          <a:bodyPr wrap="square">
            <a:spAutoFit/>
          </a:bodyPr>
          <a:lstStyle/>
          <a:p>
            <a:pPr algn="ctr"/>
            <a:r>
              <a:rPr sz="1600" b="0" i="0" dirty="0">
                <a:solidFill>
                  <a:srgbClr val="94A3B8"/>
                </a:solidFill>
              </a:rPr>
              <a:t>Session </a:t>
            </a:r>
            <a:r>
              <a:rPr sz="1600" b="0" i="0" dirty="0" smtClean="0">
                <a:solidFill>
                  <a:srgbClr val="94A3B8"/>
                </a:solidFill>
              </a:rPr>
              <a:t>Auth</a:t>
            </a:r>
            <a:r>
              <a:rPr lang="en-US" sz="1600" b="0" i="0" dirty="0" smtClean="0">
                <a:solidFill>
                  <a:srgbClr val="94A3B8"/>
                </a:solidFill>
              </a:rPr>
              <a:t>entication</a:t>
            </a:r>
            <a:r>
              <a:rPr sz="1600" b="0" i="0" dirty="0" smtClean="0">
                <a:solidFill>
                  <a:srgbClr val="94A3B8"/>
                </a:solidFill>
              </a:rPr>
              <a:t>  </a:t>
            </a:r>
            <a:r>
              <a:rPr sz="1600" b="0" i="0" dirty="0">
                <a:solidFill>
                  <a:srgbClr val="94A3B8"/>
                </a:solidFill>
              </a:rPr>
              <a:t>·  CSRF Protection  ·  Inline Error Messages  ·  Toggle Login/Register  ·  Welcome Animation on Success</a:t>
            </a:r>
          </a:p>
        </p:txBody>
      </p:sp>
      <p:pic>
        <p:nvPicPr>
          <p:cNvPr id="10" name="Picture 9"/>
          <p:cNvPicPr>
            <a:picLocks noChangeAspect="1"/>
          </p:cNvPicPr>
          <p:nvPr/>
        </p:nvPicPr>
        <p:blipFill rotWithShape="1">
          <a:blip r:embed="rId2"/>
          <a:srcRect r="4064" b="5969"/>
          <a:stretch/>
        </p:blipFill>
        <p:spPr>
          <a:xfrm>
            <a:off x="256033" y="2395156"/>
            <a:ext cx="5327349" cy="2606335"/>
          </a:xfrm>
          <a:prstGeom prst="rect">
            <a:avLst/>
          </a:prstGeom>
        </p:spPr>
      </p:pic>
      <p:pic>
        <p:nvPicPr>
          <p:cNvPr id="11" name="Picture 10"/>
          <p:cNvPicPr>
            <a:picLocks noChangeAspect="1"/>
          </p:cNvPicPr>
          <p:nvPr/>
        </p:nvPicPr>
        <p:blipFill>
          <a:blip r:embed="rId3"/>
          <a:stretch>
            <a:fillRect/>
          </a:stretch>
        </p:blipFill>
        <p:spPr>
          <a:xfrm>
            <a:off x="6380607" y="2261805"/>
            <a:ext cx="5305425" cy="3038475"/>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91440" cy="1051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82880" y="987552"/>
            <a:ext cx="1197864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256032" y="91440"/>
            <a:ext cx="11430000" cy="584775"/>
          </a:xfrm>
          <a:prstGeom prst="rect">
            <a:avLst/>
          </a:prstGeom>
          <a:noFill/>
        </p:spPr>
        <p:txBody>
          <a:bodyPr wrap="square">
            <a:spAutoFit/>
          </a:bodyPr>
          <a:lstStyle/>
          <a:p>
            <a:pPr algn="ctr"/>
            <a:r>
              <a:rPr sz="3200" b="1" i="0" dirty="0" smtClean="0">
                <a:solidFill>
                  <a:srgbClr val="FFFFFF"/>
                </a:solidFill>
              </a:rPr>
              <a:t>Implementation</a:t>
            </a:r>
            <a:r>
              <a:rPr lang="en-US" sz="3200" b="1" i="0" dirty="0" smtClean="0">
                <a:solidFill>
                  <a:srgbClr val="FFFFFF"/>
                </a:solidFill>
              </a:rPr>
              <a:t> - </a:t>
            </a:r>
            <a:r>
              <a:rPr sz="3200" b="1" i="0" dirty="0" smtClean="0">
                <a:solidFill>
                  <a:srgbClr val="FFFFFF"/>
                </a:solidFill>
              </a:rPr>
              <a:t>Calendar </a:t>
            </a:r>
            <a:r>
              <a:rPr sz="3200" b="1" i="0" dirty="0">
                <a:solidFill>
                  <a:srgbClr val="FFFFFF"/>
                </a:solidFill>
              </a:rPr>
              <a:t>Views</a:t>
            </a:r>
          </a:p>
        </p:txBody>
      </p:sp>
      <p:sp>
        <p:nvSpPr>
          <p:cNvPr id="6" name="TextBox 5"/>
          <p:cNvSpPr txBox="1"/>
          <p:nvPr/>
        </p:nvSpPr>
        <p:spPr>
          <a:xfrm>
            <a:off x="256032" y="688919"/>
            <a:ext cx="11430000" cy="307777"/>
          </a:xfrm>
          <a:prstGeom prst="rect">
            <a:avLst/>
          </a:prstGeom>
          <a:noFill/>
        </p:spPr>
        <p:txBody>
          <a:bodyPr wrap="square">
            <a:spAutoFit/>
          </a:bodyPr>
          <a:lstStyle/>
          <a:p>
            <a:pPr algn="ctr"/>
            <a:r>
              <a:rPr sz="1400" b="0" i="0" dirty="0" smtClean="0">
                <a:solidFill>
                  <a:srgbClr val="94A3B8"/>
                </a:solidFill>
              </a:rPr>
              <a:t>Month</a:t>
            </a:r>
            <a:r>
              <a:rPr lang="en-US" sz="1400" b="0" i="0" dirty="0" smtClean="0">
                <a:solidFill>
                  <a:srgbClr val="94A3B8"/>
                </a:solidFill>
              </a:rPr>
              <a:t>ly </a:t>
            </a:r>
            <a:r>
              <a:rPr sz="1400" b="0" i="0" dirty="0" smtClean="0">
                <a:solidFill>
                  <a:srgbClr val="94A3B8"/>
                </a:solidFill>
              </a:rPr>
              <a:t>calendar </a:t>
            </a:r>
            <a:r>
              <a:rPr sz="1400" b="0" i="0" dirty="0">
                <a:solidFill>
                  <a:srgbClr val="94A3B8"/>
                </a:solidFill>
              </a:rPr>
              <a:t>views with priority-coded tasks</a:t>
            </a:r>
          </a:p>
        </p:txBody>
      </p:sp>
      <p:pic>
        <p:nvPicPr>
          <p:cNvPr id="28" name="Picture 27"/>
          <p:cNvPicPr>
            <a:picLocks noChangeAspect="1"/>
          </p:cNvPicPr>
          <p:nvPr/>
        </p:nvPicPr>
        <p:blipFill>
          <a:blip r:embed="rId2"/>
          <a:stretch>
            <a:fillRect/>
          </a:stretch>
        </p:blipFill>
        <p:spPr>
          <a:xfrm>
            <a:off x="2286000" y="1143000"/>
            <a:ext cx="7775032" cy="5554837"/>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91440" cy="1051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82880" y="987552"/>
            <a:ext cx="1197864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256032" y="91440"/>
            <a:ext cx="11430000" cy="584775"/>
          </a:xfrm>
          <a:prstGeom prst="rect">
            <a:avLst/>
          </a:prstGeom>
          <a:noFill/>
        </p:spPr>
        <p:txBody>
          <a:bodyPr wrap="square">
            <a:spAutoFit/>
          </a:bodyPr>
          <a:lstStyle/>
          <a:p>
            <a:pPr algn="ctr"/>
            <a:r>
              <a:rPr sz="3200" b="1" i="0" dirty="0" smtClean="0">
                <a:solidFill>
                  <a:srgbClr val="FFFFFF"/>
                </a:solidFill>
              </a:rPr>
              <a:t>Implementation</a:t>
            </a:r>
            <a:r>
              <a:rPr lang="en-US" sz="3200" b="1" dirty="0">
                <a:solidFill>
                  <a:srgbClr val="FFFFFF"/>
                </a:solidFill>
              </a:rPr>
              <a:t> </a:t>
            </a:r>
            <a:r>
              <a:rPr lang="en-US" sz="3200" b="1" dirty="0" smtClean="0">
                <a:solidFill>
                  <a:srgbClr val="FFFFFF"/>
                </a:solidFill>
              </a:rPr>
              <a:t>-</a:t>
            </a:r>
            <a:r>
              <a:rPr lang="en-US" sz="3200" b="1" i="0" dirty="0" smtClean="0">
                <a:solidFill>
                  <a:srgbClr val="FFFFFF"/>
                </a:solidFill>
              </a:rPr>
              <a:t> </a:t>
            </a:r>
            <a:r>
              <a:rPr lang="en-US" sz="3200" b="1" dirty="0" smtClean="0">
                <a:solidFill>
                  <a:srgbClr val="FFFFFF"/>
                </a:solidFill>
              </a:rPr>
              <a:t>Week</a:t>
            </a:r>
            <a:r>
              <a:rPr sz="3200" b="1" i="0" dirty="0" smtClean="0">
                <a:solidFill>
                  <a:srgbClr val="FFFFFF"/>
                </a:solidFill>
              </a:rPr>
              <a:t> </a:t>
            </a:r>
            <a:r>
              <a:rPr sz="3200" b="1" i="0" dirty="0">
                <a:solidFill>
                  <a:srgbClr val="FFFFFF"/>
                </a:solidFill>
              </a:rPr>
              <a:t>Views</a:t>
            </a:r>
          </a:p>
        </p:txBody>
      </p:sp>
      <p:sp>
        <p:nvSpPr>
          <p:cNvPr id="6" name="TextBox 5"/>
          <p:cNvSpPr txBox="1"/>
          <p:nvPr/>
        </p:nvSpPr>
        <p:spPr>
          <a:xfrm>
            <a:off x="256032" y="688919"/>
            <a:ext cx="11430000" cy="307777"/>
          </a:xfrm>
          <a:prstGeom prst="rect">
            <a:avLst/>
          </a:prstGeom>
          <a:noFill/>
        </p:spPr>
        <p:txBody>
          <a:bodyPr wrap="square">
            <a:spAutoFit/>
          </a:bodyPr>
          <a:lstStyle/>
          <a:p>
            <a:pPr algn="ctr"/>
            <a:r>
              <a:rPr lang="en-US" sz="1400" dirty="0" smtClean="0">
                <a:solidFill>
                  <a:srgbClr val="94A3B8"/>
                </a:solidFill>
              </a:rPr>
              <a:t>Weekly and Daily</a:t>
            </a:r>
            <a:r>
              <a:rPr sz="1400" b="0" i="0" dirty="0" smtClean="0">
                <a:solidFill>
                  <a:srgbClr val="94A3B8"/>
                </a:solidFill>
              </a:rPr>
              <a:t> </a:t>
            </a:r>
            <a:r>
              <a:rPr sz="1400" b="0" i="0" dirty="0">
                <a:solidFill>
                  <a:srgbClr val="94A3B8"/>
                </a:solidFill>
              </a:rPr>
              <a:t>views with priority-coded tasks</a:t>
            </a:r>
          </a:p>
        </p:txBody>
      </p:sp>
      <p:pic>
        <p:nvPicPr>
          <p:cNvPr id="7" name="Picture 6"/>
          <p:cNvPicPr>
            <a:picLocks noChangeAspect="1"/>
          </p:cNvPicPr>
          <p:nvPr/>
        </p:nvPicPr>
        <p:blipFill>
          <a:blip r:embed="rId3"/>
          <a:stretch>
            <a:fillRect/>
          </a:stretch>
        </p:blipFill>
        <p:spPr>
          <a:xfrm>
            <a:off x="1069936" y="1663767"/>
            <a:ext cx="9714448" cy="4418378"/>
          </a:xfrm>
          <a:prstGeom prst="rect">
            <a:avLst/>
          </a:prstGeom>
        </p:spPr>
      </p:pic>
    </p:spTree>
    <p:extLst>
      <p:ext uri="{BB962C8B-B14F-4D97-AF65-F5344CB8AC3E}">
        <p14:creationId xmlns:p14="http://schemas.microsoft.com/office/powerpoint/2010/main" val="114471919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91440" cy="1051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82880" y="987552"/>
            <a:ext cx="1197864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256032" y="91440"/>
            <a:ext cx="11430000" cy="584775"/>
          </a:xfrm>
          <a:prstGeom prst="rect">
            <a:avLst/>
          </a:prstGeom>
          <a:noFill/>
        </p:spPr>
        <p:txBody>
          <a:bodyPr wrap="square">
            <a:spAutoFit/>
          </a:bodyPr>
          <a:lstStyle/>
          <a:p>
            <a:pPr algn="ctr"/>
            <a:r>
              <a:rPr sz="3200" b="1" i="0" dirty="0" smtClean="0">
                <a:solidFill>
                  <a:srgbClr val="FFFFFF"/>
                </a:solidFill>
              </a:rPr>
              <a:t>Implementation</a:t>
            </a:r>
            <a:r>
              <a:rPr lang="en-US" sz="3200" b="1" i="0" dirty="0" smtClean="0">
                <a:solidFill>
                  <a:srgbClr val="FFFFFF"/>
                </a:solidFill>
              </a:rPr>
              <a:t> -</a:t>
            </a:r>
            <a:r>
              <a:rPr lang="en-US" sz="3200" b="1" dirty="0" smtClean="0">
                <a:solidFill>
                  <a:srgbClr val="FFFFFF"/>
                </a:solidFill>
              </a:rPr>
              <a:t> Day</a:t>
            </a:r>
            <a:r>
              <a:rPr sz="3200" b="1" i="0" dirty="0" smtClean="0">
                <a:solidFill>
                  <a:srgbClr val="FFFFFF"/>
                </a:solidFill>
              </a:rPr>
              <a:t> </a:t>
            </a:r>
            <a:r>
              <a:rPr sz="3200" b="1" i="0" dirty="0">
                <a:solidFill>
                  <a:srgbClr val="FFFFFF"/>
                </a:solidFill>
              </a:rPr>
              <a:t>Views</a:t>
            </a:r>
          </a:p>
        </p:txBody>
      </p:sp>
      <p:sp>
        <p:nvSpPr>
          <p:cNvPr id="6" name="TextBox 5"/>
          <p:cNvSpPr txBox="1"/>
          <p:nvPr/>
        </p:nvSpPr>
        <p:spPr>
          <a:xfrm>
            <a:off x="256032" y="688919"/>
            <a:ext cx="11430000" cy="307777"/>
          </a:xfrm>
          <a:prstGeom prst="rect">
            <a:avLst/>
          </a:prstGeom>
          <a:noFill/>
        </p:spPr>
        <p:txBody>
          <a:bodyPr wrap="square">
            <a:spAutoFit/>
          </a:bodyPr>
          <a:lstStyle/>
          <a:p>
            <a:pPr algn="ctr"/>
            <a:r>
              <a:rPr lang="en-US" sz="1400" dirty="0" smtClean="0">
                <a:solidFill>
                  <a:srgbClr val="94A3B8"/>
                </a:solidFill>
              </a:rPr>
              <a:t>Daily</a:t>
            </a:r>
            <a:r>
              <a:rPr sz="1400" b="0" i="0" dirty="0" smtClean="0">
                <a:solidFill>
                  <a:srgbClr val="94A3B8"/>
                </a:solidFill>
              </a:rPr>
              <a:t> </a:t>
            </a:r>
            <a:r>
              <a:rPr sz="1400" b="0" i="0" dirty="0">
                <a:solidFill>
                  <a:srgbClr val="94A3B8"/>
                </a:solidFill>
              </a:rPr>
              <a:t>views with priority-coded tasks</a:t>
            </a:r>
          </a:p>
        </p:txBody>
      </p:sp>
      <p:pic>
        <p:nvPicPr>
          <p:cNvPr id="8" name="Picture 7"/>
          <p:cNvPicPr>
            <a:picLocks noChangeAspect="1"/>
          </p:cNvPicPr>
          <p:nvPr/>
        </p:nvPicPr>
        <p:blipFill>
          <a:blip r:embed="rId3"/>
          <a:stretch>
            <a:fillRect/>
          </a:stretch>
        </p:blipFill>
        <p:spPr>
          <a:xfrm>
            <a:off x="500926" y="2039112"/>
            <a:ext cx="11185106" cy="3518266"/>
          </a:xfrm>
          <a:prstGeom prst="rect">
            <a:avLst/>
          </a:prstGeom>
        </p:spPr>
      </p:pic>
    </p:spTree>
    <p:extLst>
      <p:ext uri="{BB962C8B-B14F-4D97-AF65-F5344CB8AC3E}">
        <p14:creationId xmlns:p14="http://schemas.microsoft.com/office/powerpoint/2010/main" val="365803991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91440" cy="1051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82880" y="987552"/>
            <a:ext cx="1197864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256032" y="91440"/>
            <a:ext cx="11430000" cy="584775"/>
          </a:xfrm>
          <a:prstGeom prst="rect">
            <a:avLst/>
          </a:prstGeom>
          <a:noFill/>
        </p:spPr>
        <p:txBody>
          <a:bodyPr wrap="square">
            <a:spAutoFit/>
          </a:bodyPr>
          <a:lstStyle/>
          <a:p>
            <a:pPr algn="ctr"/>
            <a:r>
              <a:rPr sz="3200" b="1" i="0" dirty="0">
                <a:solidFill>
                  <a:srgbClr val="FFFFFF"/>
                </a:solidFill>
              </a:rPr>
              <a:t>Implementation — Task Management</a:t>
            </a:r>
          </a:p>
        </p:txBody>
      </p:sp>
      <p:sp>
        <p:nvSpPr>
          <p:cNvPr id="6" name="TextBox 5"/>
          <p:cNvSpPr txBox="1"/>
          <p:nvPr/>
        </p:nvSpPr>
        <p:spPr>
          <a:xfrm>
            <a:off x="256032" y="654796"/>
            <a:ext cx="11430000" cy="369332"/>
          </a:xfrm>
          <a:prstGeom prst="rect">
            <a:avLst/>
          </a:prstGeom>
          <a:noFill/>
        </p:spPr>
        <p:txBody>
          <a:bodyPr wrap="square">
            <a:spAutoFit/>
          </a:bodyPr>
          <a:lstStyle/>
          <a:p>
            <a:pPr algn="ctr"/>
            <a:r>
              <a:rPr b="0" i="0" dirty="0">
                <a:solidFill>
                  <a:srgbClr val="94A3B8"/>
                </a:solidFill>
              </a:rPr>
              <a:t>Creating, editing, and managing </a:t>
            </a:r>
            <a:r>
              <a:rPr lang="en-US" b="0" i="0" dirty="0" smtClean="0">
                <a:solidFill>
                  <a:srgbClr val="94A3B8"/>
                </a:solidFill>
              </a:rPr>
              <a:t>normal and </a:t>
            </a:r>
            <a:r>
              <a:rPr b="0" i="0" dirty="0" smtClean="0">
                <a:solidFill>
                  <a:srgbClr val="94A3B8"/>
                </a:solidFill>
              </a:rPr>
              <a:t>recurring </a:t>
            </a:r>
            <a:r>
              <a:rPr b="0" i="0" dirty="0">
                <a:solidFill>
                  <a:srgbClr val="94A3B8"/>
                </a:solidFill>
              </a:rPr>
              <a:t>tasks</a:t>
            </a:r>
          </a:p>
        </p:txBody>
      </p:sp>
      <p:pic>
        <p:nvPicPr>
          <p:cNvPr id="28" name="Picture 27"/>
          <p:cNvPicPr>
            <a:picLocks noChangeAspect="1"/>
          </p:cNvPicPr>
          <p:nvPr/>
        </p:nvPicPr>
        <p:blipFill>
          <a:blip r:embed="rId2"/>
          <a:stretch>
            <a:fillRect/>
          </a:stretch>
        </p:blipFill>
        <p:spPr>
          <a:xfrm>
            <a:off x="256032" y="1281822"/>
            <a:ext cx="5174950" cy="1952625"/>
          </a:xfrm>
          <a:prstGeom prst="rect">
            <a:avLst/>
          </a:prstGeom>
        </p:spPr>
      </p:pic>
      <p:pic>
        <p:nvPicPr>
          <p:cNvPr id="29" name="Picture 28"/>
          <p:cNvPicPr>
            <a:picLocks noChangeAspect="1"/>
          </p:cNvPicPr>
          <p:nvPr/>
        </p:nvPicPr>
        <p:blipFill>
          <a:blip r:embed="rId3"/>
          <a:stretch>
            <a:fillRect/>
          </a:stretch>
        </p:blipFill>
        <p:spPr>
          <a:xfrm>
            <a:off x="6431553" y="1280160"/>
            <a:ext cx="5603585" cy="1954287"/>
          </a:xfrm>
          <a:prstGeom prst="rect">
            <a:avLst/>
          </a:prstGeom>
        </p:spPr>
      </p:pic>
      <p:pic>
        <p:nvPicPr>
          <p:cNvPr id="30" name="Picture 29"/>
          <p:cNvPicPr>
            <a:picLocks noChangeAspect="1"/>
          </p:cNvPicPr>
          <p:nvPr/>
        </p:nvPicPr>
        <p:blipFill rotWithShape="1">
          <a:blip r:embed="rId4"/>
          <a:srcRect r="2139"/>
          <a:stretch/>
        </p:blipFill>
        <p:spPr>
          <a:xfrm>
            <a:off x="256032" y="3603287"/>
            <a:ext cx="5174950" cy="2981325"/>
          </a:xfrm>
          <a:prstGeom prst="rect">
            <a:avLst/>
          </a:prstGeom>
        </p:spPr>
      </p:pic>
      <p:pic>
        <p:nvPicPr>
          <p:cNvPr id="31" name="Picture 30"/>
          <p:cNvPicPr>
            <a:picLocks noChangeAspect="1"/>
          </p:cNvPicPr>
          <p:nvPr/>
        </p:nvPicPr>
        <p:blipFill>
          <a:blip r:embed="rId5"/>
          <a:stretch>
            <a:fillRect/>
          </a:stretch>
        </p:blipFill>
        <p:spPr>
          <a:xfrm>
            <a:off x="6431553" y="3603287"/>
            <a:ext cx="5603585" cy="2981325"/>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91440" cy="1051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82880" y="987552"/>
            <a:ext cx="1197864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256032" y="91440"/>
            <a:ext cx="11430000" cy="658368"/>
          </a:xfrm>
          <a:prstGeom prst="rect">
            <a:avLst/>
          </a:prstGeom>
          <a:noFill/>
        </p:spPr>
        <p:txBody>
          <a:bodyPr wrap="square">
            <a:spAutoFit/>
          </a:bodyPr>
          <a:lstStyle/>
          <a:p>
            <a:pPr algn="l"/>
            <a:r>
              <a:rPr sz="2600" b="1" i="0" dirty="0">
                <a:solidFill>
                  <a:srgbClr val="FFFFFF"/>
                </a:solidFill>
              </a:rPr>
              <a:t>Implementation — Analytics Dashboard</a:t>
            </a:r>
          </a:p>
        </p:txBody>
      </p:sp>
      <p:sp>
        <p:nvSpPr>
          <p:cNvPr id="6" name="TextBox 5"/>
          <p:cNvSpPr txBox="1"/>
          <p:nvPr/>
        </p:nvSpPr>
        <p:spPr>
          <a:xfrm>
            <a:off x="256032" y="731520"/>
            <a:ext cx="11430000" cy="274320"/>
          </a:xfrm>
          <a:prstGeom prst="rect">
            <a:avLst/>
          </a:prstGeom>
          <a:noFill/>
        </p:spPr>
        <p:txBody>
          <a:bodyPr wrap="square">
            <a:spAutoFit/>
          </a:bodyPr>
          <a:lstStyle/>
          <a:p>
            <a:pPr algn="l"/>
            <a:r>
              <a:rPr sz="1100" b="0" i="0" dirty="0">
                <a:solidFill>
                  <a:srgbClr val="94A3B8"/>
                </a:solidFill>
              </a:rPr>
              <a:t>Real-time productivity tracking and statistics</a:t>
            </a:r>
          </a:p>
        </p:txBody>
      </p:sp>
      <p:sp>
        <p:nvSpPr>
          <p:cNvPr id="8" name="Rectangle 7"/>
          <p:cNvSpPr/>
          <p:nvPr/>
        </p:nvSpPr>
        <p:spPr>
          <a:xfrm>
            <a:off x="7781545" y="1508759"/>
            <a:ext cx="3904487" cy="877824"/>
          </a:xfrm>
          <a:prstGeom prst="rect">
            <a:avLst/>
          </a:prstGeom>
          <a:solidFill>
            <a:srgbClr val="1E293B"/>
          </a:solidFill>
          <a:ln w="952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7918706" y="1581911"/>
            <a:ext cx="3630168" cy="310896"/>
          </a:xfrm>
          <a:prstGeom prst="rect">
            <a:avLst/>
          </a:prstGeom>
          <a:noFill/>
        </p:spPr>
        <p:txBody>
          <a:bodyPr wrap="square">
            <a:spAutoFit/>
          </a:bodyPr>
          <a:lstStyle/>
          <a:p>
            <a:pPr algn="l"/>
            <a:r>
              <a:rPr sz="1200" b="1" i="0" dirty="0">
                <a:solidFill>
                  <a:srgbClr val="8B5CF6"/>
                </a:solidFill>
              </a:rPr>
              <a:t>Today's Focus</a:t>
            </a:r>
          </a:p>
        </p:txBody>
      </p:sp>
      <p:sp>
        <p:nvSpPr>
          <p:cNvPr id="10" name="TextBox 9"/>
          <p:cNvSpPr txBox="1"/>
          <p:nvPr/>
        </p:nvSpPr>
        <p:spPr>
          <a:xfrm>
            <a:off x="7918706" y="1965959"/>
            <a:ext cx="3630168" cy="365760"/>
          </a:xfrm>
          <a:prstGeom prst="rect">
            <a:avLst/>
          </a:prstGeom>
          <a:noFill/>
        </p:spPr>
        <p:txBody>
          <a:bodyPr wrap="square">
            <a:spAutoFit/>
          </a:bodyPr>
          <a:lstStyle/>
          <a:p>
            <a:pPr algn="l"/>
            <a:r>
              <a:rPr sz="1050" b="0" i="0" dirty="0">
                <a:solidFill>
                  <a:srgbClr val="94A3B8"/>
                </a:solidFill>
              </a:rPr>
              <a:t>Critical / Important / Routine priority breakdown</a:t>
            </a:r>
          </a:p>
        </p:txBody>
      </p:sp>
      <p:sp>
        <p:nvSpPr>
          <p:cNvPr id="11" name="Rectangle 10"/>
          <p:cNvSpPr/>
          <p:nvPr/>
        </p:nvSpPr>
        <p:spPr>
          <a:xfrm>
            <a:off x="7781545" y="2514599"/>
            <a:ext cx="3904487" cy="877824"/>
          </a:xfrm>
          <a:prstGeom prst="rect">
            <a:avLst/>
          </a:prstGeom>
          <a:solidFill>
            <a:srgbClr val="1E293B"/>
          </a:solidFill>
          <a:ln w="9525">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p:cNvSpPr txBox="1"/>
          <p:nvPr/>
        </p:nvSpPr>
        <p:spPr>
          <a:xfrm>
            <a:off x="7918706" y="2587751"/>
            <a:ext cx="3630168" cy="310896"/>
          </a:xfrm>
          <a:prstGeom prst="rect">
            <a:avLst/>
          </a:prstGeom>
          <a:noFill/>
        </p:spPr>
        <p:txBody>
          <a:bodyPr wrap="square">
            <a:spAutoFit/>
          </a:bodyPr>
          <a:lstStyle/>
          <a:p>
            <a:pPr algn="l"/>
            <a:r>
              <a:rPr sz="1200" b="1" i="0" dirty="0">
                <a:solidFill>
                  <a:srgbClr val="60A5FA"/>
                </a:solidFill>
              </a:rPr>
              <a:t>Completion %</a:t>
            </a:r>
          </a:p>
        </p:txBody>
      </p:sp>
      <p:sp>
        <p:nvSpPr>
          <p:cNvPr id="13" name="TextBox 12"/>
          <p:cNvSpPr txBox="1"/>
          <p:nvPr/>
        </p:nvSpPr>
        <p:spPr>
          <a:xfrm>
            <a:off x="7918706" y="2971799"/>
            <a:ext cx="3630168" cy="365760"/>
          </a:xfrm>
          <a:prstGeom prst="rect">
            <a:avLst/>
          </a:prstGeom>
          <a:noFill/>
        </p:spPr>
        <p:txBody>
          <a:bodyPr wrap="square">
            <a:spAutoFit/>
          </a:bodyPr>
          <a:lstStyle/>
          <a:p>
            <a:pPr algn="l"/>
            <a:r>
              <a:rPr sz="1050" b="0" i="0" dirty="0">
                <a:solidFill>
                  <a:srgbClr val="94A3B8"/>
                </a:solidFill>
              </a:rPr>
              <a:t>Real-time progress bars for Today / Week / Month</a:t>
            </a:r>
          </a:p>
        </p:txBody>
      </p:sp>
      <p:sp>
        <p:nvSpPr>
          <p:cNvPr id="14" name="Rectangle 13"/>
          <p:cNvSpPr/>
          <p:nvPr/>
        </p:nvSpPr>
        <p:spPr>
          <a:xfrm>
            <a:off x="7781545" y="3520439"/>
            <a:ext cx="3904487" cy="877824"/>
          </a:xfrm>
          <a:prstGeom prst="rect">
            <a:avLst/>
          </a:prstGeom>
          <a:solidFill>
            <a:srgbClr val="1E293B"/>
          </a:solidFill>
          <a:ln w="9525">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TextBox 14"/>
          <p:cNvSpPr txBox="1"/>
          <p:nvPr/>
        </p:nvSpPr>
        <p:spPr>
          <a:xfrm>
            <a:off x="7918706" y="3593591"/>
            <a:ext cx="3630168" cy="310896"/>
          </a:xfrm>
          <a:prstGeom prst="rect">
            <a:avLst/>
          </a:prstGeom>
          <a:noFill/>
        </p:spPr>
        <p:txBody>
          <a:bodyPr wrap="square">
            <a:spAutoFit/>
          </a:bodyPr>
          <a:lstStyle/>
          <a:p>
            <a:pPr algn="l"/>
            <a:r>
              <a:rPr sz="1200" b="1" i="0" dirty="0">
                <a:solidFill>
                  <a:srgbClr val="4ADE80"/>
                </a:solidFill>
              </a:rPr>
              <a:t>Task Counts</a:t>
            </a:r>
          </a:p>
        </p:txBody>
      </p:sp>
      <p:sp>
        <p:nvSpPr>
          <p:cNvPr id="16" name="TextBox 15"/>
          <p:cNvSpPr txBox="1"/>
          <p:nvPr/>
        </p:nvSpPr>
        <p:spPr>
          <a:xfrm>
            <a:off x="7918706" y="3977638"/>
            <a:ext cx="3630168" cy="365760"/>
          </a:xfrm>
          <a:prstGeom prst="rect">
            <a:avLst/>
          </a:prstGeom>
          <a:noFill/>
        </p:spPr>
        <p:txBody>
          <a:bodyPr wrap="square">
            <a:spAutoFit/>
          </a:bodyPr>
          <a:lstStyle/>
          <a:p>
            <a:pPr algn="l"/>
            <a:r>
              <a:rPr sz="1050" b="0" i="0" dirty="0">
                <a:solidFill>
                  <a:srgbClr val="94A3B8"/>
                </a:solidFill>
              </a:rPr>
              <a:t>Total, Completed, and Remaining tasks at a glance</a:t>
            </a:r>
          </a:p>
        </p:txBody>
      </p:sp>
      <p:sp>
        <p:nvSpPr>
          <p:cNvPr id="17" name="Rectangle 16"/>
          <p:cNvSpPr/>
          <p:nvPr/>
        </p:nvSpPr>
        <p:spPr>
          <a:xfrm>
            <a:off x="7781545" y="4526279"/>
            <a:ext cx="3904487" cy="877824"/>
          </a:xfrm>
          <a:prstGeom prst="rect">
            <a:avLst/>
          </a:prstGeom>
          <a:solidFill>
            <a:srgbClr val="1E293B"/>
          </a:solidFill>
          <a:ln w="9525">
            <a:solidFill>
              <a:srgbClr val="FB92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 name="TextBox 17"/>
          <p:cNvSpPr txBox="1"/>
          <p:nvPr/>
        </p:nvSpPr>
        <p:spPr>
          <a:xfrm>
            <a:off x="7918706" y="4599431"/>
            <a:ext cx="3630168" cy="310896"/>
          </a:xfrm>
          <a:prstGeom prst="rect">
            <a:avLst/>
          </a:prstGeom>
          <a:noFill/>
        </p:spPr>
        <p:txBody>
          <a:bodyPr wrap="square">
            <a:spAutoFit/>
          </a:bodyPr>
          <a:lstStyle/>
          <a:p>
            <a:pPr algn="l"/>
            <a:r>
              <a:rPr sz="1200" b="1" i="0" dirty="0">
                <a:solidFill>
                  <a:srgbClr val="FB923B"/>
                </a:solidFill>
              </a:rPr>
              <a:t>Streak Counter</a:t>
            </a:r>
          </a:p>
        </p:txBody>
      </p:sp>
      <p:sp>
        <p:nvSpPr>
          <p:cNvPr id="19" name="TextBox 18"/>
          <p:cNvSpPr txBox="1"/>
          <p:nvPr/>
        </p:nvSpPr>
        <p:spPr>
          <a:xfrm>
            <a:off x="7918706" y="4983479"/>
            <a:ext cx="3630168" cy="365760"/>
          </a:xfrm>
          <a:prstGeom prst="rect">
            <a:avLst/>
          </a:prstGeom>
          <a:noFill/>
        </p:spPr>
        <p:txBody>
          <a:bodyPr wrap="square">
            <a:spAutoFit/>
          </a:bodyPr>
          <a:lstStyle/>
          <a:p>
            <a:pPr algn="l"/>
            <a:r>
              <a:rPr sz="1050" b="0" i="0" dirty="0">
                <a:solidFill>
                  <a:srgbClr val="94A3B8"/>
                </a:solidFill>
              </a:rPr>
              <a:t>Consecutive productive days tracked and displayed</a:t>
            </a:r>
          </a:p>
        </p:txBody>
      </p:sp>
      <p:sp>
        <p:nvSpPr>
          <p:cNvPr id="20" name="Rectangle 19"/>
          <p:cNvSpPr/>
          <p:nvPr/>
        </p:nvSpPr>
        <p:spPr>
          <a:xfrm>
            <a:off x="7781545" y="5532119"/>
            <a:ext cx="3904487" cy="877824"/>
          </a:xfrm>
          <a:prstGeom prst="rect">
            <a:avLst/>
          </a:prstGeom>
          <a:solidFill>
            <a:srgbClr val="1E293B"/>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1" name="TextBox 20"/>
          <p:cNvSpPr txBox="1"/>
          <p:nvPr/>
        </p:nvSpPr>
        <p:spPr>
          <a:xfrm>
            <a:off x="7918706" y="5605271"/>
            <a:ext cx="3630168" cy="310896"/>
          </a:xfrm>
          <a:prstGeom prst="rect">
            <a:avLst/>
          </a:prstGeom>
          <a:noFill/>
        </p:spPr>
        <p:txBody>
          <a:bodyPr wrap="square">
            <a:spAutoFit/>
          </a:bodyPr>
          <a:lstStyle/>
          <a:p>
            <a:pPr algn="l"/>
            <a:r>
              <a:rPr sz="1200" b="1" i="0" dirty="0">
                <a:solidFill>
                  <a:srgbClr val="2DD4BF"/>
                </a:solidFill>
              </a:rPr>
              <a:t>Live Updates</a:t>
            </a:r>
          </a:p>
        </p:txBody>
      </p:sp>
      <p:sp>
        <p:nvSpPr>
          <p:cNvPr id="22" name="TextBox 21"/>
          <p:cNvSpPr txBox="1"/>
          <p:nvPr/>
        </p:nvSpPr>
        <p:spPr>
          <a:xfrm>
            <a:off x="7918706" y="5989319"/>
            <a:ext cx="3630168" cy="365760"/>
          </a:xfrm>
          <a:prstGeom prst="rect">
            <a:avLst/>
          </a:prstGeom>
          <a:noFill/>
        </p:spPr>
        <p:txBody>
          <a:bodyPr wrap="square">
            <a:spAutoFit/>
          </a:bodyPr>
          <a:lstStyle/>
          <a:p>
            <a:pPr algn="l"/>
            <a:r>
              <a:rPr sz="1050" b="0" i="0" dirty="0">
                <a:solidFill>
                  <a:srgbClr val="94A3B8"/>
                </a:solidFill>
              </a:rPr>
              <a:t>Dashboard refreshes on every task status change</a:t>
            </a:r>
          </a:p>
        </p:txBody>
      </p:sp>
      <p:pic>
        <p:nvPicPr>
          <p:cNvPr id="23" name="Picture 22"/>
          <p:cNvPicPr>
            <a:picLocks noChangeAspect="1"/>
          </p:cNvPicPr>
          <p:nvPr/>
        </p:nvPicPr>
        <p:blipFill>
          <a:blip r:embed="rId2"/>
          <a:stretch>
            <a:fillRect/>
          </a:stretch>
        </p:blipFill>
        <p:spPr>
          <a:xfrm>
            <a:off x="810214" y="1187075"/>
            <a:ext cx="5812259" cy="5489687"/>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91440" cy="1051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82880" y="987552"/>
            <a:ext cx="1197864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256032" y="91440"/>
            <a:ext cx="11430000" cy="584775"/>
          </a:xfrm>
          <a:prstGeom prst="rect">
            <a:avLst/>
          </a:prstGeom>
          <a:noFill/>
        </p:spPr>
        <p:txBody>
          <a:bodyPr wrap="square">
            <a:spAutoFit/>
          </a:bodyPr>
          <a:lstStyle/>
          <a:p>
            <a:pPr algn="ctr"/>
            <a:r>
              <a:rPr sz="3200" b="1" i="0" dirty="0">
                <a:solidFill>
                  <a:srgbClr val="FFFFFF"/>
                </a:solidFill>
              </a:rPr>
              <a:t>Implementation — Focus Timer &amp; Extra Features</a:t>
            </a:r>
          </a:p>
        </p:txBody>
      </p:sp>
      <p:sp>
        <p:nvSpPr>
          <p:cNvPr id="6" name="TextBox 5"/>
          <p:cNvSpPr txBox="1"/>
          <p:nvPr/>
        </p:nvSpPr>
        <p:spPr>
          <a:xfrm>
            <a:off x="256032" y="654796"/>
            <a:ext cx="11430000" cy="369332"/>
          </a:xfrm>
          <a:prstGeom prst="rect">
            <a:avLst/>
          </a:prstGeom>
          <a:noFill/>
        </p:spPr>
        <p:txBody>
          <a:bodyPr wrap="square">
            <a:spAutoFit/>
          </a:bodyPr>
          <a:lstStyle/>
          <a:p>
            <a:pPr algn="ctr"/>
            <a:r>
              <a:rPr b="0" i="0" dirty="0">
                <a:solidFill>
                  <a:srgbClr val="94A3B8"/>
                </a:solidFill>
              </a:rPr>
              <a:t>Productivity tools embedded in the application</a:t>
            </a:r>
          </a:p>
        </p:txBody>
      </p:sp>
      <p:sp>
        <p:nvSpPr>
          <p:cNvPr id="11" name="TextBox 10"/>
          <p:cNvSpPr txBox="1"/>
          <p:nvPr/>
        </p:nvSpPr>
        <p:spPr>
          <a:xfrm>
            <a:off x="4039668" y="4384435"/>
            <a:ext cx="4566735" cy="347472"/>
          </a:xfrm>
          <a:prstGeom prst="rect">
            <a:avLst/>
          </a:prstGeom>
          <a:noFill/>
        </p:spPr>
        <p:txBody>
          <a:bodyPr wrap="square">
            <a:spAutoFit/>
          </a:bodyPr>
          <a:lstStyle/>
          <a:p>
            <a:pPr algn="l"/>
            <a:r>
              <a:rPr sz="1600" b="1" i="0" dirty="0">
                <a:solidFill>
                  <a:srgbClr val="FB923B"/>
                </a:solidFill>
              </a:rPr>
              <a:t>Focus Timer</a:t>
            </a:r>
          </a:p>
        </p:txBody>
      </p:sp>
      <p:sp>
        <p:nvSpPr>
          <p:cNvPr id="12" name="TextBox 11"/>
          <p:cNvSpPr txBox="1"/>
          <p:nvPr/>
        </p:nvSpPr>
        <p:spPr>
          <a:xfrm>
            <a:off x="4039668" y="4768483"/>
            <a:ext cx="4566735" cy="338554"/>
          </a:xfrm>
          <a:prstGeom prst="rect">
            <a:avLst/>
          </a:prstGeom>
          <a:noFill/>
        </p:spPr>
        <p:txBody>
          <a:bodyPr wrap="square">
            <a:spAutoFit/>
          </a:bodyPr>
          <a:lstStyle/>
          <a:p>
            <a:pPr algn="l"/>
            <a:r>
              <a:rPr sz="1600" b="0" i="0" dirty="0">
                <a:solidFill>
                  <a:srgbClr val="FFFFFF"/>
                </a:solidFill>
              </a:rPr>
              <a:t>• Pomodoro: 25-min work / 5-min break</a:t>
            </a:r>
          </a:p>
        </p:txBody>
      </p:sp>
      <p:sp>
        <p:nvSpPr>
          <p:cNvPr id="13" name="TextBox 12"/>
          <p:cNvSpPr txBox="1"/>
          <p:nvPr/>
        </p:nvSpPr>
        <p:spPr>
          <a:xfrm>
            <a:off x="4039668" y="5225683"/>
            <a:ext cx="4566735" cy="338554"/>
          </a:xfrm>
          <a:prstGeom prst="rect">
            <a:avLst/>
          </a:prstGeom>
          <a:noFill/>
        </p:spPr>
        <p:txBody>
          <a:bodyPr wrap="square">
            <a:spAutoFit/>
          </a:bodyPr>
          <a:lstStyle/>
          <a:p>
            <a:pPr algn="l"/>
            <a:r>
              <a:rPr sz="1600" b="0" i="0" dirty="0">
                <a:solidFill>
                  <a:srgbClr val="FFFFFF"/>
                </a:solidFill>
              </a:rPr>
              <a:t>• Visual countdown display</a:t>
            </a:r>
          </a:p>
        </p:txBody>
      </p:sp>
      <p:sp>
        <p:nvSpPr>
          <p:cNvPr id="14" name="TextBox 13"/>
          <p:cNvSpPr txBox="1"/>
          <p:nvPr/>
        </p:nvSpPr>
        <p:spPr>
          <a:xfrm>
            <a:off x="4039668" y="5682883"/>
            <a:ext cx="4566735" cy="338554"/>
          </a:xfrm>
          <a:prstGeom prst="rect">
            <a:avLst/>
          </a:prstGeom>
          <a:noFill/>
        </p:spPr>
        <p:txBody>
          <a:bodyPr wrap="square">
            <a:spAutoFit/>
          </a:bodyPr>
          <a:lstStyle/>
          <a:p>
            <a:pPr algn="l"/>
            <a:r>
              <a:rPr sz="1600" b="0" i="0" dirty="0">
                <a:solidFill>
                  <a:srgbClr val="FFFFFF"/>
                </a:solidFill>
              </a:rPr>
              <a:t>• Floats over app — non-intrusive overlay</a:t>
            </a:r>
          </a:p>
        </p:txBody>
      </p:sp>
      <p:sp>
        <p:nvSpPr>
          <p:cNvPr id="15" name="TextBox 14"/>
          <p:cNvSpPr txBox="1"/>
          <p:nvPr/>
        </p:nvSpPr>
        <p:spPr>
          <a:xfrm>
            <a:off x="4039668" y="6140083"/>
            <a:ext cx="4566735" cy="338554"/>
          </a:xfrm>
          <a:prstGeom prst="rect">
            <a:avLst/>
          </a:prstGeom>
          <a:noFill/>
        </p:spPr>
        <p:txBody>
          <a:bodyPr wrap="square">
            <a:spAutoFit/>
          </a:bodyPr>
          <a:lstStyle/>
          <a:p>
            <a:pPr algn="l"/>
            <a:r>
              <a:rPr sz="1600" b="0" i="0" dirty="0">
                <a:solidFill>
                  <a:srgbClr val="FFFFFF"/>
                </a:solidFill>
              </a:rPr>
              <a:t>• Show / Hide toggle from nav bar</a:t>
            </a:r>
          </a:p>
        </p:txBody>
      </p:sp>
      <p:pic>
        <p:nvPicPr>
          <p:cNvPr id="28" name="Picture 27"/>
          <p:cNvPicPr>
            <a:picLocks noChangeAspect="1"/>
          </p:cNvPicPr>
          <p:nvPr/>
        </p:nvPicPr>
        <p:blipFill>
          <a:blip r:embed="rId2"/>
          <a:stretch>
            <a:fillRect/>
          </a:stretch>
        </p:blipFill>
        <p:spPr>
          <a:xfrm>
            <a:off x="2835169" y="1289304"/>
            <a:ext cx="6271726" cy="299529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91440" cy="1051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82880" y="987552"/>
            <a:ext cx="1197864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256032" y="91440"/>
            <a:ext cx="11430000" cy="584775"/>
          </a:xfrm>
          <a:prstGeom prst="rect">
            <a:avLst/>
          </a:prstGeom>
          <a:noFill/>
        </p:spPr>
        <p:txBody>
          <a:bodyPr wrap="square">
            <a:spAutoFit/>
          </a:bodyPr>
          <a:lstStyle/>
          <a:p>
            <a:pPr algn="ctr"/>
            <a:r>
              <a:rPr sz="3200" b="1" i="0" dirty="0">
                <a:solidFill>
                  <a:srgbClr val="FFFFFF"/>
                </a:solidFill>
              </a:rPr>
              <a:t>Future Enhancements</a:t>
            </a:r>
          </a:p>
        </p:txBody>
      </p:sp>
      <p:sp>
        <p:nvSpPr>
          <p:cNvPr id="6" name="TextBox 5"/>
          <p:cNvSpPr txBox="1"/>
          <p:nvPr/>
        </p:nvSpPr>
        <p:spPr>
          <a:xfrm>
            <a:off x="256032" y="647218"/>
            <a:ext cx="11430000" cy="369332"/>
          </a:xfrm>
          <a:prstGeom prst="rect">
            <a:avLst/>
          </a:prstGeom>
          <a:noFill/>
        </p:spPr>
        <p:txBody>
          <a:bodyPr wrap="square">
            <a:spAutoFit/>
          </a:bodyPr>
          <a:lstStyle/>
          <a:p>
            <a:pPr algn="ctr"/>
            <a:r>
              <a:rPr b="0" i="0" dirty="0">
                <a:solidFill>
                  <a:srgbClr val="94A3B8"/>
                </a:solidFill>
              </a:rPr>
              <a:t>Planned improvements for production scale and expanded feature set</a:t>
            </a:r>
          </a:p>
        </p:txBody>
      </p:sp>
      <p:sp>
        <p:nvSpPr>
          <p:cNvPr id="7" name="Rectangle 6"/>
          <p:cNvSpPr/>
          <p:nvPr/>
        </p:nvSpPr>
        <p:spPr>
          <a:xfrm>
            <a:off x="256032" y="1261872"/>
            <a:ext cx="3767328" cy="1280160"/>
          </a:xfrm>
          <a:prstGeom prst="rect">
            <a:avLst/>
          </a:prstGeom>
          <a:solidFill>
            <a:srgbClr val="1E293B"/>
          </a:solidFill>
          <a:ln w="9525">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393192" y="1335024"/>
            <a:ext cx="3493008" cy="347472"/>
          </a:xfrm>
          <a:prstGeom prst="rect">
            <a:avLst/>
          </a:prstGeom>
          <a:noFill/>
        </p:spPr>
        <p:txBody>
          <a:bodyPr wrap="square">
            <a:spAutoFit/>
          </a:bodyPr>
          <a:lstStyle/>
          <a:p>
            <a:pPr algn="l"/>
            <a:r>
              <a:rPr sz="1100" b="1" i="0" dirty="0">
                <a:solidFill>
                  <a:srgbClr val="60A5FA"/>
                </a:solidFill>
              </a:rPr>
              <a:t>🗄️  PostgreSQL Migration</a:t>
            </a:r>
          </a:p>
        </p:txBody>
      </p:sp>
      <p:sp>
        <p:nvSpPr>
          <p:cNvPr id="9" name="TextBox 8"/>
          <p:cNvSpPr txBox="1"/>
          <p:nvPr/>
        </p:nvSpPr>
        <p:spPr>
          <a:xfrm>
            <a:off x="393192" y="1737360"/>
            <a:ext cx="3493008" cy="749808"/>
          </a:xfrm>
          <a:prstGeom prst="rect">
            <a:avLst/>
          </a:prstGeom>
          <a:noFill/>
        </p:spPr>
        <p:txBody>
          <a:bodyPr wrap="square">
            <a:spAutoFit/>
          </a:bodyPr>
          <a:lstStyle/>
          <a:p>
            <a:pPr algn="l"/>
            <a:r>
              <a:rPr sz="1000" b="0" i="0" dirty="0">
                <a:solidFill>
                  <a:srgbClr val="94A3B8"/>
                </a:solidFill>
              </a:rPr>
              <a:t>Replace SQLite with PostgreSQL for production concurrency, indexing, and reliability.</a:t>
            </a:r>
          </a:p>
        </p:txBody>
      </p:sp>
      <p:sp>
        <p:nvSpPr>
          <p:cNvPr id="10" name="Rectangle 9"/>
          <p:cNvSpPr/>
          <p:nvPr/>
        </p:nvSpPr>
        <p:spPr>
          <a:xfrm>
            <a:off x="4261104" y="1261872"/>
            <a:ext cx="3767328" cy="1280160"/>
          </a:xfrm>
          <a:prstGeom prst="rect">
            <a:avLst/>
          </a:prstGeom>
          <a:solidFill>
            <a:srgbClr val="1E293B"/>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TextBox 10"/>
          <p:cNvSpPr txBox="1"/>
          <p:nvPr/>
        </p:nvSpPr>
        <p:spPr>
          <a:xfrm>
            <a:off x="4398264" y="1335024"/>
            <a:ext cx="3493008" cy="347472"/>
          </a:xfrm>
          <a:prstGeom prst="rect">
            <a:avLst/>
          </a:prstGeom>
          <a:noFill/>
        </p:spPr>
        <p:txBody>
          <a:bodyPr wrap="square">
            <a:spAutoFit/>
          </a:bodyPr>
          <a:lstStyle/>
          <a:p>
            <a:pPr algn="l"/>
            <a:r>
              <a:rPr sz="1100" b="1" i="0" dirty="0">
                <a:solidFill>
                  <a:srgbClr val="2DD4BF"/>
                </a:solidFill>
              </a:rPr>
              <a:t>⚡  Redis Caching</a:t>
            </a:r>
          </a:p>
        </p:txBody>
      </p:sp>
      <p:sp>
        <p:nvSpPr>
          <p:cNvPr id="12" name="TextBox 11"/>
          <p:cNvSpPr txBox="1"/>
          <p:nvPr/>
        </p:nvSpPr>
        <p:spPr>
          <a:xfrm>
            <a:off x="4398264" y="1737360"/>
            <a:ext cx="3493008" cy="749808"/>
          </a:xfrm>
          <a:prstGeom prst="rect">
            <a:avLst/>
          </a:prstGeom>
          <a:noFill/>
        </p:spPr>
        <p:txBody>
          <a:bodyPr wrap="square">
            <a:spAutoFit/>
          </a:bodyPr>
          <a:lstStyle/>
          <a:p>
            <a:pPr algn="l"/>
            <a:r>
              <a:rPr sz="1000" b="0" i="0" dirty="0">
                <a:solidFill>
                  <a:srgbClr val="94A3B8"/>
                </a:solidFill>
              </a:rPr>
              <a:t>Cache analytics aggregations and RRULE expansions for sub-50 ms API response times.</a:t>
            </a:r>
          </a:p>
        </p:txBody>
      </p:sp>
      <p:sp>
        <p:nvSpPr>
          <p:cNvPr id="13" name="Rectangle 12"/>
          <p:cNvSpPr/>
          <p:nvPr/>
        </p:nvSpPr>
        <p:spPr>
          <a:xfrm>
            <a:off x="8266175" y="1261872"/>
            <a:ext cx="3767328" cy="1280160"/>
          </a:xfrm>
          <a:prstGeom prst="rect">
            <a:avLst/>
          </a:prstGeom>
          <a:solidFill>
            <a:srgbClr val="1E293B"/>
          </a:solidFill>
          <a:ln w="952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 name="TextBox 13"/>
          <p:cNvSpPr txBox="1"/>
          <p:nvPr/>
        </p:nvSpPr>
        <p:spPr>
          <a:xfrm>
            <a:off x="8403336" y="1335024"/>
            <a:ext cx="3493008" cy="347472"/>
          </a:xfrm>
          <a:prstGeom prst="rect">
            <a:avLst/>
          </a:prstGeom>
          <a:noFill/>
        </p:spPr>
        <p:txBody>
          <a:bodyPr wrap="square">
            <a:spAutoFit/>
          </a:bodyPr>
          <a:lstStyle/>
          <a:p>
            <a:pPr algn="l"/>
            <a:r>
              <a:rPr sz="1100" b="1" i="0" dirty="0">
                <a:solidFill>
                  <a:srgbClr val="8B5CF6"/>
                </a:solidFill>
              </a:rPr>
              <a:t>🤖  AI Task Prioritisation</a:t>
            </a:r>
          </a:p>
        </p:txBody>
      </p:sp>
      <p:sp>
        <p:nvSpPr>
          <p:cNvPr id="15" name="TextBox 14"/>
          <p:cNvSpPr txBox="1"/>
          <p:nvPr/>
        </p:nvSpPr>
        <p:spPr>
          <a:xfrm>
            <a:off x="8403336" y="1737360"/>
            <a:ext cx="3493008" cy="749808"/>
          </a:xfrm>
          <a:prstGeom prst="rect">
            <a:avLst/>
          </a:prstGeom>
          <a:noFill/>
        </p:spPr>
        <p:txBody>
          <a:bodyPr wrap="square">
            <a:spAutoFit/>
          </a:bodyPr>
          <a:lstStyle/>
          <a:p>
            <a:pPr algn="l"/>
            <a:r>
              <a:rPr sz="1000" b="0" i="0" dirty="0">
                <a:solidFill>
                  <a:srgbClr val="94A3B8"/>
                </a:solidFill>
              </a:rPr>
              <a:t>ML-based suggestions to re-prioritise tasks using completion history and deadlines.</a:t>
            </a:r>
          </a:p>
        </p:txBody>
      </p:sp>
      <p:sp>
        <p:nvSpPr>
          <p:cNvPr id="16" name="Rectangle 15"/>
          <p:cNvSpPr/>
          <p:nvPr/>
        </p:nvSpPr>
        <p:spPr>
          <a:xfrm>
            <a:off x="256032" y="2688336"/>
            <a:ext cx="3767328" cy="1280160"/>
          </a:xfrm>
          <a:prstGeom prst="rect">
            <a:avLst/>
          </a:prstGeom>
          <a:solidFill>
            <a:srgbClr val="1E293B"/>
          </a:solidFill>
          <a:ln w="9525">
            <a:solidFill>
              <a:srgbClr val="FB92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7" name="TextBox 16"/>
          <p:cNvSpPr txBox="1"/>
          <p:nvPr/>
        </p:nvSpPr>
        <p:spPr>
          <a:xfrm>
            <a:off x="393192" y="2761488"/>
            <a:ext cx="3493008" cy="347472"/>
          </a:xfrm>
          <a:prstGeom prst="rect">
            <a:avLst/>
          </a:prstGeom>
          <a:noFill/>
        </p:spPr>
        <p:txBody>
          <a:bodyPr wrap="square">
            <a:spAutoFit/>
          </a:bodyPr>
          <a:lstStyle/>
          <a:p>
            <a:pPr algn="l"/>
            <a:r>
              <a:rPr sz="1100" b="1" i="0" dirty="0">
                <a:solidFill>
                  <a:srgbClr val="FB923B"/>
                </a:solidFill>
              </a:rPr>
              <a:t>📧  Email Notifications</a:t>
            </a:r>
          </a:p>
        </p:txBody>
      </p:sp>
      <p:sp>
        <p:nvSpPr>
          <p:cNvPr id="18" name="TextBox 17"/>
          <p:cNvSpPr txBox="1"/>
          <p:nvPr/>
        </p:nvSpPr>
        <p:spPr>
          <a:xfrm>
            <a:off x="393192" y="3163824"/>
            <a:ext cx="3493008" cy="749808"/>
          </a:xfrm>
          <a:prstGeom prst="rect">
            <a:avLst/>
          </a:prstGeom>
          <a:noFill/>
        </p:spPr>
        <p:txBody>
          <a:bodyPr wrap="square">
            <a:spAutoFit/>
          </a:bodyPr>
          <a:lstStyle/>
          <a:p>
            <a:pPr algn="l"/>
            <a:r>
              <a:rPr sz="1000" b="0" i="0" dirty="0">
                <a:solidFill>
                  <a:srgbClr val="94A3B8"/>
                </a:solidFill>
              </a:rPr>
              <a:t>SMTP reminders for task deadlines and overdue alerts via SendGrid / Mailgun.</a:t>
            </a:r>
          </a:p>
        </p:txBody>
      </p:sp>
      <p:sp>
        <p:nvSpPr>
          <p:cNvPr id="19" name="Rectangle 18"/>
          <p:cNvSpPr/>
          <p:nvPr/>
        </p:nvSpPr>
        <p:spPr>
          <a:xfrm>
            <a:off x="4261104" y="2688336"/>
            <a:ext cx="3767328" cy="1280160"/>
          </a:xfrm>
          <a:prstGeom prst="rect">
            <a:avLst/>
          </a:prstGeom>
          <a:solidFill>
            <a:srgbClr val="1E293B"/>
          </a:solidFill>
          <a:ln w="9525">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0" name="TextBox 19"/>
          <p:cNvSpPr txBox="1"/>
          <p:nvPr/>
        </p:nvSpPr>
        <p:spPr>
          <a:xfrm>
            <a:off x="4398264" y="2761488"/>
            <a:ext cx="3493008" cy="347472"/>
          </a:xfrm>
          <a:prstGeom prst="rect">
            <a:avLst/>
          </a:prstGeom>
          <a:noFill/>
        </p:spPr>
        <p:txBody>
          <a:bodyPr wrap="square">
            <a:spAutoFit/>
          </a:bodyPr>
          <a:lstStyle/>
          <a:p>
            <a:pPr algn="l"/>
            <a:r>
              <a:rPr sz="1100" b="1" i="0" dirty="0">
                <a:solidFill>
                  <a:srgbClr val="4ADE80"/>
                </a:solidFill>
              </a:rPr>
              <a:t>📅  Google Calendar Sync</a:t>
            </a:r>
          </a:p>
        </p:txBody>
      </p:sp>
      <p:sp>
        <p:nvSpPr>
          <p:cNvPr id="21" name="TextBox 20"/>
          <p:cNvSpPr txBox="1"/>
          <p:nvPr/>
        </p:nvSpPr>
        <p:spPr>
          <a:xfrm>
            <a:off x="4398264" y="3163824"/>
            <a:ext cx="3493008" cy="749808"/>
          </a:xfrm>
          <a:prstGeom prst="rect">
            <a:avLst/>
          </a:prstGeom>
          <a:noFill/>
        </p:spPr>
        <p:txBody>
          <a:bodyPr wrap="square">
            <a:spAutoFit/>
          </a:bodyPr>
          <a:lstStyle/>
          <a:p>
            <a:pPr algn="l"/>
            <a:r>
              <a:rPr sz="1000" b="0" i="0" dirty="0">
                <a:solidFill>
                  <a:srgbClr val="94A3B8"/>
                </a:solidFill>
              </a:rPr>
              <a:t>Two-way sync with Google Calendar API using OAuth 2.0 tokens.</a:t>
            </a:r>
          </a:p>
        </p:txBody>
      </p:sp>
      <p:sp>
        <p:nvSpPr>
          <p:cNvPr id="22" name="Rectangle 21"/>
          <p:cNvSpPr/>
          <p:nvPr/>
        </p:nvSpPr>
        <p:spPr>
          <a:xfrm>
            <a:off x="8266175" y="2688336"/>
            <a:ext cx="3767328" cy="1280160"/>
          </a:xfrm>
          <a:prstGeom prst="rect">
            <a:avLst/>
          </a:prstGeom>
          <a:solidFill>
            <a:srgbClr val="1E293B"/>
          </a:solidFill>
          <a:ln w="9525">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3" name="TextBox 22"/>
          <p:cNvSpPr txBox="1"/>
          <p:nvPr/>
        </p:nvSpPr>
        <p:spPr>
          <a:xfrm>
            <a:off x="8403336" y="2761488"/>
            <a:ext cx="3493008" cy="347472"/>
          </a:xfrm>
          <a:prstGeom prst="rect">
            <a:avLst/>
          </a:prstGeom>
          <a:noFill/>
        </p:spPr>
        <p:txBody>
          <a:bodyPr wrap="square">
            <a:spAutoFit/>
          </a:bodyPr>
          <a:lstStyle/>
          <a:p>
            <a:pPr algn="l"/>
            <a:r>
              <a:rPr sz="1100" b="1" i="0" dirty="0">
                <a:solidFill>
                  <a:srgbClr val="F87171"/>
                </a:solidFill>
              </a:rPr>
              <a:t>🔔  Push Notifications</a:t>
            </a:r>
          </a:p>
        </p:txBody>
      </p:sp>
      <p:sp>
        <p:nvSpPr>
          <p:cNvPr id="24" name="TextBox 23"/>
          <p:cNvSpPr txBox="1"/>
          <p:nvPr/>
        </p:nvSpPr>
        <p:spPr>
          <a:xfrm>
            <a:off x="8403336" y="3163824"/>
            <a:ext cx="3493008" cy="749808"/>
          </a:xfrm>
          <a:prstGeom prst="rect">
            <a:avLst/>
          </a:prstGeom>
          <a:noFill/>
        </p:spPr>
        <p:txBody>
          <a:bodyPr wrap="square">
            <a:spAutoFit/>
          </a:bodyPr>
          <a:lstStyle/>
          <a:p>
            <a:pPr algn="l"/>
            <a:r>
              <a:rPr sz="1000" b="0" i="0" dirty="0">
                <a:solidFill>
                  <a:srgbClr val="94A3B8"/>
                </a:solidFill>
              </a:rPr>
              <a:t>Browser Web Push API for overdue task alerts and upcoming deadline reminders.</a:t>
            </a:r>
          </a:p>
        </p:txBody>
      </p:sp>
      <p:sp>
        <p:nvSpPr>
          <p:cNvPr id="25" name="Rectangle 24"/>
          <p:cNvSpPr/>
          <p:nvPr/>
        </p:nvSpPr>
        <p:spPr>
          <a:xfrm>
            <a:off x="256032" y="4114800"/>
            <a:ext cx="3767328" cy="1280160"/>
          </a:xfrm>
          <a:prstGeom prst="rect">
            <a:avLst/>
          </a:prstGeom>
          <a:solidFill>
            <a:srgbClr val="1E293B"/>
          </a:solidFill>
          <a:ln w="9525">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6" name="TextBox 25"/>
          <p:cNvSpPr txBox="1"/>
          <p:nvPr/>
        </p:nvSpPr>
        <p:spPr>
          <a:xfrm>
            <a:off x="393192" y="4187952"/>
            <a:ext cx="3493008" cy="347472"/>
          </a:xfrm>
          <a:prstGeom prst="rect">
            <a:avLst/>
          </a:prstGeom>
          <a:noFill/>
        </p:spPr>
        <p:txBody>
          <a:bodyPr wrap="square">
            <a:spAutoFit/>
          </a:bodyPr>
          <a:lstStyle/>
          <a:p>
            <a:pPr algn="l"/>
            <a:r>
              <a:rPr sz="1100" b="1" i="0" dirty="0">
                <a:solidFill>
                  <a:srgbClr val="60A5FA"/>
                </a:solidFill>
              </a:rPr>
              <a:t>⎈️  Kubernetes Orchestration</a:t>
            </a:r>
          </a:p>
        </p:txBody>
      </p:sp>
      <p:sp>
        <p:nvSpPr>
          <p:cNvPr id="27" name="TextBox 26"/>
          <p:cNvSpPr txBox="1"/>
          <p:nvPr/>
        </p:nvSpPr>
        <p:spPr>
          <a:xfrm>
            <a:off x="393192" y="4590288"/>
            <a:ext cx="3493008" cy="749808"/>
          </a:xfrm>
          <a:prstGeom prst="rect">
            <a:avLst/>
          </a:prstGeom>
          <a:noFill/>
        </p:spPr>
        <p:txBody>
          <a:bodyPr wrap="square">
            <a:spAutoFit/>
          </a:bodyPr>
          <a:lstStyle/>
          <a:p>
            <a:pPr algn="l"/>
            <a:r>
              <a:rPr sz="1000" b="0" i="0" dirty="0">
                <a:solidFill>
                  <a:srgbClr val="94A3B8"/>
                </a:solidFill>
              </a:rPr>
              <a:t>Migrate Docker deployment to K8s for horizontal auto-scaling and high availability.</a:t>
            </a:r>
          </a:p>
        </p:txBody>
      </p:sp>
      <p:sp>
        <p:nvSpPr>
          <p:cNvPr id="28" name="Rectangle 27"/>
          <p:cNvSpPr/>
          <p:nvPr/>
        </p:nvSpPr>
        <p:spPr>
          <a:xfrm>
            <a:off x="4261104" y="4114800"/>
            <a:ext cx="3767328" cy="1280160"/>
          </a:xfrm>
          <a:prstGeom prst="rect">
            <a:avLst/>
          </a:prstGeom>
          <a:solidFill>
            <a:srgbClr val="1E293B"/>
          </a:solidFill>
          <a:ln w="952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9" name="TextBox 28"/>
          <p:cNvSpPr txBox="1"/>
          <p:nvPr/>
        </p:nvSpPr>
        <p:spPr>
          <a:xfrm>
            <a:off x="4398264" y="4187952"/>
            <a:ext cx="3493008" cy="347472"/>
          </a:xfrm>
          <a:prstGeom prst="rect">
            <a:avLst/>
          </a:prstGeom>
          <a:noFill/>
        </p:spPr>
        <p:txBody>
          <a:bodyPr wrap="square">
            <a:spAutoFit/>
          </a:bodyPr>
          <a:lstStyle/>
          <a:p>
            <a:pPr algn="l"/>
            <a:r>
              <a:rPr sz="1100" b="1" i="0" dirty="0">
                <a:solidFill>
                  <a:srgbClr val="8B5CF6"/>
                </a:solidFill>
              </a:rPr>
              <a:t>👥  Team Workspaces</a:t>
            </a:r>
          </a:p>
        </p:txBody>
      </p:sp>
      <p:sp>
        <p:nvSpPr>
          <p:cNvPr id="30" name="TextBox 29"/>
          <p:cNvSpPr txBox="1"/>
          <p:nvPr/>
        </p:nvSpPr>
        <p:spPr>
          <a:xfrm>
            <a:off x="4398264" y="4590288"/>
            <a:ext cx="3493008" cy="749808"/>
          </a:xfrm>
          <a:prstGeom prst="rect">
            <a:avLst/>
          </a:prstGeom>
          <a:noFill/>
        </p:spPr>
        <p:txBody>
          <a:bodyPr wrap="square">
            <a:spAutoFit/>
          </a:bodyPr>
          <a:lstStyle/>
          <a:p>
            <a:pPr algn="l"/>
            <a:r>
              <a:rPr sz="1000" b="0" i="0" dirty="0">
                <a:solidFill>
                  <a:srgbClr val="94A3B8"/>
                </a:solidFill>
              </a:rPr>
              <a:t>Shared task boards, team dashboards, and task assignment to collaborators.</a:t>
            </a:r>
          </a:p>
        </p:txBody>
      </p:sp>
      <p:sp>
        <p:nvSpPr>
          <p:cNvPr id="31" name="Rectangle 30"/>
          <p:cNvSpPr/>
          <p:nvPr/>
        </p:nvSpPr>
        <p:spPr>
          <a:xfrm>
            <a:off x="8266175" y="4114800"/>
            <a:ext cx="3767328" cy="1280160"/>
          </a:xfrm>
          <a:prstGeom prst="rect">
            <a:avLst/>
          </a:prstGeom>
          <a:solidFill>
            <a:srgbClr val="1E293B"/>
          </a:solidFill>
          <a:ln w="9525">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2" name="TextBox 31"/>
          <p:cNvSpPr txBox="1"/>
          <p:nvPr/>
        </p:nvSpPr>
        <p:spPr>
          <a:xfrm>
            <a:off x="8403336" y="4187952"/>
            <a:ext cx="3493008" cy="347472"/>
          </a:xfrm>
          <a:prstGeom prst="rect">
            <a:avLst/>
          </a:prstGeom>
          <a:noFill/>
        </p:spPr>
        <p:txBody>
          <a:bodyPr wrap="square">
            <a:spAutoFit/>
          </a:bodyPr>
          <a:lstStyle/>
          <a:p>
            <a:pPr algn="l"/>
            <a:r>
              <a:rPr sz="1100" b="1" i="0" dirty="0">
                <a:solidFill>
                  <a:srgbClr val="FBBF24"/>
                </a:solidFill>
              </a:rPr>
              <a:t>🔐  Role-Based Access Control</a:t>
            </a:r>
          </a:p>
        </p:txBody>
      </p:sp>
      <p:sp>
        <p:nvSpPr>
          <p:cNvPr id="33" name="TextBox 32"/>
          <p:cNvSpPr txBox="1"/>
          <p:nvPr/>
        </p:nvSpPr>
        <p:spPr>
          <a:xfrm>
            <a:off x="8403336" y="4590288"/>
            <a:ext cx="3493008" cy="749808"/>
          </a:xfrm>
          <a:prstGeom prst="rect">
            <a:avLst/>
          </a:prstGeom>
          <a:noFill/>
        </p:spPr>
        <p:txBody>
          <a:bodyPr wrap="square">
            <a:spAutoFit/>
          </a:bodyPr>
          <a:lstStyle/>
          <a:p>
            <a:pPr algn="l"/>
            <a:r>
              <a:rPr sz="1000" b="0" i="0" dirty="0">
                <a:solidFill>
                  <a:srgbClr val="94A3B8"/>
                </a:solidFill>
              </a:rPr>
              <a:t>Admin / Manager / Member roles with fine-grained permission enforcement.</a:t>
            </a:r>
          </a:p>
        </p:txBody>
      </p:sp>
      <p:sp>
        <p:nvSpPr>
          <p:cNvPr id="34" name="Rectangle 33"/>
          <p:cNvSpPr/>
          <p:nvPr/>
        </p:nvSpPr>
        <p:spPr>
          <a:xfrm>
            <a:off x="256032" y="5541264"/>
            <a:ext cx="3767328" cy="1280160"/>
          </a:xfrm>
          <a:prstGeom prst="rect">
            <a:avLst/>
          </a:prstGeom>
          <a:solidFill>
            <a:srgbClr val="1E293B"/>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5" name="TextBox 34"/>
          <p:cNvSpPr txBox="1"/>
          <p:nvPr/>
        </p:nvSpPr>
        <p:spPr>
          <a:xfrm>
            <a:off x="393192" y="5614416"/>
            <a:ext cx="3493008" cy="347472"/>
          </a:xfrm>
          <a:prstGeom prst="rect">
            <a:avLst/>
          </a:prstGeom>
          <a:noFill/>
        </p:spPr>
        <p:txBody>
          <a:bodyPr wrap="square">
            <a:spAutoFit/>
          </a:bodyPr>
          <a:lstStyle/>
          <a:p>
            <a:pPr algn="l"/>
            <a:r>
              <a:rPr sz="1100" b="1" i="0" dirty="0">
                <a:solidFill>
                  <a:srgbClr val="2DD4BF"/>
                </a:solidFill>
              </a:rPr>
              <a:t>📴  Offline PWA Support</a:t>
            </a:r>
          </a:p>
        </p:txBody>
      </p:sp>
      <p:sp>
        <p:nvSpPr>
          <p:cNvPr id="36" name="TextBox 35"/>
          <p:cNvSpPr txBox="1"/>
          <p:nvPr/>
        </p:nvSpPr>
        <p:spPr>
          <a:xfrm>
            <a:off x="393192" y="6016752"/>
            <a:ext cx="3493008" cy="749808"/>
          </a:xfrm>
          <a:prstGeom prst="rect">
            <a:avLst/>
          </a:prstGeom>
          <a:noFill/>
        </p:spPr>
        <p:txBody>
          <a:bodyPr wrap="square">
            <a:spAutoFit/>
          </a:bodyPr>
          <a:lstStyle/>
          <a:p>
            <a:pPr algn="l"/>
            <a:r>
              <a:rPr sz="1000" b="0" i="0" dirty="0">
                <a:solidFill>
                  <a:srgbClr val="94A3B8"/>
                </a:solidFill>
              </a:rPr>
              <a:t>Service workers for offline task viewing with background sync on reconnect.</a:t>
            </a:r>
          </a:p>
        </p:txBody>
      </p:sp>
      <p:sp>
        <p:nvSpPr>
          <p:cNvPr id="37" name="Rectangle 36"/>
          <p:cNvSpPr/>
          <p:nvPr/>
        </p:nvSpPr>
        <p:spPr>
          <a:xfrm>
            <a:off x="4261104" y="5541264"/>
            <a:ext cx="3767328" cy="1280160"/>
          </a:xfrm>
          <a:prstGeom prst="rect">
            <a:avLst/>
          </a:prstGeom>
          <a:solidFill>
            <a:srgbClr val="1E293B"/>
          </a:solidFill>
          <a:ln w="9525">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8" name="TextBox 37"/>
          <p:cNvSpPr txBox="1"/>
          <p:nvPr/>
        </p:nvSpPr>
        <p:spPr>
          <a:xfrm>
            <a:off x="4398264" y="5614416"/>
            <a:ext cx="3493008" cy="347472"/>
          </a:xfrm>
          <a:prstGeom prst="rect">
            <a:avLst/>
          </a:prstGeom>
          <a:noFill/>
        </p:spPr>
        <p:txBody>
          <a:bodyPr wrap="square">
            <a:spAutoFit/>
          </a:bodyPr>
          <a:lstStyle/>
          <a:p>
            <a:pPr algn="l"/>
            <a:r>
              <a:rPr sz="1100" b="1" i="0" dirty="0">
                <a:solidFill>
                  <a:srgbClr val="6366F1"/>
                </a:solidFill>
              </a:rPr>
              <a:t>📊  Cloud Monitoring</a:t>
            </a:r>
          </a:p>
        </p:txBody>
      </p:sp>
      <p:sp>
        <p:nvSpPr>
          <p:cNvPr id="39" name="TextBox 38"/>
          <p:cNvSpPr txBox="1"/>
          <p:nvPr/>
        </p:nvSpPr>
        <p:spPr>
          <a:xfrm>
            <a:off x="4398264" y="6016752"/>
            <a:ext cx="3493008" cy="749808"/>
          </a:xfrm>
          <a:prstGeom prst="rect">
            <a:avLst/>
          </a:prstGeom>
          <a:noFill/>
        </p:spPr>
        <p:txBody>
          <a:bodyPr wrap="square">
            <a:spAutoFit/>
          </a:bodyPr>
          <a:lstStyle/>
          <a:p>
            <a:pPr algn="l"/>
            <a:r>
              <a:rPr sz="1000" b="0" i="0" dirty="0">
                <a:solidFill>
                  <a:srgbClr val="94A3B8"/>
                </a:solidFill>
              </a:rPr>
              <a:t>Grafana + Prometheus dashboards for API latency, error rate, and server health.</a:t>
            </a:r>
          </a:p>
        </p:txBody>
      </p:sp>
      <p:sp>
        <p:nvSpPr>
          <p:cNvPr id="40" name="Rectangle 39"/>
          <p:cNvSpPr/>
          <p:nvPr/>
        </p:nvSpPr>
        <p:spPr>
          <a:xfrm>
            <a:off x="8266175" y="5541264"/>
            <a:ext cx="3767328" cy="1280160"/>
          </a:xfrm>
          <a:prstGeom prst="rect">
            <a:avLst/>
          </a:prstGeom>
          <a:solidFill>
            <a:srgbClr val="1E293B"/>
          </a:solidFill>
          <a:ln w="9525">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1" name="TextBox 40"/>
          <p:cNvSpPr txBox="1"/>
          <p:nvPr/>
        </p:nvSpPr>
        <p:spPr>
          <a:xfrm>
            <a:off x="8403336" y="5614416"/>
            <a:ext cx="3493008" cy="347472"/>
          </a:xfrm>
          <a:prstGeom prst="rect">
            <a:avLst/>
          </a:prstGeom>
          <a:noFill/>
        </p:spPr>
        <p:txBody>
          <a:bodyPr wrap="square">
            <a:spAutoFit/>
          </a:bodyPr>
          <a:lstStyle/>
          <a:p>
            <a:pPr algn="l"/>
            <a:r>
              <a:rPr sz="1100" b="1" i="0" dirty="0">
                <a:solidFill>
                  <a:srgbClr val="94A3B8"/>
                </a:solidFill>
              </a:rPr>
              <a:t>🌙  Dark/Light Theme Toggle</a:t>
            </a:r>
          </a:p>
        </p:txBody>
      </p:sp>
      <p:sp>
        <p:nvSpPr>
          <p:cNvPr id="42" name="TextBox 41"/>
          <p:cNvSpPr txBox="1"/>
          <p:nvPr/>
        </p:nvSpPr>
        <p:spPr>
          <a:xfrm>
            <a:off x="8403336" y="6016752"/>
            <a:ext cx="3493008" cy="749808"/>
          </a:xfrm>
          <a:prstGeom prst="rect">
            <a:avLst/>
          </a:prstGeom>
          <a:noFill/>
        </p:spPr>
        <p:txBody>
          <a:bodyPr wrap="square">
            <a:spAutoFit/>
          </a:bodyPr>
          <a:lstStyle/>
          <a:p>
            <a:pPr algn="l"/>
            <a:r>
              <a:rPr sz="1000" b="0" i="0" dirty="0">
                <a:solidFill>
                  <a:srgbClr val="94A3B8"/>
                </a:solidFill>
              </a:rPr>
              <a:t>User-selectable theme with preference persisted in localStorage.</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91440" cy="1051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82880" y="987552"/>
            <a:ext cx="1197864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256032" y="91440"/>
            <a:ext cx="11430000" cy="584775"/>
          </a:xfrm>
          <a:prstGeom prst="rect">
            <a:avLst/>
          </a:prstGeom>
          <a:noFill/>
        </p:spPr>
        <p:txBody>
          <a:bodyPr wrap="square">
            <a:spAutoFit/>
          </a:bodyPr>
          <a:lstStyle/>
          <a:p>
            <a:pPr algn="ctr"/>
            <a:r>
              <a:rPr sz="3200" b="1" i="0" dirty="0">
                <a:solidFill>
                  <a:srgbClr val="FFFFFF"/>
                </a:solidFill>
              </a:rPr>
              <a:t>Conclusion</a:t>
            </a:r>
          </a:p>
        </p:txBody>
      </p:sp>
      <p:sp>
        <p:nvSpPr>
          <p:cNvPr id="6" name="TextBox 5"/>
          <p:cNvSpPr txBox="1"/>
          <p:nvPr/>
        </p:nvSpPr>
        <p:spPr>
          <a:xfrm>
            <a:off x="256032" y="634722"/>
            <a:ext cx="11430000" cy="369332"/>
          </a:xfrm>
          <a:prstGeom prst="rect">
            <a:avLst/>
          </a:prstGeom>
          <a:noFill/>
        </p:spPr>
        <p:txBody>
          <a:bodyPr wrap="square">
            <a:spAutoFit/>
          </a:bodyPr>
          <a:lstStyle/>
          <a:p>
            <a:pPr algn="ctr"/>
            <a:r>
              <a:rPr b="0" i="0" dirty="0">
                <a:solidFill>
                  <a:srgbClr val="94A3B8"/>
                </a:solidFill>
              </a:rPr>
              <a:t>Key outcomes and achievements</a:t>
            </a:r>
          </a:p>
        </p:txBody>
      </p:sp>
      <p:sp>
        <p:nvSpPr>
          <p:cNvPr id="7" name="Rectangle 6"/>
          <p:cNvSpPr/>
          <p:nvPr/>
        </p:nvSpPr>
        <p:spPr>
          <a:xfrm>
            <a:off x="256032" y="1225296"/>
            <a:ext cx="11658600" cy="987552"/>
          </a:xfrm>
          <a:prstGeom prst="rect">
            <a:avLst/>
          </a:prstGeom>
          <a:solidFill>
            <a:srgbClr val="1E293B"/>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420624" y="1280160"/>
            <a:ext cx="3611880" cy="384048"/>
          </a:xfrm>
          <a:prstGeom prst="rect">
            <a:avLst/>
          </a:prstGeom>
          <a:noFill/>
        </p:spPr>
        <p:txBody>
          <a:bodyPr wrap="square">
            <a:spAutoFit/>
          </a:bodyPr>
          <a:lstStyle/>
          <a:p>
            <a:pPr algn="l"/>
            <a:r>
              <a:rPr sz="1200" b="1" i="0" dirty="0">
                <a:solidFill>
                  <a:srgbClr val="8B5CF6"/>
                </a:solidFill>
              </a:rPr>
              <a:t>✅  Full-Stack Web Application</a:t>
            </a:r>
          </a:p>
        </p:txBody>
      </p:sp>
      <p:sp>
        <p:nvSpPr>
          <p:cNvPr id="9" name="TextBox 8"/>
          <p:cNvSpPr txBox="1"/>
          <p:nvPr/>
        </p:nvSpPr>
        <p:spPr>
          <a:xfrm>
            <a:off x="4114800" y="1298448"/>
            <a:ext cx="7680960" cy="804672"/>
          </a:xfrm>
          <a:prstGeom prst="rect">
            <a:avLst/>
          </a:prstGeom>
          <a:noFill/>
        </p:spPr>
        <p:txBody>
          <a:bodyPr wrap="square">
            <a:spAutoFit/>
          </a:bodyPr>
          <a:lstStyle/>
          <a:p>
            <a:pPr algn="l"/>
            <a:r>
              <a:rPr sz="1150" b="0" i="0" dirty="0">
                <a:solidFill>
                  <a:srgbClr val="FFFFFF"/>
                </a:solidFill>
              </a:rPr>
              <a:t>Successfully built Yoga-Do with a React + TypeScript frontend and a Django REST Framework backend, delivering a complete, calendar-driven task management experience with a responsive, professional UI.</a:t>
            </a:r>
          </a:p>
        </p:txBody>
      </p:sp>
      <p:sp>
        <p:nvSpPr>
          <p:cNvPr id="10" name="Rectangle 9"/>
          <p:cNvSpPr/>
          <p:nvPr/>
        </p:nvSpPr>
        <p:spPr>
          <a:xfrm>
            <a:off x="256032" y="2304288"/>
            <a:ext cx="11658600" cy="987552"/>
          </a:xfrm>
          <a:prstGeom prst="rect">
            <a:avLst/>
          </a:prstGeom>
          <a:solidFill>
            <a:srgbClr val="1E293B"/>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TextBox 10"/>
          <p:cNvSpPr txBox="1"/>
          <p:nvPr/>
        </p:nvSpPr>
        <p:spPr>
          <a:xfrm>
            <a:off x="420624" y="2359152"/>
            <a:ext cx="3611880" cy="384048"/>
          </a:xfrm>
          <a:prstGeom prst="rect">
            <a:avLst/>
          </a:prstGeom>
          <a:noFill/>
        </p:spPr>
        <p:txBody>
          <a:bodyPr wrap="square">
            <a:spAutoFit/>
          </a:bodyPr>
          <a:lstStyle/>
          <a:p>
            <a:pPr algn="l"/>
            <a:r>
              <a:rPr sz="1200" b="1" i="0" dirty="0">
                <a:solidFill>
                  <a:srgbClr val="60A5FA"/>
                </a:solidFill>
              </a:rPr>
              <a:t>✅  RRULE Recurring Task Engine</a:t>
            </a:r>
          </a:p>
        </p:txBody>
      </p:sp>
      <p:sp>
        <p:nvSpPr>
          <p:cNvPr id="12" name="TextBox 11"/>
          <p:cNvSpPr txBox="1"/>
          <p:nvPr/>
        </p:nvSpPr>
        <p:spPr>
          <a:xfrm>
            <a:off x="4114800" y="2377440"/>
            <a:ext cx="7680960" cy="804672"/>
          </a:xfrm>
          <a:prstGeom prst="rect">
            <a:avLst/>
          </a:prstGeom>
          <a:noFill/>
        </p:spPr>
        <p:txBody>
          <a:bodyPr wrap="square">
            <a:spAutoFit/>
          </a:bodyPr>
          <a:lstStyle/>
          <a:p>
            <a:pPr algn="l"/>
            <a:r>
              <a:rPr sz="1150" b="0" i="0" dirty="0">
                <a:solidFill>
                  <a:srgbClr val="FFFFFF"/>
                </a:solidFill>
              </a:rPr>
              <a:t>Implemented a standards-compliant RRULE engine supporting daily and weekly recurrence with per-occurrence exception handling — edit or delete a single instance without affecting the entire series.</a:t>
            </a:r>
          </a:p>
        </p:txBody>
      </p:sp>
      <p:sp>
        <p:nvSpPr>
          <p:cNvPr id="13" name="Rectangle 12"/>
          <p:cNvSpPr/>
          <p:nvPr/>
        </p:nvSpPr>
        <p:spPr>
          <a:xfrm>
            <a:off x="256032" y="3383280"/>
            <a:ext cx="11658600" cy="987552"/>
          </a:xfrm>
          <a:prstGeom prst="rect">
            <a:avLst/>
          </a:prstGeom>
          <a:solidFill>
            <a:srgbClr val="1E293B"/>
          </a:solidFill>
          <a:ln w="127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 name="TextBox 13"/>
          <p:cNvSpPr txBox="1"/>
          <p:nvPr/>
        </p:nvSpPr>
        <p:spPr>
          <a:xfrm>
            <a:off x="420624" y="3438144"/>
            <a:ext cx="3611880" cy="384048"/>
          </a:xfrm>
          <a:prstGeom prst="rect">
            <a:avLst/>
          </a:prstGeom>
          <a:noFill/>
        </p:spPr>
        <p:txBody>
          <a:bodyPr wrap="square">
            <a:spAutoFit/>
          </a:bodyPr>
          <a:lstStyle/>
          <a:p>
            <a:pPr algn="l"/>
            <a:r>
              <a:rPr sz="1200" b="1" i="0" dirty="0">
                <a:solidFill>
                  <a:srgbClr val="4ADE80"/>
                </a:solidFill>
              </a:rPr>
              <a:t>✅  Analytics &amp; Productivity Tools</a:t>
            </a:r>
          </a:p>
        </p:txBody>
      </p:sp>
      <p:sp>
        <p:nvSpPr>
          <p:cNvPr id="15" name="TextBox 14"/>
          <p:cNvSpPr txBox="1"/>
          <p:nvPr/>
        </p:nvSpPr>
        <p:spPr>
          <a:xfrm>
            <a:off x="4114800" y="3456432"/>
            <a:ext cx="7680960" cy="804672"/>
          </a:xfrm>
          <a:prstGeom prst="rect">
            <a:avLst/>
          </a:prstGeom>
          <a:noFill/>
        </p:spPr>
        <p:txBody>
          <a:bodyPr wrap="square">
            <a:spAutoFit/>
          </a:bodyPr>
          <a:lstStyle/>
          <a:p>
            <a:pPr algn="l"/>
            <a:r>
              <a:rPr sz="1150" b="0" i="0" dirty="0">
                <a:solidFill>
                  <a:srgbClr val="FFFFFF"/>
                </a:solidFill>
              </a:rPr>
              <a:t>Real-time Analytics Dashboard, Pomodoro Focus Timer, Personal Notes, and Motivational Quotes are integrated directly into the application, providing a comprehensive productivity platform.</a:t>
            </a:r>
          </a:p>
        </p:txBody>
      </p:sp>
      <p:sp>
        <p:nvSpPr>
          <p:cNvPr id="16" name="Rectangle 15"/>
          <p:cNvSpPr/>
          <p:nvPr/>
        </p:nvSpPr>
        <p:spPr>
          <a:xfrm>
            <a:off x="256032" y="4462272"/>
            <a:ext cx="11658600" cy="987552"/>
          </a:xfrm>
          <a:prstGeom prst="rect">
            <a:avLst/>
          </a:prstGeom>
          <a:solidFill>
            <a:srgbClr val="1E293B"/>
          </a:solidFill>
          <a:ln w="12700">
            <a:solidFill>
              <a:srgbClr val="FB92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7" name="TextBox 16"/>
          <p:cNvSpPr txBox="1"/>
          <p:nvPr/>
        </p:nvSpPr>
        <p:spPr>
          <a:xfrm>
            <a:off x="420624" y="4517136"/>
            <a:ext cx="3611880" cy="384048"/>
          </a:xfrm>
          <a:prstGeom prst="rect">
            <a:avLst/>
          </a:prstGeom>
          <a:noFill/>
        </p:spPr>
        <p:txBody>
          <a:bodyPr wrap="square">
            <a:spAutoFit/>
          </a:bodyPr>
          <a:lstStyle/>
          <a:p>
            <a:pPr algn="l"/>
            <a:r>
              <a:rPr sz="1200" b="1" i="0" dirty="0">
                <a:solidFill>
                  <a:srgbClr val="FB923B"/>
                </a:solidFill>
              </a:rPr>
              <a:t>✅  Complete DevOps Pipeline</a:t>
            </a:r>
          </a:p>
        </p:txBody>
      </p:sp>
      <p:sp>
        <p:nvSpPr>
          <p:cNvPr id="18" name="TextBox 17"/>
          <p:cNvSpPr txBox="1"/>
          <p:nvPr/>
        </p:nvSpPr>
        <p:spPr>
          <a:xfrm>
            <a:off x="4114800" y="4535424"/>
            <a:ext cx="7680960" cy="804672"/>
          </a:xfrm>
          <a:prstGeom prst="rect">
            <a:avLst/>
          </a:prstGeom>
          <a:noFill/>
        </p:spPr>
        <p:txBody>
          <a:bodyPr wrap="square">
            <a:spAutoFit/>
          </a:bodyPr>
          <a:lstStyle/>
          <a:p>
            <a:pPr algn="l"/>
            <a:r>
              <a:rPr sz="1150" b="0" i="0" dirty="0">
                <a:solidFill>
                  <a:srgbClr val="FFFFFF"/>
                </a:solidFill>
              </a:rPr>
              <a:t>Git → GitHub → GitHub Actions CI (backend unit tests + Playwright E2E) → Docker build → Render/EC2 backend + Vercel frontend. Fully automated with zero manual deployment steps.</a:t>
            </a:r>
          </a:p>
        </p:txBody>
      </p:sp>
      <p:sp>
        <p:nvSpPr>
          <p:cNvPr id="19" name="Rectangle 18"/>
          <p:cNvSpPr/>
          <p:nvPr/>
        </p:nvSpPr>
        <p:spPr>
          <a:xfrm>
            <a:off x="256032" y="5541264"/>
            <a:ext cx="11658600" cy="987552"/>
          </a:xfrm>
          <a:prstGeom prst="rect">
            <a:avLst/>
          </a:prstGeom>
          <a:solidFill>
            <a:srgbClr val="1E293B"/>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0" name="TextBox 19"/>
          <p:cNvSpPr txBox="1"/>
          <p:nvPr/>
        </p:nvSpPr>
        <p:spPr>
          <a:xfrm>
            <a:off x="420624" y="5596127"/>
            <a:ext cx="3611880" cy="384048"/>
          </a:xfrm>
          <a:prstGeom prst="rect">
            <a:avLst/>
          </a:prstGeom>
          <a:noFill/>
        </p:spPr>
        <p:txBody>
          <a:bodyPr wrap="square">
            <a:spAutoFit/>
          </a:bodyPr>
          <a:lstStyle/>
          <a:p>
            <a:pPr algn="l"/>
            <a:r>
              <a:rPr sz="1200" b="1" i="0" dirty="0">
                <a:solidFill>
                  <a:srgbClr val="2DD4BF"/>
                </a:solidFill>
              </a:rPr>
              <a:t>✅  Security &amp; Engineering Best Practices</a:t>
            </a:r>
          </a:p>
        </p:txBody>
      </p:sp>
      <p:sp>
        <p:nvSpPr>
          <p:cNvPr id="21" name="TextBox 20"/>
          <p:cNvSpPr txBox="1"/>
          <p:nvPr/>
        </p:nvSpPr>
        <p:spPr>
          <a:xfrm>
            <a:off x="4114800" y="5614416"/>
            <a:ext cx="7680960" cy="804672"/>
          </a:xfrm>
          <a:prstGeom prst="rect">
            <a:avLst/>
          </a:prstGeom>
          <a:noFill/>
        </p:spPr>
        <p:txBody>
          <a:bodyPr wrap="square">
            <a:spAutoFit/>
          </a:bodyPr>
          <a:lstStyle/>
          <a:p>
            <a:pPr algn="l"/>
            <a:r>
              <a:rPr sz="1150" b="0" i="0" dirty="0">
                <a:solidFill>
                  <a:srgbClr val="FFFFFF"/>
                </a:solidFill>
              </a:rPr>
              <a:t>Session-based auth, CSRF token protection, React error boundaries, automated testing, and Docker containerisation demonstrate professional software engineering standards.</a:t>
            </a:r>
          </a:p>
        </p:txBody>
      </p:sp>
      <p:sp>
        <p:nvSpPr>
          <p:cNvPr id="22" name="TextBox 21"/>
          <p:cNvSpPr txBox="1"/>
          <p:nvPr/>
        </p:nvSpPr>
        <p:spPr>
          <a:xfrm>
            <a:off x="256032" y="6492240"/>
            <a:ext cx="11658600" cy="310896"/>
          </a:xfrm>
          <a:prstGeom prst="rect">
            <a:avLst/>
          </a:prstGeom>
          <a:noFill/>
        </p:spPr>
        <p:txBody>
          <a:bodyPr wrap="square">
            <a:spAutoFit/>
          </a:bodyPr>
          <a:lstStyle/>
          <a:p>
            <a:pPr algn="ctr"/>
            <a:r>
              <a:rPr sz="1100" b="0" i="1" dirty="0">
                <a:solidFill>
                  <a:srgbClr val="94A3B8"/>
                </a:solidFill>
              </a:rPr>
              <a:t>Yoga-Do demonstrates that modern full-stack web development and professional DevOps practices can be successfully combined in an academic mini-project to deliver a real-world quality application.</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91440" cy="10515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82880" y="987552"/>
            <a:ext cx="1197864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256032" y="91440"/>
            <a:ext cx="11430000" cy="769441"/>
          </a:xfrm>
          <a:prstGeom prst="rect">
            <a:avLst/>
          </a:prstGeom>
          <a:noFill/>
        </p:spPr>
        <p:txBody>
          <a:bodyPr wrap="square">
            <a:spAutoFit/>
          </a:bodyPr>
          <a:lstStyle/>
          <a:p>
            <a:pPr algn="ctr"/>
            <a:r>
              <a:rPr sz="4400" b="1" i="0" dirty="0">
                <a:solidFill>
                  <a:srgbClr val="FFFFFF"/>
                </a:solidFill>
              </a:rPr>
              <a:t>References</a:t>
            </a:r>
          </a:p>
        </p:txBody>
      </p:sp>
      <p:sp>
        <p:nvSpPr>
          <p:cNvPr id="6" name="Rectangle 5"/>
          <p:cNvSpPr/>
          <p:nvPr/>
        </p:nvSpPr>
        <p:spPr>
          <a:xfrm>
            <a:off x="256032" y="1225296"/>
            <a:ext cx="11658600" cy="457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a:xfrm>
            <a:off x="256032" y="1225296"/>
            <a:ext cx="530352"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FFFFFF"/>
                </a:solidFill>
              </a:rPr>
              <a:t>[1]</a:t>
            </a:r>
          </a:p>
        </p:txBody>
      </p:sp>
      <p:sp>
        <p:nvSpPr>
          <p:cNvPr id="8" name="TextBox 7"/>
          <p:cNvSpPr txBox="1"/>
          <p:nvPr/>
        </p:nvSpPr>
        <p:spPr>
          <a:xfrm>
            <a:off x="896112" y="1298448"/>
            <a:ext cx="10881360" cy="329184"/>
          </a:xfrm>
          <a:prstGeom prst="rect">
            <a:avLst/>
          </a:prstGeom>
          <a:noFill/>
        </p:spPr>
        <p:txBody>
          <a:bodyPr wrap="square">
            <a:spAutoFit/>
          </a:bodyPr>
          <a:lstStyle/>
          <a:p>
            <a:pPr algn="l"/>
            <a:r>
              <a:rPr sz="1050" b="0" i="0" dirty="0">
                <a:solidFill>
                  <a:srgbClr val="FFFFFF"/>
                </a:solidFill>
              </a:rPr>
              <a:t>R. Singh, A. Patel et al., "Task Management System Design Using Django REST Framework," Int. Journal of Computer Applications, Vol. 183, No. 12, pp. 1–8, 2022.</a:t>
            </a:r>
          </a:p>
        </p:txBody>
      </p:sp>
      <p:sp>
        <p:nvSpPr>
          <p:cNvPr id="9" name="Rectangle 8"/>
          <p:cNvSpPr/>
          <p:nvPr/>
        </p:nvSpPr>
        <p:spPr>
          <a:xfrm>
            <a:off x="256032" y="1728216"/>
            <a:ext cx="11658600"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a:xfrm>
            <a:off x="256032" y="1728216"/>
            <a:ext cx="530352"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FFFFFF"/>
                </a:solidFill>
              </a:rPr>
              <a:t>[2]</a:t>
            </a:r>
          </a:p>
        </p:txBody>
      </p:sp>
      <p:sp>
        <p:nvSpPr>
          <p:cNvPr id="11" name="TextBox 10"/>
          <p:cNvSpPr txBox="1"/>
          <p:nvPr/>
        </p:nvSpPr>
        <p:spPr>
          <a:xfrm>
            <a:off x="896112" y="1801368"/>
            <a:ext cx="10881360" cy="329184"/>
          </a:xfrm>
          <a:prstGeom prst="rect">
            <a:avLst/>
          </a:prstGeom>
          <a:noFill/>
        </p:spPr>
        <p:txBody>
          <a:bodyPr wrap="square">
            <a:spAutoFit/>
          </a:bodyPr>
          <a:lstStyle/>
          <a:p>
            <a:pPr algn="l"/>
            <a:r>
              <a:rPr sz="1050" b="0" i="0" dirty="0">
                <a:solidFill>
                  <a:srgbClr val="FFFFFF"/>
                </a:solidFill>
              </a:rPr>
              <a:t>S. Mehta et al., "Containerisation with Docker for Academic and Enterprise Web Applications," IEEE Access, Vol. 10, pp. 45123–45135, 2023.</a:t>
            </a:r>
          </a:p>
        </p:txBody>
      </p:sp>
      <p:sp>
        <p:nvSpPr>
          <p:cNvPr id="12" name="Rectangle 11"/>
          <p:cNvSpPr/>
          <p:nvPr/>
        </p:nvSpPr>
        <p:spPr>
          <a:xfrm>
            <a:off x="256032" y="2231136"/>
            <a:ext cx="11658600" cy="457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a:xfrm>
            <a:off x="256032" y="2231136"/>
            <a:ext cx="530352"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FFFFFF"/>
                </a:solidFill>
              </a:rPr>
              <a:t>[3]</a:t>
            </a:r>
          </a:p>
        </p:txBody>
      </p:sp>
      <p:sp>
        <p:nvSpPr>
          <p:cNvPr id="14" name="TextBox 13"/>
          <p:cNvSpPr txBox="1"/>
          <p:nvPr/>
        </p:nvSpPr>
        <p:spPr>
          <a:xfrm>
            <a:off x="896112" y="2304288"/>
            <a:ext cx="10881360" cy="329184"/>
          </a:xfrm>
          <a:prstGeom prst="rect">
            <a:avLst/>
          </a:prstGeom>
          <a:noFill/>
        </p:spPr>
        <p:txBody>
          <a:bodyPr wrap="square">
            <a:spAutoFit/>
          </a:bodyPr>
          <a:lstStyle/>
          <a:p>
            <a:pPr algn="l"/>
            <a:r>
              <a:rPr sz="1050" b="0" i="0" dirty="0">
                <a:solidFill>
                  <a:srgbClr val="FFFFFF"/>
                </a:solidFill>
              </a:rPr>
              <a:t>V. Kumar, M. Rao, "Automating CI/CD Pipelines Using GitHub Actions for Python-Django Projects," Journal of Open-Source Software, Vol. 8, No. 91, 2023.</a:t>
            </a:r>
          </a:p>
        </p:txBody>
      </p:sp>
      <p:sp>
        <p:nvSpPr>
          <p:cNvPr id="15" name="Rectangle 14"/>
          <p:cNvSpPr/>
          <p:nvPr/>
        </p:nvSpPr>
        <p:spPr>
          <a:xfrm>
            <a:off x="256032" y="2734056"/>
            <a:ext cx="11658600"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6" name="Rectangle 15"/>
          <p:cNvSpPr/>
          <p:nvPr/>
        </p:nvSpPr>
        <p:spPr>
          <a:xfrm>
            <a:off x="256032" y="2734056"/>
            <a:ext cx="530352"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FFFFFF"/>
                </a:solidFill>
              </a:rPr>
              <a:t>[4]</a:t>
            </a:r>
          </a:p>
        </p:txBody>
      </p:sp>
      <p:sp>
        <p:nvSpPr>
          <p:cNvPr id="17" name="TextBox 16"/>
          <p:cNvSpPr txBox="1"/>
          <p:nvPr/>
        </p:nvSpPr>
        <p:spPr>
          <a:xfrm>
            <a:off x="896112" y="2807208"/>
            <a:ext cx="10881360" cy="329184"/>
          </a:xfrm>
          <a:prstGeom prst="rect">
            <a:avLst/>
          </a:prstGeom>
          <a:noFill/>
        </p:spPr>
        <p:txBody>
          <a:bodyPr wrap="square">
            <a:spAutoFit/>
          </a:bodyPr>
          <a:lstStyle/>
          <a:p>
            <a:pPr algn="l"/>
            <a:r>
              <a:rPr sz="1050" b="0" i="0" dirty="0">
                <a:solidFill>
                  <a:srgbClr val="FFFFFF"/>
                </a:solidFill>
              </a:rPr>
              <a:t>W. Li, J. Chen, "Efficient RRULE Processing for Calendar-Based Task Management Applications," ACM SIGAPP Applied Computing Review, Vol. 24, No. 1, 2024.</a:t>
            </a:r>
          </a:p>
        </p:txBody>
      </p:sp>
      <p:sp>
        <p:nvSpPr>
          <p:cNvPr id="18" name="Rectangle 17"/>
          <p:cNvSpPr/>
          <p:nvPr/>
        </p:nvSpPr>
        <p:spPr>
          <a:xfrm>
            <a:off x="256032" y="3236976"/>
            <a:ext cx="11658600" cy="457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9" name="Rectangle 18"/>
          <p:cNvSpPr/>
          <p:nvPr/>
        </p:nvSpPr>
        <p:spPr>
          <a:xfrm>
            <a:off x="256032" y="3236976"/>
            <a:ext cx="530352"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FFFFFF"/>
                </a:solidFill>
              </a:rPr>
              <a:t>[5]</a:t>
            </a:r>
          </a:p>
        </p:txBody>
      </p:sp>
      <p:sp>
        <p:nvSpPr>
          <p:cNvPr id="20" name="TextBox 19"/>
          <p:cNvSpPr txBox="1"/>
          <p:nvPr/>
        </p:nvSpPr>
        <p:spPr>
          <a:xfrm>
            <a:off x="896112" y="3310128"/>
            <a:ext cx="10881360" cy="329184"/>
          </a:xfrm>
          <a:prstGeom prst="rect">
            <a:avLst/>
          </a:prstGeom>
          <a:noFill/>
        </p:spPr>
        <p:txBody>
          <a:bodyPr wrap="square">
            <a:spAutoFit/>
          </a:bodyPr>
          <a:lstStyle/>
          <a:p>
            <a:pPr algn="l"/>
            <a:r>
              <a:rPr sz="1050" b="0" i="0" dirty="0">
                <a:solidFill>
                  <a:srgbClr val="FFFFFF"/>
                </a:solidFill>
              </a:rPr>
              <a:t>P. Sharma, K. Nair, "Integrating Full-Stack DevOps in BE/BTech Capstone Projects," Proc. Int. Conf. on Software Engineering Education, pp. 211–218, 2024.</a:t>
            </a:r>
          </a:p>
        </p:txBody>
      </p:sp>
      <p:sp>
        <p:nvSpPr>
          <p:cNvPr id="21" name="Rectangle 20"/>
          <p:cNvSpPr/>
          <p:nvPr/>
        </p:nvSpPr>
        <p:spPr>
          <a:xfrm>
            <a:off x="256032" y="3739896"/>
            <a:ext cx="11658600"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2" name="Rectangle 21"/>
          <p:cNvSpPr/>
          <p:nvPr/>
        </p:nvSpPr>
        <p:spPr>
          <a:xfrm>
            <a:off x="256032" y="3739896"/>
            <a:ext cx="530352" cy="45720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FFFFFF"/>
                </a:solidFill>
              </a:rPr>
              <a:t>[6]</a:t>
            </a:r>
          </a:p>
        </p:txBody>
      </p:sp>
      <p:sp>
        <p:nvSpPr>
          <p:cNvPr id="23" name="TextBox 22"/>
          <p:cNvSpPr txBox="1"/>
          <p:nvPr/>
        </p:nvSpPr>
        <p:spPr>
          <a:xfrm>
            <a:off x="896112" y="3813048"/>
            <a:ext cx="10881360" cy="329184"/>
          </a:xfrm>
          <a:prstGeom prst="rect">
            <a:avLst/>
          </a:prstGeom>
          <a:noFill/>
        </p:spPr>
        <p:txBody>
          <a:bodyPr wrap="square">
            <a:spAutoFit/>
          </a:bodyPr>
          <a:lstStyle/>
          <a:p>
            <a:pPr algn="l"/>
            <a:r>
              <a:rPr sz="1050" b="0" i="0" dirty="0">
                <a:solidFill>
                  <a:srgbClr val="94A3B8"/>
                </a:solidFill>
              </a:rPr>
              <a:t>Django REST Framework — Official Documentation. https://www.django-rest-framework.org/</a:t>
            </a:r>
          </a:p>
        </p:txBody>
      </p:sp>
      <p:sp>
        <p:nvSpPr>
          <p:cNvPr id="24" name="Rectangle 23"/>
          <p:cNvSpPr/>
          <p:nvPr/>
        </p:nvSpPr>
        <p:spPr>
          <a:xfrm>
            <a:off x="256032" y="4242816"/>
            <a:ext cx="11658600" cy="457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5" name="Rectangle 24"/>
          <p:cNvSpPr/>
          <p:nvPr/>
        </p:nvSpPr>
        <p:spPr>
          <a:xfrm>
            <a:off x="256032" y="4242816"/>
            <a:ext cx="530352" cy="45720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FFFFFF"/>
                </a:solidFill>
              </a:rPr>
              <a:t>[7]</a:t>
            </a:r>
          </a:p>
        </p:txBody>
      </p:sp>
      <p:sp>
        <p:nvSpPr>
          <p:cNvPr id="26" name="TextBox 25"/>
          <p:cNvSpPr txBox="1"/>
          <p:nvPr/>
        </p:nvSpPr>
        <p:spPr>
          <a:xfrm>
            <a:off x="896112" y="4315968"/>
            <a:ext cx="10881360" cy="329184"/>
          </a:xfrm>
          <a:prstGeom prst="rect">
            <a:avLst/>
          </a:prstGeom>
          <a:noFill/>
        </p:spPr>
        <p:txBody>
          <a:bodyPr wrap="square">
            <a:spAutoFit/>
          </a:bodyPr>
          <a:lstStyle/>
          <a:p>
            <a:pPr algn="l"/>
            <a:r>
              <a:rPr sz="1050" b="0" i="0" dirty="0">
                <a:solidFill>
                  <a:srgbClr val="94A3B8"/>
                </a:solidFill>
              </a:rPr>
              <a:t>React Documentation. https://react.dev/</a:t>
            </a:r>
          </a:p>
        </p:txBody>
      </p:sp>
      <p:sp>
        <p:nvSpPr>
          <p:cNvPr id="27" name="Rectangle 26"/>
          <p:cNvSpPr/>
          <p:nvPr/>
        </p:nvSpPr>
        <p:spPr>
          <a:xfrm>
            <a:off x="256032" y="4745736"/>
            <a:ext cx="11658600"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8" name="Rectangle 27"/>
          <p:cNvSpPr/>
          <p:nvPr/>
        </p:nvSpPr>
        <p:spPr>
          <a:xfrm>
            <a:off x="256032" y="4745736"/>
            <a:ext cx="530352" cy="45720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FFFFFF"/>
                </a:solidFill>
              </a:rPr>
              <a:t>[8]</a:t>
            </a:r>
          </a:p>
        </p:txBody>
      </p:sp>
      <p:sp>
        <p:nvSpPr>
          <p:cNvPr id="29" name="TextBox 28"/>
          <p:cNvSpPr txBox="1"/>
          <p:nvPr/>
        </p:nvSpPr>
        <p:spPr>
          <a:xfrm>
            <a:off x="896112" y="4818888"/>
            <a:ext cx="10881360" cy="329184"/>
          </a:xfrm>
          <a:prstGeom prst="rect">
            <a:avLst/>
          </a:prstGeom>
          <a:noFill/>
        </p:spPr>
        <p:txBody>
          <a:bodyPr wrap="square">
            <a:spAutoFit/>
          </a:bodyPr>
          <a:lstStyle/>
          <a:p>
            <a:pPr algn="l"/>
            <a:r>
              <a:rPr sz="1050" b="0" i="0" dirty="0">
                <a:solidFill>
                  <a:srgbClr val="94A3B8"/>
                </a:solidFill>
              </a:rPr>
              <a:t>Docker Official Documentation. https://docs.docker.com/</a:t>
            </a:r>
          </a:p>
        </p:txBody>
      </p:sp>
      <p:sp>
        <p:nvSpPr>
          <p:cNvPr id="30" name="Rectangle 29"/>
          <p:cNvSpPr/>
          <p:nvPr/>
        </p:nvSpPr>
        <p:spPr>
          <a:xfrm>
            <a:off x="256032" y="5248656"/>
            <a:ext cx="11658600" cy="457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1" name="Rectangle 30"/>
          <p:cNvSpPr/>
          <p:nvPr/>
        </p:nvSpPr>
        <p:spPr>
          <a:xfrm>
            <a:off x="256032" y="5248656"/>
            <a:ext cx="530352" cy="45720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FFFFFF"/>
                </a:solidFill>
              </a:rPr>
              <a:t>[9]</a:t>
            </a:r>
          </a:p>
        </p:txBody>
      </p:sp>
      <p:sp>
        <p:nvSpPr>
          <p:cNvPr id="32" name="TextBox 31"/>
          <p:cNvSpPr txBox="1"/>
          <p:nvPr/>
        </p:nvSpPr>
        <p:spPr>
          <a:xfrm>
            <a:off x="896112" y="5321808"/>
            <a:ext cx="10881360" cy="329184"/>
          </a:xfrm>
          <a:prstGeom prst="rect">
            <a:avLst/>
          </a:prstGeom>
          <a:noFill/>
        </p:spPr>
        <p:txBody>
          <a:bodyPr wrap="square">
            <a:spAutoFit/>
          </a:bodyPr>
          <a:lstStyle/>
          <a:p>
            <a:pPr algn="l"/>
            <a:r>
              <a:rPr sz="1050" b="0" i="0" dirty="0">
                <a:solidFill>
                  <a:srgbClr val="94A3B8"/>
                </a:solidFill>
              </a:rPr>
              <a:t>GitHub Actions Documentation. https://docs.github.com/en/actions</a:t>
            </a:r>
          </a:p>
        </p:txBody>
      </p:sp>
      <p:sp>
        <p:nvSpPr>
          <p:cNvPr id="33" name="Rectangle 32"/>
          <p:cNvSpPr/>
          <p:nvPr/>
        </p:nvSpPr>
        <p:spPr>
          <a:xfrm>
            <a:off x="256032" y="5751576"/>
            <a:ext cx="11658600"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4" name="Rectangle 33"/>
          <p:cNvSpPr/>
          <p:nvPr/>
        </p:nvSpPr>
        <p:spPr>
          <a:xfrm>
            <a:off x="256032" y="5751576"/>
            <a:ext cx="530352" cy="45720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FFFFFF"/>
                </a:solidFill>
              </a:rPr>
              <a:t>[10]</a:t>
            </a:r>
          </a:p>
        </p:txBody>
      </p:sp>
      <p:sp>
        <p:nvSpPr>
          <p:cNvPr id="35" name="TextBox 34"/>
          <p:cNvSpPr txBox="1"/>
          <p:nvPr/>
        </p:nvSpPr>
        <p:spPr>
          <a:xfrm>
            <a:off x="896112" y="5824728"/>
            <a:ext cx="10881360" cy="329184"/>
          </a:xfrm>
          <a:prstGeom prst="rect">
            <a:avLst/>
          </a:prstGeom>
          <a:noFill/>
        </p:spPr>
        <p:txBody>
          <a:bodyPr wrap="square">
            <a:spAutoFit/>
          </a:bodyPr>
          <a:lstStyle/>
          <a:p>
            <a:pPr algn="l"/>
            <a:r>
              <a:rPr sz="1050" b="0" i="0" dirty="0">
                <a:solidFill>
                  <a:srgbClr val="94A3B8"/>
                </a:solidFill>
              </a:rPr>
              <a:t>python-dateutil RRULE Reference. https://dateutil.readthedocs.io/</a:t>
            </a:r>
          </a:p>
        </p:txBody>
      </p:sp>
      <p:sp>
        <p:nvSpPr>
          <p:cNvPr id="36" name="Rectangle 35"/>
          <p:cNvSpPr/>
          <p:nvPr/>
        </p:nvSpPr>
        <p:spPr>
          <a:xfrm>
            <a:off x="256032" y="6254496"/>
            <a:ext cx="11658600" cy="457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7" name="Rectangle 36"/>
          <p:cNvSpPr/>
          <p:nvPr/>
        </p:nvSpPr>
        <p:spPr>
          <a:xfrm>
            <a:off x="256032" y="6254496"/>
            <a:ext cx="530352" cy="45720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FFFFFF"/>
                </a:solidFill>
              </a:rPr>
              <a:t>[11]</a:t>
            </a:r>
          </a:p>
        </p:txBody>
      </p:sp>
      <p:sp>
        <p:nvSpPr>
          <p:cNvPr id="38" name="TextBox 37"/>
          <p:cNvSpPr txBox="1"/>
          <p:nvPr/>
        </p:nvSpPr>
        <p:spPr>
          <a:xfrm>
            <a:off x="896112" y="6327648"/>
            <a:ext cx="10881360" cy="329184"/>
          </a:xfrm>
          <a:prstGeom prst="rect">
            <a:avLst/>
          </a:prstGeom>
          <a:noFill/>
        </p:spPr>
        <p:txBody>
          <a:bodyPr wrap="square">
            <a:spAutoFit/>
          </a:bodyPr>
          <a:lstStyle/>
          <a:p>
            <a:pPr algn="l"/>
            <a:r>
              <a:rPr sz="1050" b="0" i="0" dirty="0">
                <a:solidFill>
                  <a:srgbClr val="94A3B8"/>
                </a:solidFill>
              </a:rPr>
              <a:t>Playwright Testing Framework. https://playwright.dev/</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2262</TotalTime>
  <Words>2359</Words>
  <Application>Microsoft Office PowerPoint</Application>
  <PresentationFormat>Custom</PresentationFormat>
  <Paragraphs>348</Paragraphs>
  <Slides>22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HP</cp:lastModifiedBy>
  <cp:revision>10</cp:revision>
  <dcterms:created xsi:type="dcterms:W3CDTF">2013-01-27T09:14:16Z</dcterms:created>
  <dcterms:modified xsi:type="dcterms:W3CDTF">2026-06-28T17:02:42Z</dcterms:modified>
  <cp:category/>
</cp:coreProperties>
</file>